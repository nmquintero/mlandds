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lyna Melnyk" userId="3a0791cb-340d-4bb0-af37-0c0723bf166e" providerId="ADAL" clId="{DA32E22C-B767-4CEA-8996-98E52DC23B56}"/>
    <pc:docChg chg="custSel modSld">
      <pc:chgData name="Halyna Melnyk" userId="3a0791cb-340d-4bb0-af37-0c0723bf166e" providerId="ADAL" clId="{DA32E22C-B767-4CEA-8996-98E52DC23B56}" dt="2023-07-30T14:34:02.055" v="8" actId="478"/>
      <pc:docMkLst>
        <pc:docMk/>
      </pc:docMkLst>
      <pc:sldChg chg="delSp mod">
        <pc:chgData name="Halyna Melnyk" userId="3a0791cb-340d-4bb0-af37-0c0723bf166e" providerId="ADAL" clId="{DA32E22C-B767-4CEA-8996-98E52DC23B56}" dt="2023-07-30T14:33:34.663" v="0" actId="478"/>
        <pc:sldMkLst>
          <pc:docMk/>
          <pc:sldMk cId="0" sldId="256"/>
        </pc:sldMkLst>
        <pc:picChg chg="del">
          <ac:chgData name="Halyna Melnyk" userId="3a0791cb-340d-4bb0-af37-0c0723bf166e" providerId="ADAL" clId="{DA32E22C-B767-4CEA-8996-98E52DC23B56}" dt="2023-07-30T14:33:34.663" v="0" actId="478"/>
          <ac:picMkLst>
            <pc:docMk/>
            <pc:sldMk cId="0" sldId="256"/>
            <ac:picMk id="7" creationId="{00000000-0000-0000-0000-000000000000}"/>
          </ac:picMkLst>
        </pc:picChg>
      </pc:sldChg>
      <pc:sldChg chg="delSp mod">
        <pc:chgData name="Halyna Melnyk" userId="3a0791cb-340d-4bb0-af37-0c0723bf166e" providerId="ADAL" clId="{DA32E22C-B767-4CEA-8996-98E52DC23B56}" dt="2023-07-30T14:33:37.681" v="1" actId="478"/>
        <pc:sldMkLst>
          <pc:docMk/>
          <pc:sldMk cId="0" sldId="257"/>
        </pc:sldMkLst>
        <pc:picChg chg="del">
          <ac:chgData name="Halyna Melnyk" userId="3a0791cb-340d-4bb0-af37-0c0723bf166e" providerId="ADAL" clId="{DA32E22C-B767-4CEA-8996-98E52DC23B56}" dt="2023-07-30T14:33:37.681" v="1" actId="478"/>
          <ac:picMkLst>
            <pc:docMk/>
            <pc:sldMk cId="0" sldId="257"/>
            <ac:picMk id="17" creationId="{00000000-0000-0000-0000-000000000000}"/>
          </ac:picMkLst>
        </pc:picChg>
      </pc:sldChg>
      <pc:sldChg chg="delSp mod">
        <pc:chgData name="Halyna Melnyk" userId="3a0791cb-340d-4bb0-af37-0c0723bf166e" providerId="ADAL" clId="{DA32E22C-B767-4CEA-8996-98E52DC23B56}" dt="2023-07-30T14:33:40.691" v="2" actId="478"/>
        <pc:sldMkLst>
          <pc:docMk/>
          <pc:sldMk cId="0" sldId="258"/>
        </pc:sldMkLst>
        <pc:picChg chg="del">
          <ac:chgData name="Halyna Melnyk" userId="3a0791cb-340d-4bb0-af37-0c0723bf166e" providerId="ADAL" clId="{DA32E22C-B767-4CEA-8996-98E52DC23B56}" dt="2023-07-30T14:33:40.691" v="2" actId="478"/>
          <ac:picMkLst>
            <pc:docMk/>
            <pc:sldMk cId="0" sldId="258"/>
            <ac:picMk id="14" creationId="{00000000-0000-0000-0000-000000000000}"/>
          </ac:picMkLst>
        </pc:picChg>
      </pc:sldChg>
      <pc:sldChg chg="delSp mod">
        <pc:chgData name="Halyna Melnyk" userId="3a0791cb-340d-4bb0-af37-0c0723bf166e" providerId="ADAL" clId="{DA32E22C-B767-4CEA-8996-98E52DC23B56}" dt="2023-07-30T14:33:43.774" v="3" actId="478"/>
        <pc:sldMkLst>
          <pc:docMk/>
          <pc:sldMk cId="0" sldId="259"/>
        </pc:sldMkLst>
        <pc:picChg chg="del">
          <ac:chgData name="Halyna Melnyk" userId="3a0791cb-340d-4bb0-af37-0c0723bf166e" providerId="ADAL" clId="{DA32E22C-B767-4CEA-8996-98E52DC23B56}" dt="2023-07-30T14:33:43.774" v="3" actId="478"/>
          <ac:picMkLst>
            <pc:docMk/>
            <pc:sldMk cId="0" sldId="259"/>
            <ac:picMk id="18" creationId="{00000000-0000-0000-0000-000000000000}"/>
          </ac:picMkLst>
        </pc:picChg>
      </pc:sldChg>
      <pc:sldChg chg="delSp mod">
        <pc:chgData name="Halyna Melnyk" userId="3a0791cb-340d-4bb0-af37-0c0723bf166e" providerId="ADAL" clId="{DA32E22C-B767-4CEA-8996-98E52DC23B56}" dt="2023-07-30T14:33:47.613" v="4" actId="478"/>
        <pc:sldMkLst>
          <pc:docMk/>
          <pc:sldMk cId="0" sldId="260"/>
        </pc:sldMkLst>
        <pc:picChg chg="del">
          <ac:chgData name="Halyna Melnyk" userId="3a0791cb-340d-4bb0-af37-0c0723bf166e" providerId="ADAL" clId="{DA32E22C-B767-4CEA-8996-98E52DC23B56}" dt="2023-07-30T14:33:47.613" v="4" actId="478"/>
          <ac:picMkLst>
            <pc:docMk/>
            <pc:sldMk cId="0" sldId="260"/>
            <ac:picMk id="21" creationId="{00000000-0000-0000-0000-000000000000}"/>
          </ac:picMkLst>
        </pc:picChg>
      </pc:sldChg>
      <pc:sldChg chg="delSp mod">
        <pc:chgData name="Halyna Melnyk" userId="3a0791cb-340d-4bb0-af37-0c0723bf166e" providerId="ADAL" clId="{DA32E22C-B767-4CEA-8996-98E52DC23B56}" dt="2023-07-30T14:33:51.037" v="5" actId="478"/>
        <pc:sldMkLst>
          <pc:docMk/>
          <pc:sldMk cId="0" sldId="261"/>
        </pc:sldMkLst>
        <pc:picChg chg="del">
          <ac:chgData name="Halyna Melnyk" userId="3a0791cb-340d-4bb0-af37-0c0723bf166e" providerId="ADAL" clId="{DA32E22C-B767-4CEA-8996-98E52DC23B56}" dt="2023-07-30T14:33:51.037" v="5" actId="478"/>
          <ac:picMkLst>
            <pc:docMk/>
            <pc:sldMk cId="0" sldId="261"/>
            <ac:picMk id="11" creationId="{00000000-0000-0000-0000-000000000000}"/>
          </ac:picMkLst>
        </pc:picChg>
      </pc:sldChg>
      <pc:sldChg chg="delSp mod">
        <pc:chgData name="Halyna Melnyk" userId="3a0791cb-340d-4bb0-af37-0c0723bf166e" providerId="ADAL" clId="{DA32E22C-B767-4CEA-8996-98E52DC23B56}" dt="2023-07-30T14:33:54.554" v="6" actId="478"/>
        <pc:sldMkLst>
          <pc:docMk/>
          <pc:sldMk cId="0" sldId="262"/>
        </pc:sldMkLst>
        <pc:picChg chg="del">
          <ac:chgData name="Halyna Melnyk" userId="3a0791cb-340d-4bb0-af37-0c0723bf166e" providerId="ADAL" clId="{DA32E22C-B767-4CEA-8996-98E52DC23B56}" dt="2023-07-30T14:33:54.554" v="6" actId="478"/>
          <ac:picMkLst>
            <pc:docMk/>
            <pc:sldMk cId="0" sldId="262"/>
            <ac:picMk id="14" creationId="{00000000-0000-0000-0000-000000000000}"/>
          </ac:picMkLst>
        </pc:picChg>
      </pc:sldChg>
      <pc:sldChg chg="delSp mod">
        <pc:chgData name="Halyna Melnyk" userId="3a0791cb-340d-4bb0-af37-0c0723bf166e" providerId="ADAL" clId="{DA32E22C-B767-4CEA-8996-98E52DC23B56}" dt="2023-07-30T14:33:57.959" v="7" actId="478"/>
        <pc:sldMkLst>
          <pc:docMk/>
          <pc:sldMk cId="0" sldId="263"/>
        </pc:sldMkLst>
        <pc:picChg chg="del">
          <ac:chgData name="Halyna Melnyk" userId="3a0791cb-340d-4bb0-af37-0c0723bf166e" providerId="ADAL" clId="{DA32E22C-B767-4CEA-8996-98E52DC23B56}" dt="2023-07-30T14:33:57.959" v="7" actId="478"/>
          <ac:picMkLst>
            <pc:docMk/>
            <pc:sldMk cId="0" sldId="263"/>
            <ac:picMk id="18" creationId="{00000000-0000-0000-0000-000000000000}"/>
          </ac:picMkLst>
        </pc:picChg>
      </pc:sldChg>
      <pc:sldChg chg="delSp mod">
        <pc:chgData name="Halyna Melnyk" userId="3a0791cb-340d-4bb0-af37-0c0723bf166e" providerId="ADAL" clId="{DA32E22C-B767-4CEA-8996-98E52DC23B56}" dt="2023-07-30T14:34:02.055" v="8" actId="478"/>
        <pc:sldMkLst>
          <pc:docMk/>
          <pc:sldMk cId="0" sldId="264"/>
        </pc:sldMkLst>
        <pc:picChg chg="del">
          <ac:chgData name="Halyna Melnyk" userId="3a0791cb-340d-4bb0-af37-0c0723bf166e" providerId="ADAL" clId="{DA32E22C-B767-4CEA-8996-98E52DC23B56}" dt="2023-07-30T14:34:02.055" v="8" actId="478"/>
          <ac:picMkLst>
            <pc:docMk/>
            <pc:sldMk cId="0" sldId="264"/>
            <ac:picMk id="1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055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6371630" y="2467627"/>
            <a:ext cx="7373541" cy="17576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971"/>
              </a:lnSpc>
              <a:buNone/>
            </a:pPr>
            <a:r>
              <a:rPr lang="en-US" sz="557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Ethics, Security, and Confidence</a:t>
            </a:r>
            <a:endParaRPr lang="en-US" sz="5577" dirty="0"/>
          </a:p>
        </p:txBody>
      </p:sp>
      <p:sp>
        <p:nvSpPr>
          <p:cNvPr id="5" name="Text 3"/>
          <p:cNvSpPr/>
          <p:nvPr/>
        </p:nvSpPr>
        <p:spPr>
          <a:xfrm>
            <a:off x="6371630" y="4576793"/>
            <a:ext cx="7373541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Artificial Intelligence is transforming the world, but it's important to consider the ethical implications and ensure that we're building systems that are secure and reliable.</a:t>
            </a:r>
            <a:endParaRPr lang="en-US" sz="1859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169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1548250"/>
            <a:ext cx="758190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Ethical Considerations in AI</a:t>
            </a:r>
            <a:endParaRPr lang="en-US" sz="4647" dirty="0"/>
          </a:p>
        </p:txBody>
      </p:sp>
      <p:sp>
        <p:nvSpPr>
          <p:cNvPr id="5" name="Shape 3"/>
          <p:cNvSpPr/>
          <p:nvPr/>
        </p:nvSpPr>
        <p:spPr>
          <a:xfrm>
            <a:off x="885230" y="2749149"/>
            <a:ext cx="6311979" cy="1818662"/>
          </a:xfrm>
          <a:prstGeom prst="roundRect">
            <a:avLst>
              <a:gd name="adj" fmla="val 3894"/>
            </a:avLst>
          </a:prstGeom>
          <a:solidFill>
            <a:srgbClr val="2F3343"/>
          </a:solidFill>
          <a:ln/>
        </p:spPr>
      </p:sp>
      <p:sp>
        <p:nvSpPr>
          <p:cNvPr id="6" name="Text 4"/>
          <p:cNvSpPr/>
          <p:nvPr/>
        </p:nvSpPr>
        <p:spPr>
          <a:xfrm>
            <a:off x="1121212" y="2983395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Algorithmic Bias</a:t>
            </a:r>
            <a:endParaRPr lang="en-US" sz="2324" dirty="0"/>
          </a:p>
        </p:txBody>
      </p:sp>
      <p:sp>
        <p:nvSpPr>
          <p:cNvPr id="7" name="Text 5"/>
          <p:cNvSpPr/>
          <p:nvPr/>
        </p:nvSpPr>
        <p:spPr>
          <a:xfrm>
            <a:off x="1121212" y="3583786"/>
            <a:ext cx="5840016" cy="749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can perpetuate and amplify societal biases, leading to unfair outcomes and discrimination.</a:t>
            </a:r>
            <a:endParaRPr lang="en-US" sz="1859" dirty="0"/>
          </a:p>
        </p:txBody>
      </p:sp>
      <p:sp>
        <p:nvSpPr>
          <p:cNvPr id="8" name="Shape 6"/>
          <p:cNvSpPr/>
          <p:nvPr/>
        </p:nvSpPr>
        <p:spPr>
          <a:xfrm>
            <a:off x="7433191" y="2749149"/>
            <a:ext cx="6311979" cy="1818662"/>
          </a:xfrm>
          <a:prstGeom prst="roundRect">
            <a:avLst>
              <a:gd name="adj" fmla="val 3894"/>
            </a:avLst>
          </a:prstGeom>
          <a:solidFill>
            <a:srgbClr val="2F3343"/>
          </a:solidFill>
          <a:ln/>
        </p:spPr>
      </p:sp>
      <p:sp>
        <p:nvSpPr>
          <p:cNvPr id="9" name="Text 7"/>
          <p:cNvSpPr/>
          <p:nvPr/>
        </p:nvSpPr>
        <p:spPr>
          <a:xfrm>
            <a:off x="7669173" y="2983395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Bias</a:t>
            </a:r>
            <a:endParaRPr lang="en-US" sz="2324" dirty="0"/>
          </a:p>
        </p:txBody>
      </p:sp>
      <p:sp>
        <p:nvSpPr>
          <p:cNvPr id="10" name="Text 8"/>
          <p:cNvSpPr/>
          <p:nvPr/>
        </p:nvSpPr>
        <p:spPr>
          <a:xfrm>
            <a:off x="7669173" y="3583786"/>
            <a:ext cx="5840016" cy="749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Unrepresentative, incomplete, or inaccurate data can distort AI predictions.</a:t>
            </a:r>
            <a:endParaRPr lang="en-US" sz="1859" dirty="0"/>
          </a:p>
        </p:txBody>
      </p:sp>
      <p:sp>
        <p:nvSpPr>
          <p:cNvPr id="11" name="Shape 9"/>
          <p:cNvSpPr/>
          <p:nvPr/>
        </p:nvSpPr>
        <p:spPr>
          <a:xfrm>
            <a:off x="885230" y="4802058"/>
            <a:ext cx="6311979" cy="1818662"/>
          </a:xfrm>
          <a:prstGeom prst="roundRect">
            <a:avLst>
              <a:gd name="adj" fmla="val 3894"/>
            </a:avLst>
          </a:prstGeom>
          <a:solidFill>
            <a:srgbClr val="2F3343"/>
          </a:solidFill>
          <a:ln/>
        </p:spPr>
      </p:sp>
      <p:sp>
        <p:nvSpPr>
          <p:cNvPr id="12" name="Text 10"/>
          <p:cNvSpPr/>
          <p:nvPr/>
        </p:nvSpPr>
        <p:spPr>
          <a:xfrm>
            <a:off x="1121212" y="5036304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Misuse of Data</a:t>
            </a:r>
            <a:endParaRPr lang="en-US" sz="2324" dirty="0"/>
          </a:p>
        </p:txBody>
      </p:sp>
      <p:sp>
        <p:nvSpPr>
          <p:cNvPr id="13" name="Text 11"/>
          <p:cNvSpPr/>
          <p:nvPr/>
        </p:nvSpPr>
        <p:spPr>
          <a:xfrm>
            <a:off x="1121212" y="5636695"/>
            <a:ext cx="5840016" cy="749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collection, storage, and use of personal data raises ethical concerns about privacy and surveillance.</a:t>
            </a:r>
            <a:endParaRPr lang="en-US" sz="1859" dirty="0"/>
          </a:p>
        </p:txBody>
      </p:sp>
      <p:sp>
        <p:nvSpPr>
          <p:cNvPr id="14" name="Shape 12"/>
          <p:cNvSpPr/>
          <p:nvPr/>
        </p:nvSpPr>
        <p:spPr>
          <a:xfrm>
            <a:off x="7433191" y="4802058"/>
            <a:ext cx="6311979" cy="1818662"/>
          </a:xfrm>
          <a:prstGeom prst="roundRect">
            <a:avLst>
              <a:gd name="adj" fmla="val 3894"/>
            </a:avLst>
          </a:prstGeom>
          <a:solidFill>
            <a:srgbClr val="2F3343"/>
          </a:solidFill>
          <a:ln/>
        </p:spPr>
      </p:sp>
      <p:sp>
        <p:nvSpPr>
          <p:cNvPr id="15" name="Text 13"/>
          <p:cNvSpPr/>
          <p:nvPr/>
        </p:nvSpPr>
        <p:spPr>
          <a:xfrm>
            <a:off x="7669173" y="5036304"/>
            <a:ext cx="425958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Transparency &amp; Accountability</a:t>
            </a:r>
            <a:endParaRPr lang="en-US" sz="2324" dirty="0"/>
          </a:p>
        </p:txBody>
      </p:sp>
      <p:sp>
        <p:nvSpPr>
          <p:cNvPr id="16" name="Text 14"/>
          <p:cNvSpPr/>
          <p:nvPr/>
        </p:nvSpPr>
        <p:spPr>
          <a:xfrm>
            <a:off x="7669173" y="5636695"/>
            <a:ext cx="5840016" cy="749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There's a need for greater transparency and accountability in how AI systems are developed and used.</a:t>
            </a:r>
            <a:endParaRPr lang="en-US" sz="18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1232573"/>
            <a:ext cx="953262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Examples of Ethical Concerns in AI</a:t>
            </a:r>
            <a:endParaRPr lang="en-US" sz="464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" y="2433471"/>
            <a:ext cx="4050506" cy="24848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5230" y="5211221"/>
            <a:ext cx="252222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Facial Recognition</a:t>
            </a:r>
            <a:endParaRPr lang="en-US" sz="2324" dirty="0"/>
          </a:p>
        </p:txBody>
      </p:sp>
      <p:sp>
        <p:nvSpPr>
          <p:cNvPr id="7" name="Text 4"/>
          <p:cNvSpPr/>
          <p:nvPr/>
        </p:nvSpPr>
        <p:spPr>
          <a:xfrm>
            <a:off x="885230" y="5811611"/>
            <a:ext cx="4050506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Facial recognition technology can be used for mass surveillance, intruding on personal privacy and civil liberties.</a:t>
            </a:r>
            <a:endParaRPr lang="en-US" sz="1859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828" y="2433471"/>
            <a:ext cx="4050625" cy="24850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9828" y="5211339"/>
            <a:ext cx="236220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Self-Driving Cars</a:t>
            </a:r>
            <a:endParaRPr lang="en-US" sz="2324" dirty="0"/>
          </a:p>
        </p:txBody>
      </p:sp>
      <p:sp>
        <p:nvSpPr>
          <p:cNvPr id="10" name="Text 6"/>
          <p:cNvSpPr/>
          <p:nvPr/>
        </p:nvSpPr>
        <p:spPr>
          <a:xfrm>
            <a:off x="5289828" y="5811730"/>
            <a:ext cx="4050625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Self-driving cars raise ethical questions about safety and responsibility in the event of an accident.</a:t>
            </a:r>
            <a:endParaRPr lang="en-US" sz="1859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545" y="2433471"/>
            <a:ext cx="4050625" cy="24850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4545" y="5211339"/>
            <a:ext cx="367284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Automated Hiring Systems</a:t>
            </a:r>
            <a:endParaRPr lang="en-US" sz="2324" dirty="0"/>
          </a:p>
        </p:txBody>
      </p:sp>
      <p:sp>
        <p:nvSpPr>
          <p:cNvPr id="13" name="Text 8"/>
          <p:cNvSpPr/>
          <p:nvPr/>
        </p:nvSpPr>
        <p:spPr>
          <a:xfrm>
            <a:off x="9694545" y="5811730"/>
            <a:ext cx="4050625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in hiring can perpetuate biases and lead to discrimination against certain groups.</a:t>
            </a:r>
            <a:endParaRPr lang="en-US" sz="185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3260190"/>
            <a:ext cx="1055370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 and Privacy Implications of AI</a:t>
            </a:r>
            <a:endParaRPr lang="en-US" sz="4647" dirty="0"/>
          </a:p>
        </p:txBody>
      </p:sp>
      <p:sp>
        <p:nvSpPr>
          <p:cNvPr id="5" name="Shape 3"/>
          <p:cNvSpPr/>
          <p:nvPr/>
        </p:nvSpPr>
        <p:spPr>
          <a:xfrm>
            <a:off x="885230" y="4527036"/>
            <a:ext cx="531138" cy="527232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6" name="Text 4"/>
          <p:cNvSpPr/>
          <p:nvPr/>
        </p:nvSpPr>
        <p:spPr>
          <a:xfrm>
            <a:off x="1085969" y="4571002"/>
            <a:ext cx="129540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788" dirty="0"/>
          </a:p>
        </p:txBody>
      </p:sp>
      <p:sp>
        <p:nvSpPr>
          <p:cNvPr id="7" name="Text 5"/>
          <p:cNvSpPr/>
          <p:nvPr/>
        </p:nvSpPr>
        <p:spPr>
          <a:xfrm>
            <a:off x="1652349" y="4607522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Breaches</a:t>
            </a:r>
            <a:endParaRPr lang="en-US" sz="2324" dirty="0"/>
          </a:p>
        </p:txBody>
      </p:sp>
      <p:sp>
        <p:nvSpPr>
          <p:cNvPr id="8" name="Text 6"/>
          <p:cNvSpPr/>
          <p:nvPr/>
        </p:nvSpPr>
        <p:spPr>
          <a:xfrm>
            <a:off x="1652349" y="5207912"/>
            <a:ext cx="3362206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increasing use of AI means an increased risk of data breaches, which can be catastrophic for individuals and organizations.</a:t>
            </a:r>
            <a:endParaRPr lang="en-US" sz="1859" dirty="0"/>
          </a:p>
        </p:txBody>
      </p:sp>
      <p:sp>
        <p:nvSpPr>
          <p:cNvPr id="9" name="Shape 7"/>
          <p:cNvSpPr/>
          <p:nvPr/>
        </p:nvSpPr>
        <p:spPr>
          <a:xfrm>
            <a:off x="5250537" y="4527036"/>
            <a:ext cx="531138" cy="527232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10" name="Text 8"/>
          <p:cNvSpPr/>
          <p:nvPr/>
        </p:nvSpPr>
        <p:spPr>
          <a:xfrm>
            <a:off x="5420797" y="4571002"/>
            <a:ext cx="190500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788" dirty="0"/>
          </a:p>
        </p:txBody>
      </p:sp>
      <p:sp>
        <p:nvSpPr>
          <p:cNvPr id="11" name="Text 9"/>
          <p:cNvSpPr/>
          <p:nvPr/>
        </p:nvSpPr>
        <p:spPr>
          <a:xfrm>
            <a:off x="6017657" y="4607522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Cyberattacks</a:t>
            </a:r>
            <a:endParaRPr lang="en-US" sz="2324" dirty="0"/>
          </a:p>
        </p:txBody>
      </p:sp>
      <p:sp>
        <p:nvSpPr>
          <p:cNvPr id="12" name="Text 10"/>
          <p:cNvSpPr/>
          <p:nvPr/>
        </p:nvSpPr>
        <p:spPr>
          <a:xfrm>
            <a:off x="6017657" y="5207912"/>
            <a:ext cx="3362206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can be used by malicious actors to carry out cyberattacks, posing a significant threat to national security.</a:t>
            </a:r>
            <a:endParaRPr lang="en-US" sz="1859" dirty="0"/>
          </a:p>
        </p:txBody>
      </p:sp>
      <p:sp>
        <p:nvSpPr>
          <p:cNvPr id="13" name="Shape 11"/>
          <p:cNvSpPr/>
          <p:nvPr/>
        </p:nvSpPr>
        <p:spPr>
          <a:xfrm>
            <a:off x="9615845" y="4527036"/>
            <a:ext cx="531138" cy="527232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14" name="Text 12"/>
          <p:cNvSpPr/>
          <p:nvPr/>
        </p:nvSpPr>
        <p:spPr>
          <a:xfrm>
            <a:off x="9782294" y="4571002"/>
            <a:ext cx="198120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788" dirty="0"/>
          </a:p>
        </p:txBody>
      </p:sp>
      <p:sp>
        <p:nvSpPr>
          <p:cNvPr id="15" name="Text 13"/>
          <p:cNvSpPr/>
          <p:nvPr/>
        </p:nvSpPr>
        <p:spPr>
          <a:xfrm>
            <a:off x="10382964" y="4607522"/>
            <a:ext cx="255270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Malware &amp; Viruses</a:t>
            </a:r>
            <a:endParaRPr lang="en-US" sz="2324" dirty="0"/>
          </a:p>
        </p:txBody>
      </p:sp>
      <p:sp>
        <p:nvSpPr>
          <p:cNvPr id="16" name="Text 14"/>
          <p:cNvSpPr/>
          <p:nvPr/>
        </p:nvSpPr>
        <p:spPr>
          <a:xfrm>
            <a:off x="10382964" y="5207912"/>
            <a:ext cx="3362206" cy="1874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can be used to create more advanced and sophisticated malware and viruses, making it harder to defend against cyber threats.</a:t>
            </a:r>
            <a:endParaRPr lang="en-US" sz="1859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73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704513"/>
            <a:ext cx="936498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Building Confidence in AI Systems</a:t>
            </a:r>
            <a:endParaRPr lang="en-US" sz="4647" dirty="0"/>
          </a:p>
        </p:txBody>
      </p:sp>
      <p:sp>
        <p:nvSpPr>
          <p:cNvPr id="5" name="Shape 3"/>
          <p:cNvSpPr/>
          <p:nvPr/>
        </p:nvSpPr>
        <p:spPr>
          <a:xfrm>
            <a:off x="885230" y="4684934"/>
            <a:ext cx="12859941" cy="15128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6" name="Shape 4"/>
          <p:cNvSpPr/>
          <p:nvPr/>
        </p:nvSpPr>
        <p:spPr>
          <a:xfrm>
            <a:off x="4033599" y="4684934"/>
            <a:ext cx="15240" cy="820218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7" name="Shape 5"/>
          <p:cNvSpPr/>
          <p:nvPr/>
        </p:nvSpPr>
        <p:spPr>
          <a:xfrm>
            <a:off x="3775710" y="4421377"/>
            <a:ext cx="531138" cy="527232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8" name="Text 6"/>
          <p:cNvSpPr/>
          <p:nvPr/>
        </p:nvSpPr>
        <p:spPr>
          <a:xfrm>
            <a:off x="3976449" y="4465343"/>
            <a:ext cx="129540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788" dirty="0"/>
          </a:p>
        </p:txBody>
      </p:sp>
      <p:sp>
        <p:nvSpPr>
          <p:cNvPr id="9" name="Text 7"/>
          <p:cNvSpPr/>
          <p:nvPr/>
        </p:nvSpPr>
        <p:spPr>
          <a:xfrm>
            <a:off x="2860834" y="5739399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Quality</a:t>
            </a:r>
            <a:endParaRPr lang="en-US" sz="2324" dirty="0"/>
          </a:p>
        </p:txBody>
      </p:sp>
      <p:sp>
        <p:nvSpPr>
          <p:cNvPr id="10" name="Text 8"/>
          <p:cNvSpPr/>
          <p:nvPr/>
        </p:nvSpPr>
        <p:spPr>
          <a:xfrm>
            <a:off x="1121212" y="6339789"/>
            <a:ext cx="5840016" cy="749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High-quality data is essential for building accurate and reliable AI models.</a:t>
            </a:r>
            <a:endParaRPr lang="en-US" sz="1859" dirty="0"/>
          </a:p>
        </p:txBody>
      </p:sp>
      <p:sp>
        <p:nvSpPr>
          <p:cNvPr id="11" name="Shape 9"/>
          <p:cNvSpPr/>
          <p:nvPr/>
        </p:nvSpPr>
        <p:spPr>
          <a:xfrm>
            <a:off x="7307580" y="3864716"/>
            <a:ext cx="15240" cy="820218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9691" y="4421377"/>
            <a:ext cx="531138" cy="527232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13" name="Text 11"/>
          <p:cNvSpPr/>
          <p:nvPr/>
        </p:nvSpPr>
        <p:spPr>
          <a:xfrm>
            <a:off x="7219950" y="4465343"/>
            <a:ext cx="190500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788" dirty="0"/>
          </a:p>
        </p:txBody>
      </p:sp>
      <p:sp>
        <p:nvSpPr>
          <p:cNvPr id="14" name="Text 12"/>
          <p:cNvSpPr/>
          <p:nvPr/>
        </p:nvSpPr>
        <p:spPr>
          <a:xfrm>
            <a:off x="6134814" y="1905411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Interpretability</a:t>
            </a:r>
            <a:endParaRPr lang="en-US" sz="2324" dirty="0"/>
          </a:p>
        </p:txBody>
      </p:sp>
      <p:sp>
        <p:nvSpPr>
          <p:cNvPr id="15" name="Text 13"/>
          <p:cNvSpPr/>
          <p:nvPr/>
        </p:nvSpPr>
        <p:spPr>
          <a:xfrm>
            <a:off x="4395192" y="2505802"/>
            <a:ext cx="5840016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systems should be transparent and explainable, so that users can understand how they work and trust their output.</a:t>
            </a:r>
            <a:endParaRPr lang="en-US" sz="1859" dirty="0"/>
          </a:p>
        </p:txBody>
      </p:sp>
      <p:sp>
        <p:nvSpPr>
          <p:cNvPr id="16" name="Shape 14"/>
          <p:cNvSpPr/>
          <p:nvPr/>
        </p:nvSpPr>
        <p:spPr>
          <a:xfrm>
            <a:off x="10581561" y="4684934"/>
            <a:ext cx="15240" cy="820218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23671" y="4421377"/>
            <a:ext cx="531138" cy="527232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18" name="Text 16"/>
          <p:cNvSpPr/>
          <p:nvPr/>
        </p:nvSpPr>
        <p:spPr>
          <a:xfrm>
            <a:off x="10490121" y="4465343"/>
            <a:ext cx="198120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788" dirty="0"/>
          </a:p>
        </p:txBody>
      </p:sp>
      <p:sp>
        <p:nvSpPr>
          <p:cNvPr id="19" name="Text 17"/>
          <p:cNvSpPr/>
          <p:nvPr/>
        </p:nvSpPr>
        <p:spPr>
          <a:xfrm>
            <a:off x="9373791" y="5739399"/>
            <a:ext cx="243078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 Oversight</a:t>
            </a:r>
            <a:endParaRPr lang="en-US" sz="2324" dirty="0"/>
          </a:p>
        </p:txBody>
      </p:sp>
      <p:sp>
        <p:nvSpPr>
          <p:cNvPr id="20" name="Text 18"/>
          <p:cNvSpPr/>
          <p:nvPr/>
        </p:nvSpPr>
        <p:spPr>
          <a:xfrm>
            <a:off x="7669173" y="6339789"/>
            <a:ext cx="5840016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Human experts should be involved in developing and monitoring AI systems to ensure ethical and responsible use.</a:t>
            </a:r>
            <a:endParaRPr lang="en-US" sz="185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2420943"/>
            <a:ext cx="1149096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Ways to Increase Confidence in AI Models</a:t>
            </a:r>
            <a:endParaRPr lang="en-US" sz="4647" dirty="0"/>
          </a:p>
        </p:txBody>
      </p:sp>
      <p:sp>
        <p:nvSpPr>
          <p:cNvPr id="5" name="Text 3"/>
          <p:cNvSpPr/>
          <p:nvPr/>
        </p:nvSpPr>
        <p:spPr>
          <a:xfrm>
            <a:off x="885230" y="3738965"/>
            <a:ext cx="3192780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Augmentation</a:t>
            </a:r>
            <a:endParaRPr lang="en-US" sz="2788" dirty="0"/>
          </a:p>
        </p:txBody>
      </p:sp>
      <p:sp>
        <p:nvSpPr>
          <p:cNvPr id="6" name="Text 4"/>
          <p:cNvSpPr/>
          <p:nvPr/>
        </p:nvSpPr>
        <p:spPr>
          <a:xfrm>
            <a:off x="885230" y="4412513"/>
            <a:ext cx="3902154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Expand the amount and variety of data available for training AI models, reducing the risk of bias.</a:t>
            </a:r>
            <a:endParaRPr lang="en-US" sz="1859" dirty="0"/>
          </a:p>
        </p:txBody>
      </p:sp>
      <p:sp>
        <p:nvSpPr>
          <p:cNvPr id="7" name="Text 5"/>
          <p:cNvSpPr/>
          <p:nvPr/>
        </p:nvSpPr>
        <p:spPr>
          <a:xfrm>
            <a:off x="5371028" y="3738965"/>
            <a:ext cx="3368040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Explainability</a:t>
            </a:r>
            <a:endParaRPr lang="en-US" sz="2788" dirty="0"/>
          </a:p>
        </p:txBody>
      </p:sp>
      <p:sp>
        <p:nvSpPr>
          <p:cNvPr id="8" name="Text 6"/>
          <p:cNvSpPr/>
          <p:nvPr/>
        </p:nvSpPr>
        <p:spPr>
          <a:xfrm>
            <a:off x="5371028" y="4412513"/>
            <a:ext cx="3902154" cy="749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Introduce methods that enable insight into the decision making of AI-models.</a:t>
            </a:r>
            <a:endParaRPr lang="en-US" sz="1859" dirty="0"/>
          </a:p>
        </p:txBody>
      </p:sp>
      <p:sp>
        <p:nvSpPr>
          <p:cNvPr id="9" name="Text 7"/>
          <p:cNvSpPr/>
          <p:nvPr/>
        </p:nvSpPr>
        <p:spPr>
          <a:xfrm>
            <a:off x="9856827" y="3738965"/>
            <a:ext cx="2832973" cy="43930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486"/>
              </a:lnSpc>
              <a:buNone/>
            </a:pPr>
            <a:r>
              <a:rPr lang="en-US" sz="2788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Human Opinion</a:t>
            </a:r>
            <a:endParaRPr lang="en-US" sz="2788" dirty="0"/>
          </a:p>
        </p:txBody>
      </p:sp>
      <p:sp>
        <p:nvSpPr>
          <p:cNvPr id="10" name="Text 8"/>
          <p:cNvSpPr/>
          <p:nvPr/>
        </p:nvSpPr>
        <p:spPr>
          <a:xfrm>
            <a:off x="9856827" y="4412513"/>
            <a:ext cx="3902154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Obtain human feedback on the performance of AI-models to identify weaknesses and improvements.</a:t>
            </a:r>
            <a:endParaRPr lang="en-US" sz="185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1232573"/>
            <a:ext cx="1134618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Applications and Case Studies</a:t>
            </a:r>
            <a:endParaRPr lang="en-US" sz="464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30" y="2433471"/>
            <a:ext cx="4050506" cy="24848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5230" y="5211221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in Medicine</a:t>
            </a:r>
            <a:endParaRPr lang="en-US" sz="2324" dirty="0"/>
          </a:p>
        </p:txBody>
      </p:sp>
      <p:sp>
        <p:nvSpPr>
          <p:cNvPr id="7" name="Text 4"/>
          <p:cNvSpPr/>
          <p:nvPr/>
        </p:nvSpPr>
        <p:spPr>
          <a:xfrm>
            <a:off x="885230" y="5811611"/>
            <a:ext cx="4050506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is being used for medical diagnosis, drug development, and patient data analysis.</a:t>
            </a:r>
            <a:endParaRPr lang="en-US" sz="1859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828" y="2433471"/>
            <a:ext cx="4050625" cy="24850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9828" y="5211339"/>
            <a:ext cx="274320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in Manufacturing</a:t>
            </a:r>
            <a:endParaRPr lang="en-US" sz="2324" dirty="0"/>
          </a:p>
        </p:txBody>
      </p:sp>
      <p:sp>
        <p:nvSpPr>
          <p:cNvPr id="10" name="Text 6"/>
          <p:cNvSpPr/>
          <p:nvPr/>
        </p:nvSpPr>
        <p:spPr>
          <a:xfrm>
            <a:off x="5289828" y="5811730"/>
            <a:ext cx="4050625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Robots powered by AI are automating assembly lines, reducing costs and increasing efficiency.</a:t>
            </a:r>
            <a:endParaRPr lang="en-US" sz="1859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4545" y="2433471"/>
            <a:ext cx="4050625" cy="24850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4545" y="5211339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in Agriculture</a:t>
            </a:r>
            <a:endParaRPr lang="en-US" sz="2324" dirty="0"/>
          </a:p>
        </p:txBody>
      </p:sp>
      <p:sp>
        <p:nvSpPr>
          <p:cNvPr id="13" name="Text 8"/>
          <p:cNvSpPr/>
          <p:nvPr/>
        </p:nvSpPr>
        <p:spPr>
          <a:xfrm>
            <a:off x="9694545" y="5811730"/>
            <a:ext cx="4050625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is being used to optimize crop yields, reduce waste, and minimize environmental impact.</a:t>
            </a:r>
            <a:endParaRPr lang="en-US" sz="185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788789" y="909449"/>
            <a:ext cx="7566422" cy="1957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177"/>
              </a:lnSpc>
              <a:buNone/>
            </a:pPr>
            <a:r>
              <a:rPr lang="en-US" sz="4141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Role of Government and Industry in Promoting AI Ethics</a:t>
            </a:r>
            <a:endParaRPr lang="en-US" sz="4141" dirty="0"/>
          </a:p>
        </p:txBody>
      </p:sp>
      <p:sp>
        <p:nvSpPr>
          <p:cNvPr id="5" name="Shape 3"/>
          <p:cNvSpPr/>
          <p:nvPr/>
        </p:nvSpPr>
        <p:spPr>
          <a:xfrm>
            <a:off x="788789" y="3343275"/>
            <a:ext cx="473273" cy="469793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6" name="Text 4"/>
          <p:cNvSpPr/>
          <p:nvPr/>
        </p:nvSpPr>
        <p:spPr>
          <a:xfrm>
            <a:off x="968216" y="3382395"/>
            <a:ext cx="114300" cy="3914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6"/>
              </a:lnSpc>
              <a:buNone/>
            </a:pPr>
            <a:r>
              <a:rPr lang="en-US" sz="2485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485" dirty="0"/>
          </a:p>
        </p:txBody>
      </p:sp>
      <p:sp>
        <p:nvSpPr>
          <p:cNvPr id="7" name="Text 5"/>
          <p:cNvSpPr/>
          <p:nvPr/>
        </p:nvSpPr>
        <p:spPr>
          <a:xfrm>
            <a:off x="1472327" y="3415015"/>
            <a:ext cx="2103715" cy="3263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88"/>
              </a:lnSpc>
              <a:buNone/>
            </a:pPr>
            <a:r>
              <a:rPr lang="en-US" sz="2071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Regulation</a:t>
            </a:r>
            <a:endParaRPr lang="en-US" sz="2071" dirty="0"/>
          </a:p>
        </p:txBody>
      </p:sp>
      <p:sp>
        <p:nvSpPr>
          <p:cNvPr id="8" name="Text 6"/>
          <p:cNvSpPr/>
          <p:nvPr/>
        </p:nvSpPr>
        <p:spPr>
          <a:xfrm>
            <a:off x="1472327" y="3950047"/>
            <a:ext cx="2994541" cy="1002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6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Government regulation can ensure ethical and responsible development and use of AI.</a:t>
            </a:r>
            <a:endParaRPr lang="en-US" sz="1656" dirty="0"/>
          </a:p>
        </p:txBody>
      </p:sp>
      <p:sp>
        <p:nvSpPr>
          <p:cNvPr id="9" name="Shape 7"/>
          <p:cNvSpPr/>
          <p:nvPr/>
        </p:nvSpPr>
        <p:spPr>
          <a:xfrm>
            <a:off x="4677132" y="3343275"/>
            <a:ext cx="473273" cy="469793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10" name="Text 8"/>
          <p:cNvSpPr/>
          <p:nvPr/>
        </p:nvSpPr>
        <p:spPr>
          <a:xfrm>
            <a:off x="4829889" y="3382395"/>
            <a:ext cx="167640" cy="3914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6"/>
              </a:lnSpc>
              <a:buNone/>
            </a:pPr>
            <a:r>
              <a:rPr lang="en-US" sz="2485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485" dirty="0"/>
          </a:p>
        </p:txBody>
      </p:sp>
      <p:sp>
        <p:nvSpPr>
          <p:cNvPr id="11" name="Text 9"/>
          <p:cNvSpPr/>
          <p:nvPr/>
        </p:nvSpPr>
        <p:spPr>
          <a:xfrm>
            <a:off x="5360670" y="3415015"/>
            <a:ext cx="2994541" cy="652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588"/>
              </a:lnSpc>
              <a:buNone/>
            </a:pPr>
            <a:r>
              <a:rPr lang="en-US" sz="2071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Education and Awareness</a:t>
            </a:r>
            <a:endParaRPr lang="en-US" sz="2071" dirty="0"/>
          </a:p>
        </p:txBody>
      </p:sp>
      <p:sp>
        <p:nvSpPr>
          <p:cNvPr id="12" name="Text 10"/>
          <p:cNvSpPr/>
          <p:nvPr/>
        </p:nvSpPr>
        <p:spPr>
          <a:xfrm>
            <a:off x="5360670" y="4276362"/>
            <a:ext cx="2994541" cy="13364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6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Awareness and education of the public and AI developers about the ethical implications of AI before integration.</a:t>
            </a:r>
            <a:endParaRPr lang="en-US" sz="1656" dirty="0"/>
          </a:p>
        </p:txBody>
      </p:sp>
      <p:sp>
        <p:nvSpPr>
          <p:cNvPr id="13" name="Shape 11"/>
          <p:cNvSpPr/>
          <p:nvPr/>
        </p:nvSpPr>
        <p:spPr>
          <a:xfrm>
            <a:off x="788789" y="5984637"/>
            <a:ext cx="473273" cy="469793"/>
          </a:xfrm>
          <a:prstGeom prst="roundRect">
            <a:avLst>
              <a:gd name="adj" fmla="val 13434"/>
            </a:avLst>
          </a:prstGeom>
          <a:solidFill>
            <a:srgbClr val="2F3343"/>
          </a:solidFill>
          <a:ln/>
        </p:spPr>
      </p:sp>
      <p:sp>
        <p:nvSpPr>
          <p:cNvPr id="14" name="Text 12"/>
          <p:cNvSpPr/>
          <p:nvPr/>
        </p:nvSpPr>
        <p:spPr>
          <a:xfrm>
            <a:off x="937736" y="6023757"/>
            <a:ext cx="175260" cy="39143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106"/>
              </a:lnSpc>
              <a:buNone/>
            </a:pPr>
            <a:r>
              <a:rPr lang="en-US" sz="2485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485" dirty="0"/>
          </a:p>
        </p:txBody>
      </p:sp>
      <p:sp>
        <p:nvSpPr>
          <p:cNvPr id="15" name="Text 13"/>
          <p:cNvSpPr/>
          <p:nvPr/>
        </p:nvSpPr>
        <p:spPr>
          <a:xfrm>
            <a:off x="1472327" y="6056377"/>
            <a:ext cx="2339340" cy="3263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88"/>
              </a:lnSpc>
              <a:buNone/>
            </a:pPr>
            <a:r>
              <a:rPr lang="en-US" sz="2071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Industry Initiatives</a:t>
            </a:r>
            <a:endParaRPr lang="en-US" sz="2071" dirty="0"/>
          </a:p>
        </p:txBody>
      </p:sp>
      <p:sp>
        <p:nvSpPr>
          <p:cNvPr id="16" name="Text 14"/>
          <p:cNvSpPr/>
          <p:nvPr/>
        </p:nvSpPr>
        <p:spPr>
          <a:xfrm>
            <a:off x="1472327" y="6591409"/>
            <a:ext cx="6882884" cy="668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6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Industry initiatives can include codes of conduct, collaborations with government, and the establishment of AI ethics and safety standards.</a:t>
            </a:r>
            <a:endParaRPr lang="en-US" sz="1656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1690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169088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sp>
        <p:nvSpPr>
          <p:cNvPr id="4" name="Text 2"/>
          <p:cNvSpPr/>
          <p:nvPr/>
        </p:nvSpPr>
        <p:spPr>
          <a:xfrm>
            <a:off x="885230" y="1829299"/>
            <a:ext cx="8084820" cy="7322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9"/>
              </a:lnSpc>
              <a:buNone/>
            </a:pPr>
            <a:r>
              <a:rPr lang="en-US" sz="4647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and Call to Action</a:t>
            </a:r>
            <a:endParaRPr lang="en-US" sz="4647" dirty="0"/>
          </a:p>
        </p:txBody>
      </p:sp>
      <p:sp>
        <p:nvSpPr>
          <p:cNvPr id="5" name="Shape 3"/>
          <p:cNvSpPr/>
          <p:nvPr/>
        </p:nvSpPr>
        <p:spPr>
          <a:xfrm>
            <a:off x="885230" y="3030198"/>
            <a:ext cx="4129326" cy="3309474"/>
          </a:xfrm>
          <a:prstGeom prst="roundRect">
            <a:avLst>
              <a:gd name="adj" fmla="val 2140"/>
            </a:avLst>
          </a:prstGeom>
          <a:solidFill>
            <a:srgbClr val="2F3343"/>
          </a:solidFill>
          <a:ln/>
        </p:spPr>
      </p:sp>
      <p:sp>
        <p:nvSpPr>
          <p:cNvPr id="6" name="Text 4"/>
          <p:cNvSpPr/>
          <p:nvPr/>
        </p:nvSpPr>
        <p:spPr>
          <a:xfrm>
            <a:off x="1121212" y="3264444"/>
            <a:ext cx="2360771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Ethics First</a:t>
            </a:r>
            <a:endParaRPr lang="en-US" sz="2324" dirty="0"/>
          </a:p>
        </p:txBody>
      </p:sp>
      <p:sp>
        <p:nvSpPr>
          <p:cNvPr id="7" name="Text 5"/>
          <p:cNvSpPr/>
          <p:nvPr/>
        </p:nvSpPr>
        <p:spPr>
          <a:xfrm>
            <a:off x="1121212" y="3864834"/>
            <a:ext cx="3657362" cy="1124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As AI continues to grow in importance, it is our responsibility to prioritize ethical design and use.</a:t>
            </a:r>
            <a:endParaRPr lang="en-US" sz="1859" dirty="0"/>
          </a:p>
        </p:txBody>
      </p:sp>
      <p:sp>
        <p:nvSpPr>
          <p:cNvPr id="8" name="Shape 6"/>
          <p:cNvSpPr/>
          <p:nvPr/>
        </p:nvSpPr>
        <p:spPr>
          <a:xfrm>
            <a:off x="5250537" y="3030198"/>
            <a:ext cx="4129326" cy="3309474"/>
          </a:xfrm>
          <a:prstGeom prst="roundRect">
            <a:avLst>
              <a:gd name="adj" fmla="val 2140"/>
            </a:avLst>
          </a:prstGeom>
          <a:solidFill>
            <a:srgbClr val="2F3343"/>
          </a:solidFill>
          <a:ln/>
        </p:spPr>
      </p:sp>
      <p:sp>
        <p:nvSpPr>
          <p:cNvPr id="9" name="Text 7"/>
          <p:cNvSpPr/>
          <p:nvPr/>
        </p:nvSpPr>
        <p:spPr>
          <a:xfrm>
            <a:off x="5486519" y="3264444"/>
            <a:ext cx="2766060" cy="3661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Collaboration is Key</a:t>
            </a:r>
            <a:endParaRPr lang="en-US" sz="2324" dirty="0"/>
          </a:p>
        </p:txBody>
      </p:sp>
      <p:sp>
        <p:nvSpPr>
          <p:cNvPr id="10" name="Text 8"/>
          <p:cNvSpPr/>
          <p:nvPr/>
        </p:nvSpPr>
        <p:spPr>
          <a:xfrm>
            <a:off x="5486519" y="3864834"/>
            <a:ext cx="3657362" cy="14995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Effective collaboration between government and industry is essential to ensure that AI is developed and deployed in a responsible manner.</a:t>
            </a:r>
            <a:endParaRPr lang="en-US" sz="1859" dirty="0"/>
          </a:p>
        </p:txBody>
      </p:sp>
      <p:sp>
        <p:nvSpPr>
          <p:cNvPr id="11" name="Shape 9"/>
          <p:cNvSpPr/>
          <p:nvPr/>
        </p:nvSpPr>
        <p:spPr>
          <a:xfrm>
            <a:off x="9615845" y="3030198"/>
            <a:ext cx="4129326" cy="3309474"/>
          </a:xfrm>
          <a:prstGeom prst="roundRect">
            <a:avLst>
              <a:gd name="adj" fmla="val 2140"/>
            </a:avLst>
          </a:prstGeom>
          <a:solidFill>
            <a:srgbClr val="2F3343"/>
          </a:solidFill>
          <a:ln/>
        </p:spPr>
      </p:sp>
      <p:sp>
        <p:nvSpPr>
          <p:cNvPr id="12" name="Text 10"/>
          <p:cNvSpPr/>
          <p:nvPr/>
        </p:nvSpPr>
        <p:spPr>
          <a:xfrm>
            <a:off x="9851827" y="3264444"/>
            <a:ext cx="3657362" cy="732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05"/>
              </a:lnSpc>
              <a:buNone/>
            </a:pPr>
            <a:r>
              <a:rPr lang="en-US" sz="2324" dirty="0">
                <a:solidFill>
                  <a:srgbClr val="6EB9FC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Transparency &amp; Responsibility</a:t>
            </a:r>
            <a:endParaRPr lang="en-US" sz="2324" dirty="0"/>
          </a:p>
        </p:txBody>
      </p:sp>
      <p:sp>
        <p:nvSpPr>
          <p:cNvPr id="13" name="Text 11"/>
          <p:cNvSpPr/>
          <p:nvPr/>
        </p:nvSpPr>
        <p:spPr>
          <a:xfrm>
            <a:off x="9851827" y="4230978"/>
            <a:ext cx="3657362" cy="1874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4"/>
              </a:lnSpc>
              <a:buNone/>
            </a:pPr>
            <a:r>
              <a:rPr lang="en-US" sz="1859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Transparency and responsibility for AI are essential so that we can trust the benefits of better decision-making, increased efficiency and quality of life which AI offers.</a:t>
            </a:r>
            <a:endParaRPr lang="en-US" sz="185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Microsoft Office PowerPoint</Application>
  <PresentationFormat>Custom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Lora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Halyna Melnyk</cp:lastModifiedBy>
  <cp:revision>1</cp:revision>
  <dcterms:created xsi:type="dcterms:W3CDTF">2023-07-30T14:32:41Z</dcterms:created>
  <dcterms:modified xsi:type="dcterms:W3CDTF">2023-07-30T14:34:07Z</dcterms:modified>
</cp:coreProperties>
</file>