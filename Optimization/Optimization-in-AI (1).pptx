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lyna Melnyk" userId="3a0791cb-340d-4bb0-af37-0c0723bf166e" providerId="ADAL" clId="{CB7167E2-16E1-44BF-8724-403A5FD23F14}"/>
    <pc:docChg chg="custSel modSld">
      <pc:chgData name="Halyna Melnyk" userId="3a0791cb-340d-4bb0-af37-0c0723bf166e" providerId="ADAL" clId="{CB7167E2-16E1-44BF-8724-403A5FD23F14}" dt="2023-07-28T15:17:32.752" v="9" actId="478"/>
      <pc:docMkLst>
        <pc:docMk/>
      </pc:docMkLst>
      <pc:sldChg chg="delSp mod">
        <pc:chgData name="Halyna Melnyk" userId="3a0791cb-340d-4bb0-af37-0c0723bf166e" providerId="ADAL" clId="{CB7167E2-16E1-44BF-8724-403A5FD23F14}" dt="2023-07-28T15:16:58.201" v="0" actId="478"/>
        <pc:sldMkLst>
          <pc:docMk/>
          <pc:sldMk cId="0" sldId="256"/>
        </pc:sldMkLst>
        <pc:picChg chg="del">
          <ac:chgData name="Halyna Melnyk" userId="3a0791cb-340d-4bb0-af37-0c0723bf166e" providerId="ADAL" clId="{CB7167E2-16E1-44BF-8724-403A5FD23F14}" dt="2023-07-28T15:16:58.201" v="0" actId="478"/>
          <ac:picMkLst>
            <pc:docMk/>
            <pc:sldMk cId="0" sldId="256"/>
            <ac:picMk id="7" creationId="{00000000-0000-0000-0000-000000000000}"/>
          </ac:picMkLst>
        </pc:picChg>
      </pc:sldChg>
      <pc:sldChg chg="delSp mod">
        <pc:chgData name="Halyna Melnyk" userId="3a0791cb-340d-4bb0-af37-0c0723bf166e" providerId="ADAL" clId="{CB7167E2-16E1-44BF-8724-403A5FD23F14}" dt="2023-07-28T15:17:01.199" v="1" actId="478"/>
        <pc:sldMkLst>
          <pc:docMk/>
          <pc:sldMk cId="0" sldId="257"/>
        </pc:sldMkLst>
        <pc:picChg chg="del">
          <ac:chgData name="Halyna Melnyk" userId="3a0791cb-340d-4bb0-af37-0c0723bf166e" providerId="ADAL" clId="{CB7167E2-16E1-44BF-8724-403A5FD23F14}" dt="2023-07-28T15:17:01.199" v="1" actId="478"/>
          <ac:picMkLst>
            <pc:docMk/>
            <pc:sldMk cId="0" sldId="257"/>
            <ac:picMk id="14" creationId="{00000000-0000-0000-0000-000000000000}"/>
          </ac:picMkLst>
        </pc:picChg>
      </pc:sldChg>
      <pc:sldChg chg="delSp mod">
        <pc:chgData name="Halyna Melnyk" userId="3a0791cb-340d-4bb0-af37-0c0723bf166e" providerId="ADAL" clId="{CB7167E2-16E1-44BF-8724-403A5FD23F14}" dt="2023-07-28T15:17:04.745" v="2" actId="478"/>
        <pc:sldMkLst>
          <pc:docMk/>
          <pc:sldMk cId="0" sldId="258"/>
        </pc:sldMkLst>
        <pc:picChg chg="del">
          <ac:chgData name="Halyna Melnyk" userId="3a0791cb-340d-4bb0-af37-0c0723bf166e" providerId="ADAL" clId="{CB7167E2-16E1-44BF-8724-403A5FD23F14}" dt="2023-07-28T15:17:04.745" v="2" actId="478"/>
          <ac:picMkLst>
            <pc:docMk/>
            <pc:sldMk cId="0" sldId="258"/>
            <ac:picMk id="26" creationId="{00000000-0000-0000-0000-000000000000}"/>
          </ac:picMkLst>
        </pc:picChg>
      </pc:sldChg>
      <pc:sldChg chg="delSp mod">
        <pc:chgData name="Halyna Melnyk" userId="3a0791cb-340d-4bb0-af37-0c0723bf166e" providerId="ADAL" clId="{CB7167E2-16E1-44BF-8724-403A5FD23F14}" dt="2023-07-28T15:17:08.465" v="3" actId="478"/>
        <pc:sldMkLst>
          <pc:docMk/>
          <pc:sldMk cId="0" sldId="259"/>
        </pc:sldMkLst>
        <pc:picChg chg="del">
          <ac:chgData name="Halyna Melnyk" userId="3a0791cb-340d-4bb0-af37-0c0723bf166e" providerId="ADAL" clId="{CB7167E2-16E1-44BF-8724-403A5FD23F14}" dt="2023-07-28T15:17:08.465" v="3" actId="478"/>
          <ac:picMkLst>
            <pc:docMk/>
            <pc:sldMk cId="0" sldId="259"/>
            <ac:picMk id="14" creationId="{00000000-0000-0000-0000-000000000000}"/>
          </ac:picMkLst>
        </pc:picChg>
      </pc:sldChg>
      <pc:sldChg chg="delSp mod">
        <pc:chgData name="Halyna Melnyk" userId="3a0791cb-340d-4bb0-af37-0c0723bf166e" providerId="ADAL" clId="{CB7167E2-16E1-44BF-8724-403A5FD23F14}" dt="2023-07-28T15:17:12.544" v="4" actId="478"/>
        <pc:sldMkLst>
          <pc:docMk/>
          <pc:sldMk cId="0" sldId="260"/>
        </pc:sldMkLst>
        <pc:picChg chg="del">
          <ac:chgData name="Halyna Melnyk" userId="3a0791cb-340d-4bb0-af37-0c0723bf166e" providerId="ADAL" clId="{CB7167E2-16E1-44BF-8724-403A5FD23F14}" dt="2023-07-28T15:17:12.544" v="4" actId="478"/>
          <ac:picMkLst>
            <pc:docMk/>
            <pc:sldMk cId="0" sldId="260"/>
            <ac:picMk id="18" creationId="{00000000-0000-0000-0000-000000000000}"/>
          </ac:picMkLst>
        </pc:picChg>
      </pc:sldChg>
      <pc:sldChg chg="delSp mod">
        <pc:chgData name="Halyna Melnyk" userId="3a0791cb-340d-4bb0-af37-0c0723bf166e" providerId="ADAL" clId="{CB7167E2-16E1-44BF-8724-403A5FD23F14}" dt="2023-07-28T15:17:16.269" v="5" actId="478"/>
        <pc:sldMkLst>
          <pc:docMk/>
          <pc:sldMk cId="0" sldId="261"/>
        </pc:sldMkLst>
        <pc:picChg chg="del">
          <ac:chgData name="Halyna Melnyk" userId="3a0791cb-340d-4bb0-af37-0c0723bf166e" providerId="ADAL" clId="{CB7167E2-16E1-44BF-8724-403A5FD23F14}" dt="2023-07-28T15:17:16.269" v="5" actId="478"/>
          <ac:picMkLst>
            <pc:docMk/>
            <pc:sldMk cId="0" sldId="261"/>
            <ac:picMk id="9" creationId="{00000000-0000-0000-0000-000000000000}"/>
          </ac:picMkLst>
        </pc:picChg>
      </pc:sldChg>
      <pc:sldChg chg="delSp mod">
        <pc:chgData name="Halyna Melnyk" userId="3a0791cb-340d-4bb0-af37-0c0723bf166e" providerId="ADAL" clId="{CB7167E2-16E1-44BF-8724-403A5FD23F14}" dt="2023-07-28T15:17:19.986" v="6" actId="478"/>
        <pc:sldMkLst>
          <pc:docMk/>
          <pc:sldMk cId="0" sldId="262"/>
        </pc:sldMkLst>
        <pc:picChg chg="del">
          <ac:chgData name="Halyna Melnyk" userId="3a0791cb-340d-4bb0-af37-0c0723bf166e" providerId="ADAL" clId="{CB7167E2-16E1-44BF-8724-403A5FD23F14}" dt="2023-07-28T15:17:19.986" v="6" actId="478"/>
          <ac:picMkLst>
            <pc:docMk/>
            <pc:sldMk cId="0" sldId="262"/>
            <ac:picMk id="24" creationId="{00000000-0000-0000-0000-000000000000}"/>
          </ac:picMkLst>
        </pc:picChg>
      </pc:sldChg>
      <pc:sldChg chg="delSp mod">
        <pc:chgData name="Halyna Melnyk" userId="3a0791cb-340d-4bb0-af37-0c0723bf166e" providerId="ADAL" clId="{CB7167E2-16E1-44BF-8724-403A5FD23F14}" dt="2023-07-28T15:17:23.988" v="7" actId="478"/>
        <pc:sldMkLst>
          <pc:docMk/>
          <pc:sldMk cId="0" sldId="263"/>
        </pc:sldMkLst>
        <pc:picChg chg="del">
          <ac:chgData name="Halyna Melnyk" userId="3a0791cb-340d-4bb0-af37-0c0723bf166e" providerId="ADAL" clId="{CB7167E2-16E1-44BF-8724-403A5FD23F14}" dt="2023-07-28T15:17:23.988" v="7" actId="478"/>
          <ac:picMkLst>
            <pc:docMk/>
            <pc:sldMk cId="0" sldId="263"/>
            <ac:picMk id="14" creationId="{00000000-0000-0000-0000-000000000000}"/>
          </ac:picMkLst>
        </pc:picChg>
      </pc:sldChg>
      <pc:sldChg chg="delSp mod">
        <pc:chgData name="Halyna Melnyk" userId="3a0791cb-340d-4bb0-af37-0c0723bf166e" providerId="ADAL" clId="{CB7167E2-16E1-44BF-8724-403A5FD23F14}" dt="2023-07-28T15:17:28.445" v="8" actId="478"/>
        <pc:sldMkLst>
          <pc:docMk/>
          <pc:sldMk cId="0" sldId="264"/>
        </pc:sldMkLst>
        <pc:picChg chg="del">
          <ac:chgData name="Halyna Melnyk" userId="3a0791cb-340d-4bb0-af37-0c0723bf166e" providerId="ADAL" clId="{CB7167E2-16E1-44BF-8724-403A5FD23F14}" dt="2023-07-28T15:17:28.445" v="8" actId="478"/>
          <ac:picMkLst>
            <pc:docMk/>
            <pc:sldMk cId="0" sldId="264"/>
            <ac:picMk id="14" creationId="{00000000-0000-0000-0000-000000000000}"/>
          </ac:picMkLst>
        </pc:picChg>
      </pc:sldChg>
      <pc:sldChg chg="delSp mod">
        <pc:chgData name="Halyna Melnyk" userId="3a0791cb-340d-4bb0-af37-0c0723bf166e" providerId="ADAL" clId="{CB7167E2-16E1-44BF-8724-403A5FD23F14}" dt="2023-07-28T15:17:32.752" v="9" actId="478"/>
        <pc:sldMkLst>
          <pc:docMk/>
          <pc:sldMk cId="0" sldId="265"/>
        </pc:sldMkLst>
        <pc:picChg chg="del">
          <ac:chgData name="Halyna Melnyk" userId="3a0791cb-340d-4bb0-af37-0c0723bf166e" providerId="ADAL" clId="{CB7167E2-16E1-44BF-8724-403A5FD23F14}" dt="2023-07-28T15:17:32.752" v="9" actId="478"/>
          <ac:picMkLst>
            <pc:docMk/>
            <pc:sldMk cId="0" sldId="265"/>
            <ac:picMk id="16"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9724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85230" y="2907047"/>
            <a:ext cx="6164580" cy="878839"/>
          </a:xfrm>
          <a:prstGeom prst="rect">
            <a:avLst/>
          </a:prstGeom>
          <a:noFill/>
          <a:ln/>
        </p:spPr>
        <p:txBody>
          <a:bodyPr wrap="none" rtlCol="0" anchor="t"/>
          <a:lstStyle/>
          <a:p>
            <a:pPr marL="0" indent="0">
              <a:lnSpc>
                <a:spcPts val="6971"/>
              </a:lnSpc>
              <a:buNone/>
            </a:pPr>
            <a:r>
              <a:rPr lang="en-US" sz="5577" dirty="0">
                <a:solidFill>
                  <a:srgbClr val="6EB9FC"/>
                </a:solidFill>
                <a:latin typeface="Lora" pitchFamily="34" charset="0"/>
                <a:ea typeface="Lora" pitchFamily="34" charset="-122"/>
                <a:cs typeface="Lora" pitchFamily="34" charset="-120"/>
              </a:rPr>
              <a:t>Optimization in AI </a:t>
            </a:r>
            <a:endParaRPr lang="en-US" sz="5577" dirty="0"/>
          </a:p>
        </p:txBody>
      </p:sp>
      <p:sp>
        <p:nvSpPr>
          <p:cNvPr id="5" name="Text 3"/>
          <p:cNvSpPr/>
          <p:nvPr/>
        </p:nvSpPr>
        <p:spPr>
          <a:xfrm>
            <a:off x="885230" y="4137374"/>
            <a:ext cx="7373541" cy="1124668"/>
          </a:xfrm>
          <a:prstGeom prst="rect">
            <a:avLst/>
          </a:prstGeom>
          <a:noFill/>
          <a:ln/>
        </p:spPr>
        <p:txBody>
          <a:bodyPr wrap="square" rtlCol="0" anchor="t"/>
          <a:lstStyle/>
          <a:p>
            <a:pPr marL="0" indent="0">
              <a:lnSpc>
                <a:spcPts val="2974"/>
              </a:lnSpc>
              <a:buNone/>
            </a:pPr>
            <a:r>
              <a:rPr lang="en-US" sz="1859" dirty="0">
                <a:solidFill>
                  <a:srgbClr val="D6E5EF"/>
                </a:solidFill>
                <a:latin typeface="Source Sans Pro" pitchFamily="34" charset="0"/>
                <a:ea typeface="Source Sans Pro" pitchFamily="34" charset="-122"/>
                <a:cs typeface="Source Sans Pro" pitchFamily="34" charset="-120"/>
              </a:rPr>
              <a:t>Learn about the importance of optimization in AI, explore different optimization techniques and algorithms, and discover how they are used in real-world applications</a:t>
            </a:r>
            <a:endParaRPr lang="en-US" sz="1859" dirty="0"/>
          </a:p>
        </p:txBody>
      </p:sp>
      <p:pic>
        <p:nvPicPr>
          <p:cNvPr id="6" name="Image 0" descr="preencoded.png"/>
          <p:cNvPicPr>
            <a:picLocks noChangeAspect="1"/>
          </p:cNvPicPr>
          <p:nvPr/>
        </p:nvPicPr>
        <p:blipFill>
          <a:blip r:embed="rId3"/>
          <a:stretch>
            <a:fillRect/>
          </a:stretch>
        </p:blipFill>
        <p:spPr>
          <a:xfrm>
            <a:off x="9144000" y="0"/>
            <a:ext cx="5486400" cy="81690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85230" y="1824926"/>
            <a:ext cx="7955280" cy="732287"/>
          </a:xfrm>
          <a:prstGeom prst="rect">
            <a:avLst/>
          </a:prstGeom>
          <a:noFill/>
          <a:ln/>
        </p:spPr>
        <p:txBody>
          <a:bodyPr wrap="none" rtlCol="0" anchor="t"/>
          <a:lstStyle/>
          <a:p>
            <a:pPr marL="0" indent="0">
              <a:lnSpc>
                <a:spcPts val="5809"/>
              </a:lnSpc>
              <a:buNone/>
            </a:pPr>
            <a:r>
              <a:rPr lang="en-US" sz="4647" dirty="0">
                <a:solidFill>
                  <a:srgbClr val="6EB9FC"/>
                </a:solidFill>
                <a:latin typeface="Lora" pitchFamily="34" charset="0"/>
                <a:ea typeface="Lora" pitchFamily="34" charset="-122"/>
                <a:cs typeface="Lora" pitchFamily="34" charset="-120"/>
              </a:rPr>
              <a:t>Introduction to Optimization</a:t>
            </a:r>
            <a:endParaRPr lang="en-US" sz="4647" dirty="0"/>
          </a:p>
        </p:txBody>
      </p:sp>
      <p:sp>
        <p:nvSpPr>
          <p:cNvPr id="5" name="Shape 3"/>
          <p:cNvSpPr/>
          <p:nvPr/>
        </p:nvSpPr>
        <p:spPr>
          <a:xfrm>
            <a:off x="885230" y="3025825"/>
            <a:ext cx="4129326" cy="3318219"/>
          </a:xfrm>
          <a:prstGeom prst="roundRect">
            <a:avLst>
              <a:gd name="adj" fmla="val 2134"/>
            </a:avLst>
          </a:prstGeom>
          <a:solidFill>
            <a:srgbClr val="2F3343"/>
          </a:solidFill>
          <a:ln/>
        </p:spPr>
      </p:sp>
      <p:sp>
        <p:nvSpPr>
          <p:cNvPr id="6" name="Text 4"/>
          <p:cNvSpPr/>
          <p:nvPr/>
        </p:nvSpPr>
        <p:spPr>
          <a:xfrm>
            <a:off x="1121212" y="3260071"/>
            <a:ext cx="3070860" cy="366143"/>
          </a:xfrm>
          <a:prstGeom prst="rect">
            <a:avLst/>
          </a:prstGeom>
          <a:noFill/>
          <a:ln/>
        </p:spPr>
        <p:txBody>
          <a:bodyPr wrap="none" rtlCol="0" anchor="t"/>
          <a:lstStyle/>
          <a:p>
            <a:pPr marL="0" indent="0">
              <a:lnSpc>
                <a:spcPts val="2905"/>
              </a:lnSpc>
              <a:buNone/>
            </a:pPr>
            <a:r>
              <a:rPr lang="en-US" sz="2324" dirty="0">
                <a:solidFill>
                  <a:srgbClr val="6EB9FC"/>
                </a:solidFill>
                <a:latin typeface="Lora" pitchFamily="34" charset="0"/>
                <a:ea typeface="Lora" pitchFamily="34" charset="-122"/>
                <a:cs typeface="Lora" pitchFamily="34" charset="-120"/>
              </a:rPr>
              <a:t>What is Optimization?</a:t>
            </a:r>
            <a:endParaRPr lang="en-US" sz="2324" dirty="0"/>
          </a:p>
        </p:txBody>
      </p:sp>
      <p:sp>
        <p:nvSpPr>
          <p:cNvPr id="7" name="Text 5"/>
          <p:cNvSpPr/>
          <p:nvPr/>
        </p:nvSpPr>
        <p:spPr>
          <a:xfrm>
            <a:off x="1121212" y="3860461"/>
            <a:ext cx="3657362" cy="2249336"/>
          </a:xfrm>
          <a:prstGeom prst="rect">
            <a:avLst/>
          </a:prstGeom>
          <a:noFill/>
          <a:ln/>
        </p:spPr>
        <p:txBody>
          <a:bodyPr wrap="square" rtlCol="0" anchor="t"/>
          <a:lstStyle/>
          <a:p>
            <a:pPr marL="0" indent="0">
              <a:lnSpc>
                <a:spcPts val="2974"/>
              </a:lnSpc>
              <a:buNone/>
            </a:pPr>
            <a:r>
              <a:rPr lang="en-US" sz="1859" dirty="0">
                <a:solidFill>
                  <a:srgbClr val="D6E5EF"/>
                </a:solidFill>
                <a:latin typeface="Source Sans Pro" pitchFamily="34" charset="0"/>
                <a:ea typeface="Source Sans Pro" pitchFamily="34" charset="-122"/>
                <a:cs typeface="Source Sans Pro" pitchFamily="34" charset="-120"/>
              </a:rPr>
              <a:t>Optimization is the process of finding the best solution among a set of possible solutions, subject to a set of constraints. It is used in many fields to maximize or minimize a specific function.</a:t>
            </a:r>
            <a:endParaRPr lang="en-US" sz="1859" dirty="0"/>
          </a:p>
        </p:txBody>
      </p:sp>
      <p:sp>
        <p:nvSpPr>
          <p:cNvPr id="8" name="Shape 6"/>
          <p:cNvSpPr/>
          <p:nvPr/>
        </p:nvSpPr>
        <p:spPr>
          <a:xfrm>
            <a:off x="5250537" y="3025825"/>
            <a:ext cx="4129326" cy="3318219"/>
          </a:xfrm>
          <a:prstGeom prst="roundRect">
            <a:avLst>
              <a:gd name="adj" fmla="val 2134"/>
            </a:avLst>
          </a:prstGeom>
          <a:solidFill>
            <a:srgbClr val="2F3343"/>
          </a:solidFill>
          <a:ln/>
        </p:spPr>
      </p:sp>
      <p:sp>
        <p:nvSpPr>
          <p:cNvPr id="9" name="Text 7"/>
          <p:cNvSpPr/>
          <p:nvPr/>
        </p:nvSpPr>
        <p:spPr>
          <a:xfrm>
            <a:off x="5486519" y="3260071"/>
            <a:ext cx="2522220" cy="366143"/>
          </a:xfrm>
          <a:prstGeom prst="rect">
            <a:avLst/>
          </a:prstGeom>
          <a:noFill/>
          <a:ln/>
        </p:spPr>
        <p:txBody>
          <a:bodyPr wrap="none" rtlCol="0" anchor="t"/>
          <a:lstStyle/>
          <a:p>
            <a:pPr marL="0" indent="0">
              <a:lnSpc>
                <a:spcPts val="2905"/>
              </a:lnSpc>
              <a:buNone/>
            </a:pPr>
            <a:r>
              <a:rPr lang="en-US" sz="2324" dirty="0">
                <a:solidFill>
                  <a:srgbClr val="6EB9FC"/>
                </a:solidFill>
                <a:latin typeface="Lora" pitchFamily="34" charset="0"/>
                <a:ea typeface="Lora" pitchFamily="34" charset="-122"/>
                <a:cs typeface="Lora" pitchFamily="34" charset="-120"/>
              </a:rPr>
              <a:t>Optimization in AI</a:t>
            </a:r>
            <a:endParaRPr lang="en-US" sz="2324" dirty="0"/>
          </a:p>
        </p:txBody>
      </p:sp>
      <p:sp>
        <p:nvSpPr>
          <p:cNvPr id="10" name="Text 8"/>
          <p:cNvSpPr/>
          <p:nvPr/>
        </p:nvSpPr>
        <p:spPr>
          <a:xfrm>
            <a:off x="5486519" y="3860461"/>
            <a:ext cx="3657362" cy="2249336"/>
          </a:xfrm>
          <a:prstGeom prst="rect">
            <a:avLst/>
          </a:prstGeom>
          <a:noFill/>
          <a:ln/>
        </p:spPr>
        <p:txBody>
          <a:bodyPr wrap="square" rtlCol="0" anchor="t"/>
          <a:lstStyle/>
          <a:p>
            <a:pPr marL="0" indent="0">
              <a:lnSpc>
                <a:spcPts val="2974"/>
              </a:lnSpc>
              <a:buNone/>
            </a:pPr>
            <a:r>
              <a:rPr lang="en-US" sz="1859" dirty="0">
                <a:solidFill>
                  <a:srgbClr val="D6E5EF"/>
                </a:solidFill>
                <a:latin typeface="Source Sans Pro" pitchFamily="34" charset="0"/>
                <a:ea typeface="Source Sans Pro" pitchFamily="34" charset="-122"/>
                <a:cs typeface="Source Sans Pro" pitchFamily="34" charset="-120"/>
              </a:rPr>
              <a:t>AI relies heavily on optimization techniques to improve accuracy and performance. By optimizing the models used in AI, we can achieve better results with less data and processing.</a:t>
            </a:r>
            <a:endParaRPr lang="en-US" sz="1859" dirty="0"/>
          </a:p>
        </p:txBody>
      </p:sp>
      <p:sp>
        <p:nvSpPr>
          <p:cNvPr id="11" name="Shape 9"/>
          <p:cNvSpPr/>
          <p:nvPr/>
        </p:nvSpPr>
        <p:spPr>
          <a:xfrm>
            <a:off x="9615845" y="3025825"/>
            <a:ext cx="4129326" cy="3318219"/>
          </a:xfrm>
          <a:prstGeom prst="roundRect">
            <a:avLst>
              <a:gd name="adj" fmla="val 2134"/>
            </a:avLst>
          </a:prstGeom>
          <a:solidFill>
            <a:srgbClr val="2F3343"/>
          </a:solidFill>
          <a:ln/>
        </p:spPr>
      </p:sp>
      <p:sp>
        <p:nvSpPr>
          <p:cNvPr id="12" name="Text 10"/>
          <p:cNvSpPr/>
          <p:nvPr/>
        </p:nvSpPr>
        <p:spPr>
          <a:xfrm>
            <a:off x="9851827" y="3260071"/>
            <a:ext cx="3657362" cy="732287"/>
          </a:xfrm>
          <a:prstGeom prst="rect">
            <a:avLst/>
          </a:prstGeom>
          <a:noFill/>
          <a:ln/>
        </p:spPr>
        <p:txBody>
          <a:bodyPr wrap="square" rtlCol="0" anchor="t"/>
          <a:lstStyle/>
          <a:p>
            <a:pPr marL="0" indent="0">
              <a:lnSpc>
                <a:spcPts val="2905"/>
              </a:lnSpc>
              <a:buNone/>
            </a:pPr>
            <a:r>
              <a:rPr lang="en-US" sz="2324" dirty="0">
                <a:solidFill>
                  <a:srgbClr val="6EB9FC"/>
                </a:solidFill>
                <a:latin typeface="Lora" pitchFamily="34" charset="0"/>
                <a:ea typeface="Lora" pitchFamily="34" charset="-122"/>
                <a:cs typeface="Lora" pitchFamily="34" charset="-120"/>
              </a:rPr>
              <a:t>Benefits of Optimization in AI</a:t>
            </a:r>
            <a:endParaRPr lang="en-US" sz="2324" dirty="0"/>
          </a:p>
        </p:txBody>
      </p:sp>
      <p:sp>
        <p:nvSpPr>
          <p:cNvPr id="13" name="Text 11"/>
          <p:cNvSpPr/>
          <p:nvPr/>
        </p:nvSpPr>
        <p:spPr>
          <a:xfrm>
            <a:off x="9851827" y="4226605"/>
            <a:ext cx="3657362" cy="1874446"/>
          </a:xfrm>
          <a:prstGeom prst="rect">
            <a:avLst/>
          </a:prstGeom>
          <a:noFill/>
          <a:ln/>
        </p:spPr>
        <p:txBody>
          <a:bodyPr wrap="square" rtlCol="0" anchor="t"/>
          <a:lstStyle/>
          <a:p>
            <a:pPr marL="0" indent="0">
              <a:lnSpc>
                <a:spcPts val="2974"/>
              </a:lnSpc>
              <a:buNone/>
            </a:pPr>
            <a:r>
              <a:rPr lang="en-US" sz="1859" dirty="0">
                <a:solidFill>
                  <a:srgbClr val="D6E5EF"/>
                </a:solidFill>
                <a:latin typeface="Source Sans Pro" pitchFamily="34" charset="0"/>
                <a:ea typeface="Source Sans Pro" pitchFamily="34" charset="-122"/>
                <a:cs typeface="Source Sans Pro" pitchFamily="34" charset="-120"/>
              </a:rPr>
              <a:t>Optimization can help reduce errors and bias in AI models, improve efficiency and reduce resource usage, and ultimately lead to more accurate and reliable predictions.</a:t>
            </a:r>
            <a:endParaRPr lang="en-US" sz="1859"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750451" y="863947"/>
            <a:ext cx="9113520" cy="620718"/>
          </a:xfrm>
          <a:prstGeom prst="rect">
            <a:avLst/>
          </a:prstGeom>
          <a:noFill/>
          <a:ln/>
        </p:spPr>
        <p:txBody>
          <a:bodyPr wrap="none" rtlCol="0" anchor="t"/>
          <a:lstStyle/>
          <a:p>
            <a:pPr marL="0" indent="0">
              <a:lnSpc>
                <a:spcPts val="4925"/>
              </a:lnSpc>
              <a:buNone/>
            </a:pPr>
            <a:r>
              <a:rPr lang="en-US" sz="3940" dirty="0">
                <a:solidFill>
                  <a:srgbClr val="6EB9FC"/>
                </a:solidFill>
                <a:latin typeface="Lora" pitchFamily="34" charset="0"/>
                <a:ea typeface="Lora" pitchFamily="34" charset="-122"/>
                <a:cs typeface="Lora" pitchFamily="34" charset="-120"/>
              </a:rPr>
              <a:t>Optimization Techniques for Beginners</a:t>
            </a:r>
            <a:endParaRPr lang="en-US" sz="3940" dirty="0"/>
          </a:p>
        </p:txBody>
      </p:sp>
      <p:sp>
        <p:nvSpPr>
          <p:cNvPr id="5" name="Shape 3"/>
          <p:cNvSpPr/>
          <p:nvPr/>
        </p:nvSpPr>
        <p:spPr>
          <a:xfrm>
            <a:off x="7307580" y="1881892"/>
            <a:ext cx="15240" cy="5423131"/>
          </a:xfrm>
          <a:prstGeom prst="rect">
            <a:avLst/>
          </a:prstGeom>
          <a:solidFill>
            <a:srgbClr val="6EB9FC"/>
          </a:solidFill>
          <a:ln/>
        </p:spPr>
      </p:sp>
      <p:sp>
        <p:nvSpPr>
          <p:cNvPr id="6" name="Shape 4"/>
          <p:cNvSpPr/>
          <p:nvPr/>
        </p:nvSpPr>
        <p:spPr>
          <a:xfrm>
            <a:off x="7540347" y="2253000"/>
            <a:ext cx="700445" cy="15128"/>
          </a:xfrm>
          <a:prstGeom prst="rect">
            <a:avLst/>
          </a:prstGeom>
          <a:solidFill>
            <a:srgbClr val="6EB9FC"/>
          </a:solidFill>
          <a:ln/>
        </p:spPr>
      </p:sp>
      <p:sp>
        <p:nvSpPr>
          <p:cNvPr id="7" name="Shape 5"/>
          <p:cNvSpPr/>
          <p:nvPr/>
        </p:nvSpPr>
        <p:spPr>
          <a:xfrm>
            <a:off x="7090053" y="2037072"/>
            <a:ext cx="450294" cy="446983"/>
          </a:xfrm>
          <a:prstGeom prst="roundRect">
            <a:avLst>
              <a:gd name="adj" fmla="val 13432"/>
            </a:avLst>
          </a:prstGeom>
          <a:solidFill>
            <a:srgbClr val="2F3343"/>
          </a:solidFill>
          <a:ln/>
        </p:spPr>
      </p:sp>
      <p:sp>
        <p:nvSpPr>
          <p:cNvPr id="8" name="Text 6"/>
          <p:cNvSpPr/>
          <p:nvPr/>
        </p:nvSpPr>
        <p:spPr>
          <a:xfrm>
            <a:off x="7261860" y="2074301"/>
            <a:ext cx="106680" cy="372407"/>
          </a:xfrm>
          <a:prstGeom prst="rect">
            <a:avLst/>
          </a:prstGeom>
          <a:noFill/>
          <a:ln/>
        </p:spPr>
        <p:txBody>
          <a:bodyPr wrap="none" rtlCol="0" anchor="t"/>
          <a:lstStyle/>
          <a:p>
            <a:pPr marL="0" indent="0" algn="ctr">
              <a:lnSpc>
                <a:spcPts val="2955"/>
              </a:lnSpc>
              <a:buNone/>
            </a:pPr>
            <a:r>
              <a:rPr lang="en-US" sz="2364" dirty="0">
                <a:solidFill>
                  <a:srgbClr val="6EB9FC"/>
                </a:solidFill>
                <a:latin typeface="Lora" pitchFamily="34" charset="0"/>
                <a:ea typeface="Lora" pitchFamily="34" charset="-122"/>
                <a:cs typeface="Lora" pitchFamily="34" charset="-120"/>
              </a:rPr>
              <a:t>1</a:t>
            </a:r>
            <a:endParaRPr lang="en-US" sz="2364" dirty="0"/>
          </a:p>
        </p:txBody>
      </p:sp>
      <p:sp>
        <p:nvSpPr>
          <p:cNvPr id="9" name="Text 7"/>
          <p:cNvSpPr/>
          <p:nvPr/>
        </p:nvSpPr>
        <p:spPr>
          <a:xfrm>
            <a:off x="8415933" y="2080446"/>
            <a:ext cx="2240280" cy="310359"/>
          </a:xfrm>
          <a:prstGeom prst="rect">
            <a:avLst/>
          </a:prstGeom>
          <a:noFill/>
          <a:ln/>
        </p:spPr>
        <p:txBody>
          <a:bodyPr wrap="none" rtlCol="0" anchor="t"/>
          <a:lstStyle/>
          <a:p>
            <a:pPr marL="0" indent="0" algn="l">
              <a:lnSpc>
                <a:spcPts val="2462"/>
              </a:lnSpc>
              <a:buNone/>
            </a:pPr>
            <a:r>
              <a:rPr lang="en-US" sz="1970" dirty="0">
                <a:solidFill>
                  <a:srgbClr val="6EB9FC"/>
                </a:solidFill>
                <a:latin typeface="Lora" pitchFamily="34" charset="0"/>
                <a:ea typeface="Lora" pitchFamily="34" charset="-122"/>
                <a:cs typeface="Lora" pitchFamily="34" charset="-120"/>
              </a:rPr>
              <a:t>Brute Force Search</a:t>
            </a:r>
            <a:endParaRPr lang="en-US" sz="1970" dirty="0"/>
          </a:p>
        </p:txBody>
      </p:sp>
      <p:sp>
        <p:nvSpPr>
          <p:cNvPr id="10" name="Text 8"/>
          <p:cNvSpPr/>
          <p:nvPr/>
        </p:nvSpPr>
        <p:spPr>
          <a:xfrm>
            <a:off x="8415933" y="2589360"/>
            <a:ext cx="5464016" cy="953415"/>
          </a:xfrm>
          <a:prstGeom prst="rect">
            <a:avLst/>
          </a:prstGeom>
          <a:noFill/>
          <a:ln/>
        </p:spPr>
        <p:txBody>
          <a:bodyPr wrap="square" rtlCol="0" anchor="t"/>
          <a:lstStyle/>
          <a:p>
            <a:pPr marL="0" indent="0" algn="l">
              <a:lnSpc>
                <a:spcPts val="2521"/>
              </a:lnSpc>
              <a:buNone/>
            </a:pPr>
            <a:r>
              <a:rPr lang="en-US" sz="1576" dirty="0">
                <a:solidFill>
                  <a:srgbClr val="D6E5EF"/>
                </a:solidFill>
                <a:latin typeface="Source Sans Pro" pitchFamily="34" charset="0"/>
                <a:ea typeface="Source Sans Pro" pitchFamily="34" charset="-122"/>
                <a:cs typeface="Source Sans Pro" pitchFamily="34" charset="-120"/>
              </a:rPr>
              <a:t>A simple approach that involves trying all possible solutions until the best solution is found. It's not efficient for large problems and can become computationally infeasible.</a:t>
            </a:r>
            <a:endParaRPr lang="en-US" sz="1576" dirty="0"/>
          </a:p>
        </p:txBody>
      </p:sp>
      <p:sp>
        <p:nvSpPr>
          <p:cNvPr id="11" name="Shape 9"/>
          <p:cNvSpPr/>
          <p:nvPr/>
        </p:nvSpPr>
        <p:spPr>
          <a:xfrm>
            <a:off x="6389608" y="3246125"/>
            <a:ext cx="700445" cy="15128"/>
          </a:xfrm>
          <a:prstGeom prst="rect">
            <a:avLst/>
          </a:prstGeom>
          <a:solidFill>
            <a:srgbClr val="6EB9FC"/>
          </a:solidFill>
          <a:ln/>
        </p:spPr>
      </p:sp>
      <p:sp>
        <p:nvSpPr>
          <p:cNvPr id="12" name="Shape 10"/>
          <p:cNvSpPr/>
          <p:nvPr/>
        </p:nvSpPr>
        <p:spPr>
          <a:xfrm>
            <a:off x="7090053" y="3030198"/>
            <a:ext cx="450294" cy="446983"/>
          </a:xfrm>
          <a:prstGeom prst="roundRect">
            <a:avLst>
              <a:gd name="adj" fmla="val 13432"/>
            </a:avLst>
          </a:prstGeom>
          <a:solidFill>
            <a:srgbClr val="2F3343"/>
          </a:solidFill>
          <a:ln/>
        </p:spPr>
      </p:sp>
      <p:sp>
        <p:nvSpPr>
          <p:cNvPr id="13" name="Text 11"/>
          <p:cNvSpPr/>
          <p:nvPr/>
        </p:nvSpPr>
        <p:spPr>
          <a:xfrm>
            <a:off x="7235190" y="3067426"/>
            <a:ext cx="160020" cy="372407"/>
          </a:xfrm>
          <a:prstGeom prst="rect">
            <a:avLst/>
          </a:prstGeom>
          <a:noFill/>
          <a:ln/>
        </p:spPr>
        <p:txBody>
          <a:bodyPr wrap="none" rtlCol="0" anchor="t"/>
          <a:lstStyle/>
          <a:p>
            <a:pPr marL="0" indent="0" algn="ctr">
              <a:lnSpc>
                <a:spcPts val="2955"/>
              </a:lnSpc>
              <a:buNone/>
            </a:pPr>
            <a:r>
              <a:rPr lang="en-US" sz="2364" dirty="0">
                <a:solidFill>
                  <a:srgbClr val="6EB9FC"/>
                </a:solidFill>
                <a:latin typeface="Lora" pitchFamily="34" charset="0"/>
                <a:ea typeface="Lora" pitchFamily="34" charset="-122"/>
                <a:cs typeface="Lora" pitchFamily="34" charset="-120"/>
              </a:rPr>
              <a:t>2</a:t>
            </a:r>
            <a:endParaRPr lang="en-US" sz="2364" dirty="0"/>
          </a:p>
        </p:txBody>
      </p:sp>
      <p:sp>
        <p:nvSpPr>
          <p:cNvPr id="14" name="Text 12"/>
          <p:cNvSpPr/>
          <p:nvPr/>
        </p:nvSpPr>
        <p:spPr>
          <a:xfrm>
            <a:off x="4213146" y="3073572"/>
            <a:ext cx="2001322" cy="310359"/>
          </a:xfrm>
          <a:prstGeom prst="rect">
            <a:avLst/>
          </a:prstGeom>
          <a:noFill/>
          <a:ln/>
        </p:spPr>
        <p:txBody>
          <a:bodyPr wrap="none" rtlCol="0" anchor="t"/>
          <a:lstStyle/>
          <a:p>
            <a:pPr marL="0" indent="0" algn="r">
              <a:lnSpc>
                <a:spcPts val="2462"/>
              </a:lnSpc>
              <a:buNone/>
            </a:pPr>
            <a:r>
              <a:rPr lang="en-US" sz="1970" dirty="0">
                <a:solidFill>
                  <a:srgbClr val="6EB9FC"/>
                </a:solidFill>
                <a:latin typeface="Lora" pitchFamily="34" charset="0"/>
                <a:ea typeface="Lora" pitchFamily="34" charset="-122"/>
                <a:cs typeface="Lora" pitchFamily="34" charset="-120"/>
              </a:rPr>
              <a:t>Grid Search</a:t>
            </a:r>
            <a:endParaRPr lang="en-US" sz="1970" dirty="0"/>
          </a:p>
        </p:txBody>
      </p:sp>
      <p:sp>
        <p:nvSpPr>
          <p:cNvPr id="15" name="Text 13"/>
          <p:cNvSpPr/>
          <p:nvPr/>
        </p:nvSpPr>
        <p:spPr>
          <a:xfrm>
            <a:off x="750451" y="3582486"/>
            <a:ext cx="5464016" cy="953415"/>
          </a:xfrm>
          <a:prstGeom prst="rect">
            <a:avLst/>
          </a:prstGeom>
          <a:noFill/>
          <a:ln/>
        </p:spPr>
        <p:txBody>
          <a:bodyPr wrap="square" rtlCol="0" anchor="t"/>
          <a:lstStyle/>
          <a:p>
            <a:pPr marL="0" indent="0" algn="r">
              <a:lnSpc>
                <a:spcPts val="2521"/>
              </a:lnSpc>
              <a:buNone/>
            </a:pPr>
            <a:r>
              <a:rPr lang="en-US" sz="1576" dirty="0">
                <a:solidFill>
                  <a:srgbClr val="D6E5EF"/>
                </a:solidFill>
                <a:latin typeface="Source Sans Pro" pitchFamily="34" charset="0"/>
                <a:ea typeface="Source Sans Pro" pitchFamily="34" charset="-122"/>
                <a:cs typeface="Source Sans Pro" pitchFamily="34" charset="-120"/>
              </a:rPr>
              <a:t>A more structured approach that involves evaluating all possible solutions on a grid of predefined values. It's useful when the search space is restricted and the problem is small.</a:t>
            </a:r>
            <a:endParaRPr lang="en-US" sz="1576" dirty="0"/>
          </a:p>
        </p:txBody>
      </p:sp>
      <p:sp>
        <p:nvSpPr>
          <p:cNvPr id="16" name="Shape 14"/>
          <p:cNvSpPr/>
          <p:nvPr/>
        </p:nvSpPr>
        <p:spPr>
          <a:xfrm>
            <a:off x="7540347" y="4310990"/>
            <a:ext cx="700445" cy="15128"/>
          </a:xfrm>
          <a:prstGeom prst="rect">
            <a:avLst/>
          </a:prstGeom>
          <a:solidFill>
            <a:srgbClr val="6EB9FC"/>
          </a:solidFill>
          <a:ln/>
        </p:spPr>
      </p:sp>
      <p:sp>
        <p:nvSpPr>
          <p:cNvPr id="17" name="Shape 15"/>
          <p:cNvSpPr/>
          <p:nvPr/>
        </p:nvSpPr>
        <p:spPr>
          <a:xfrm>
            <a:off x="7090053" y="4095063"/>
            <a:ext cx="450294" cy="446983"/>
          </a:xfrm>
          <a:prstGeom prst="roundRect">
            <a:avLst>
              <a:gd name="adj" fmla="val 13432"/>
            </a:avLst>
          </a:prstGeom>
          <a:solidFill>
            <a:srgbClr val="2F3343"/>
          </a:solidFill>
          <a:ln/>
        </p:spPr>
      </p:sp>
      <p:sp>
        <p:nvSpPr>
          <p:cNvPr id="18" name="Text 16"/>
          <p:cNvSpPr/>
          <p:nvPr/>
        </p:nvSpPr>
        <p:spPr>
          <a:xfrm>
            <a:off x="7231380" y="4132292"/>
            <a:ext cx="167640" cy="372407"/>
          </a:xfrm>
          <a:prstGeom prst="rect">
            <a:avLst/>
          </a:prstGeom>
          <a:noFill/>
          <a:ln/>
        </p:spPr>
        <p:txBody>
          <a:bodyPr wrap="none" rtlCol="0" anchor="t"/>
          <a:lstStyle/>
          <a:p>
            <a:pPr marL="0" indent="0" algn="ctr">
              <a:lnSpc>
                <a:spcPts val="2955"/>
              </a:lnSpc>
              <a:buNone/>
            </a:pPr>
            <a:r>
              <a:rPr lang="en-US" sz="2364" dirty="0">
                <a:solidFill>
                  <a:srgbClr val="6EB9FC"/>
                </a:solidFill>
                <a:latin typeface="Lora" pitchFamily="34" charset="0"/>
                <a:ea typeface="Lora" pitchFamily="34" charset="-122"/>
                <a:cs typeface="Lora" pitchFamily="34" charset="-120"/>
              </a:rPr>
              <a:t>3</a:t>
            </a:r>
            <a:endParaRPr lang="en-US" sz="2364" dirty="0"/>
          </a:p>
        </p:txBody>
      </p:sp>
      <p:sp>
        <p:nvSpPr>
          <p:cNvPr id="19" name="Text 17"/>
          <p:cNvSpPr/>
          <p:nvPr/>
        </p:nvSpPr>
        <p:spPr>
          <a:xfrm>
            <a:off x="8415933" y="4138437"/>
            <a:ext cx="2001322" cy="310359"/>
          </a:xfrm>
          <a:prstGeom prst="rect">
            <a:avLst/>
          </a:prstGeom>
          <a:noFill/>
          <a:ln/>
        </p:spPr>
        <p:txBody>
          <a:bodyPr wrap="none" rtlCol="0" anchor="t"/>
          <a:lstStyle/>
          <a:p>
            <a:pPr marL="0" indent="0" algn="l">
              <a:lnSpc>
                <a:spcPts val="2462"/>
              </a:lnSpc>
              <a:buNone/>
            </a:pPr>
            <a:r>
              <a:rPr lang="en-US" sz="1970" dirty="0">
                <a:solidFill>
                  <a:srgbClr val="6EB9FC"/>
                </a:solidFill>
                <a:latin typeface="Lora" pitchFamily="34" charset="0"/>
                <a:ea typeface="Lora" pitchFamily="34" charset="-122"/>
                <a:cs typeface="Lora" pitchFamily="34" charset="-120"/>
              </a:rPr>
              <a:t>Random Search</a:t>
            </a:r>
            <a:endParaRPr lang="en-US" sz="1970" dirty="0"/>
          </a:p>
        </p:txBody>
      </p:sp>
      <p:sp>
        <p:nvSpPr>
          <p:cNvPr id="20" name="Text 18"/>
          <p:cNvSpPr/>
          <p:nvPr/>
        </p:nvSpPr>
        <p:spPr>
          <a:xfrm>
            <a:off x="8415933" y="4647351"/>
            <a:ext cx="5464016" cy="1271220"/>
          </a:xfrm>
          <a:prstGeom prst="rect">
            <a:avLst/>
          </a:prstGeom>
          <a:noFill/>
          <a:ln/>
        </p:spPr>
        <p:txBody>
          <a:bodyPr wrap="square" rtlCol="0" anchor="t"/>
          <a:lstStyle/>
          <a:p>
            <a:pPr marL="0" indent="0" algn="l">
              <a:lnSpc>
                <a:spcPts val="2521"/>
              </a:lnSpc>
              <a:buNone/>
            </a:pPr>
            <a:r>
              <a:rPr lang="en-US" sz="1576" dirty="0">
                <a:solidFill>
                  <a:srgbClr val="D6E5EF"/>
                </a:solidFill>
                <a:latin typeface="Source Sans Pro" pitchFamily="34" charset="0"/>
                <a:ea typeface="Source Sans Pro" pitchFamily="34" charset="-122"/>
                <a:cs typeface="Source Sans Pro" pitchFamily="34" charset="-120"/>
              </a:rPr>
              <a:t>A heuristic approach that involves randomly sampling solutions from the search space. It's simple to implement and can be effective for some problems, but can be slow or ineffective for others.</a:t>
            </a:r>
            <a:endParaRPr lang="en-US" sz="1576" dirty="0"/>
          </a:p>
        </p:txBody>
      </p:sp>
      <p:sp>
        <p:nvSpPr>
          <p:cNvPr id="21" name="Shape 19"/>
          <p:cNvSpPr/>
          <p:nvPr/>
        </p:nvSpPr>
        <p:spPr>
          <a:xfrm>
            <a:off x="6389608" y="5498888"/>
            <a:ext cx="700445" cy="15128"/>
          </a:xfrm>
          <a:prstGeom prst="rect">
            <a:avLst/>
          </a:prstGeom>
          <a:solidFill>
            <a:srgbClr val="6EB9FC"/>
          </a:solidFill>
          <a:ln/>
        </p:spPr>
      </p:sp>
      <p:sp>
        <p:nvSpPr>
          <p:cNvPr id="22" name="Shape 20"/>
          <p:cNvSpPr/>
          <p:nvPr/>
        </p:nvSpPr>
        <p:spPr>
          <a:xfrm>
            <a:off x="7090053" y="5282961"/>
            <a:ext cx="450294" cy="446983"/>
          </a:xfrm>
          <a:prstGeom prst="roundRect">
            <a:avLst>
              <a:gd name="adj" fmla="val 13432"/>
            </a:avLst>
          </a:prstGeom>
          <a:solidFill>
            <a:srgbClr val="2F3343"/>
          </a:solidFill>
          <a:ln/>
        </p:spPr>
      </p:sp>
      <p:sp>
        <p:nvSpPr>
          <p:cNvPr id="23" name="Text 21"/>
          <p:cNvSpPr/>
          <p:nvPr/>
        </p:nvSpPr>
        <p:spPr>
          <a:xfrm>
            <a:off x="7235190" y="5320190"/>
            <a:ext cx="160020" cy="372407"/>
          </a:xfrm>
          <a:prstGeom prst="rect">
            <a:avLst/>
          </a:prstGeom>
          <a:noFill/>
          <a:ln/>
        </p:spPr>
        <p:txBody>
          <a:bodyPr wrap="none" rtlCol="0" anchor="t"/>
          <a:lstStyle/>
          <a:p>
            <a:pPr marL="0" indent="0" algn="ctr">
              <a:lnSpc>
                <a:spcPts val="2955"/>
              </a:lnSpc>
              <a:buNone/>
            </a:pPr>
            <a:r>
              <a:rPr lang="en-US" sz="2364" dirty="0">
                <a:solidFill>
                  <a:srgbClr val="6EB9FC"/>
                </a:solidFill>
                <a:latin typeface="Lora" pitchFamily="34" charset="0"/>
                <a:ea typeface="Lora" pitchFamily="34" charset="-122"/>
                <a:cs typeface="Lora" pitchFamily="34" charset="-120"/>
              </a:rPr>
              <a:t>4</a:t>
            </a:r>
            <a:endParaRPr lang="en-US" sz="2364" dirty="0"/>
          </a:p>
        </p:txBody>
      </p:sp>
      <p:sp>
        <p:nvSpPr>
          <p:cNvPr id="24" name="Text 22"/>
          <p:cNvSpPr/>
          <p:nvPr/>
        </p:nvSpPr>
        <p:spPr>
          <a:xfrm>
            <a:off x="4213146" y="5326335"/>
            <a:ext cx="2001322" cy="310359"/>
          </a:xfrm>
          <a:prstGeom prst="rect">
            <a:avLst/>
          </a:prstGeom>
          <a:noFill/>
          <a:ln/>
        </p:spPr>
        <p:txBody>
          <a:bodyPr wrap="none" rtlCol="0" anchor="t"/>
          <a:lstStyle/>
          <a:p>
            <a:pPr marL="0" indent="0" algn="r">
              <a:lnSpc>
                <a:spcPts val="2462"/>
              </a:lnSpc>
              <a:buNone/>
            </a:pPr>
            <a:r>
              <a:rPr lang="en-US" sz="1970" dirty="0">
                <a:solidFill>
                  <a:srgbClr val="6EB9FC"/>
                </a:solidFill>
                <a:latin typeface="Lora" pitchFamily="34" charset="0"/>
                <a:ea typeface="Lora" pitchFamily="34" charset="-122"/>
                <a:cs typeface="Lora" pitchFamily="34" charset="-120"/>
              </a:rPr>
              <a:t>Hill Climbing</a:t>
            </a:r>
            <a:endParaRPr lang="en-US" sz="1970" dirty="0"/>
          </a:p>
        </p:txBody>
      </p:sp>
      <p:sp>
        <p:nvSpPr>
          <p:cNvPr id="25" name="Text 23"/>
          <p:cNvSpPr/>
          <p:nvPr/>
        </p:nvSpPr>
        <p:spPr>
          <a:xfrm>
            <a:off x="750451" y="5835249"/>
            <a:ext cx="5464016" cy="1271220"/>
          </a:xfrm>
          <a:prstGeom prst="rect">
            <a:avLst/>
          </a:prstGeom>
          <a:noFill/>
          <a:ln/>
        </p:spPr>
        <p:txBody>
          <a:bodyPr wrap="square" rtlCol="0" anchor="t"/>
          <a:lstStyle/>
          <a:p>
            <a:pPr marL="0" indent="0" algn="r">
              <a:lnSpc>
                <a:spcPts val="2521"/>
              </a:lnSpc>
              <a:buNone/>
            </a:pPr>
            <a:r>
              <a:rPr lang="en-US" sz="1576" dirty="0">
                <a:solidFill>
                  <a:srgbClr val="D6E5EF"/>
                </a:solidFill>
                <a:latin typeface="Source Sans Pro" pitchFamily="34" charset="0"/>
                <a:ea typeface="Source Sans Pro" pitchFamily="34" charset="-122"/>
                <a:cs typeface="Source Sans Pro" pitchFamily="34" charset="-120"/>
              </a:rPr>
              <a:t>A local search approach that starts from a random solution and iteratively moves to its neighbors, selecting the best neighbor as the next solution. It can get stuck in local optima and may not find the global optimum.</a:t>
            </a:r>
            <a:endParaRPr lang="en-US" sz="1576"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85230" y="670239"/>
            <a:ext cx="10820400" cy="732287"/>
          </a:xfrm>
          <a:prstGeom prst="rect">
            <a:avLst/>
          </a:prstGeom>
          <a:noFill/>
          <a:ln/>
        </p:spPr>
        <p:txBody>
          <a:bodyPr wrap="none" rtlCol="0" anchor="t"/>
          <a:lstStyle/>
          <a:p>
            <a:pPr marL="0" indent="0">
              <a:lnSpc>
                <a:spcPts val="5809"/>
              </a:lnSpc>
              <a:buNone/>
            </a:pPr>
            <a:r>
              <a:rPr lang="en-US" sz="4647" dirty="0">
                <a:solidFill>
                  <a:srgbClr val="6EB9FC"/>
                </a:solidFill>
                <a:latin typeface="Lora" pitchFamily="34" charset="0"/>
                <a:ea typeface="Lora" pitchFamily="34" charset="-122"/>
                <a:cs typeface="Lora" pitchFamily="34" charset="-120"/>
              </a:rPr>
              <a:t>Common Optimization Algorithms in AI</a:t>
            </a:r>
            <a:endParaRPr lang="en-US" sz="4647" dirty="0"/>
          </a:p>
        </p:txBody>
      </p:sp>
      <p:pic>
        <p:nvPicPr>
          <p:cNvPr id="5" name="Image 0" descr="preencoded.png"/>
          <p:cNvPicPr>
            <a:picLocks noChangeAspect="1"/>
          </p:cNvPicPr>
          <p:nvPr/>
        </p:nvPicPr>
        <p:blipFill>
          <a:blip r:embed="rId3"/>
          <a:stretch>
            <a:fillRect/>
          </a:stretch>
        </p:blipFill>
        <p:spPr>
          <a:xfrm>
            <a:off x="885230" y="1871137"/>
            <a:ext cx="4050506" cy="2484883"/>
          </a:xfrm>
          <a:prstGeom prst="rect">
            <a:avLst/>
          </a:prstGeom>
        </p:spPr>
      </p:pic>
      <p:sp>
        <p:nvSpPr>
          <p:cNvPr id="6" name="Text 3"/>
          <p:cNvSpPr/>
          <p:nvPr/>
        </p:nvSpPr>
        <p:spPr>
          <a:xfrm>
            <a:off x="885230" y="4648887"/>
            <a:ext cx="3947160" cy="366143"/>
          </a:xfrm>
          <a:prstGeom prst="rect">
            <a:avLst/>
          </a:prstGeom>
          <a:noFill/>
          <a:ln/>
        </p:spPr>
        <p:txBody>
          <a:bodyPr wrap="none" rtlCol="0" anchor="t"/>
          <a:lstStyle/>
          <a:p>
            <a:pPr marL="0" indent="0" algn="l">
              <a:lnSpc>
                <a:spcPts val="2905"/>
              </a:lnSpc>
              <a:buNone/>
            </a:pPr>
            <a:r>
              <a:rPr lang="en-US" sz="2324" dirty="0">
                <a:solidFill>
                  <a:srgbClr val="6EB9FC"/>
                </a:solidFill>
                <a:latin typeface="Lora" pitchFamily="34" charset="0"/>
                <a:ea typeface="Lora" pitchFamily="34" charset="-122"/>
                <a:cs typeface="Lora" pitchFamily="34" charset="-120"/>
              </a:rPr>
              <a:t>Stochastic Gradient Descent</a:t>
            </a:r>
            <a:endParaRPr lang="en-US" sz="2324" dirty="0"/>
          </a:p>
        </p:txBody>
      </p:sp>
      <p:sp>
        <p:nvSpPr>
          <p:cNvPr id="7" name="Text 4"/>
          <p:cNvSpPr/>
          <p:nvPr/>
        </p:nvSpPr>
        <p:spPr>
          <a:xfrm>
            <a:off x="885230" y="5249277"/>
            <a:ext cx="4050506" cy="2249336"/>
          </a:xfrm>
          <a:prstGeom prst="rect">
            <a:avLst/>
          </a:prstGeom>
          <a:noFill/>
          <a:ln/>
        </p:spPr>
        <p:txBody>
          <a:bodyPr wrap="square" rtlCol="0" anchor="t"/>
          <a:lstStyle/>
          <a:p>
            <a:pPr marL="0" indent="0" algn="l">
              <a:lnSpc>
                <a:spcPts val="2974"/>
              </a:lnSpc>
              <a:buNone/>
            </a:pPr>
            <a:r>
              <a:rPr lang="en-US" sz="1859" dirty="0">
                <a:solidFill>
                  <a:srgbClr val="D6E5EF"/>
                </a:solidFill>
                <a:latin typeface="Source Sans Pro" pitchFamily="34" charset="0"/>
                <a:ea typeface="Source Sans Pro" pitchFamily="34" charset="-122"/>
                <a:cs typeface="Source Sans Pro" pitchFamily="34" charset="-120"/>
              </a:rPr>
              <a:t>A popular optimization algorithm used in machine learning that iteratively adjusts the model parameters by minimizing the cost function. It uses small random batches of data to speed up the computation.</a:t>
            </a:r>
            <a:endParaRPr lang="en-US" sz="1859" dirty="0"/>
          </a:p>
        </p:txBody>
      </p:sp>
      <p:pic>
        <p:nvPicPr>
          <p:cNvPr id="8" name="Image 1" descr="preencoded.png"/>
          <p:cNvPicPr>
            <a:picLocks noChangeAspect="1"/>
          </p:cNvPicPr>
          <p:nvPr/>
        </p:nvPicPr>
        <p:blipFill>
          <a:blip r:embed="rId4"/>
          <a:stretch>
            <a:fillRect/>
          </a:stretch>
        </p:blipFill>
        <p:spPr>
          <a:xfrm>
            <a:off x="5289828" y="1871137"/>
            <a:ext cx="4050625" cy="2485001"/>
          </a:xfrm>
          <a:prstGeom prst="rect">
            <a:avLst/>
          </a:prstGeom>
        </p:spPr>
      </p:pic>
      <p:sp>
        <p:nvSpPr>
          <p:cNvPr id="9" name="Text 5"/>
          <p:cNvSpPr/>
          <p:nvPr/>
        </p:nvSpPr>
        <p:spPr>
          <a:xfrm>
            <a:off x="5289828" y="4649005"/>
            <a:ext cx="2438400" cy="366143"/>
          </a:xfrm>
          <a:prstGeom prst="rect">
            <a:avLst/>
          </a:prstGeom>
          <a:noFill/>
          <a:ln/>
        </p:spPr>
        <p:txBody>
          <a:bodyPr wrap="none" rtlCol="0" anchor="t"/>
          <a:lstStyle/>
          <a:p>
            <a:pPr marL="0" indent="0" algn="l">
              <a:lnSpc>
                <a:spcPts val="2905"/>
              </a:lnSpc>
              <a:buNone/>
            </a:pPr>
            <a:r>
              <a:rPr lang="en-US" sz="2324" dirty="0">
                <a:solidFill>
                  <a:srgbClr val="6EB9FC"/>
                </a:solidFill>
                <a:latin typeface="Lora" pitchFamily="34" charset="0"/>
                <a:ea typeface="Lora" pitchFamily="34" charset="-122"/>
                <a:cs typeface="Lora" pitchFamily="34" charset="-120"/>
              </a:rPr>
              <a:t>Newton's Method</a:t>
            </a:r>
            <a:endParaRPr lang="en-US" sz="2324" dirty="0"/>
          </a:p>
        </p:txBody>
      </p:sp>
      <p:sp>
        <p:nvSpPr>
          <p:cNvPr id="10" name="Text 6"/>
          <p:cNvSpPr/>
          <p:nvPr/>
        </p:nvSpPr>
        <p:spPr>
          <a:xfrm>
            <a:off x="5289828" y="5249396"/>
            <a:ext cx="4050625" cy="1874446"/>
          </a:xfrm>
          <a:prstGeom prst="rect">
            <a:avLst/>
          </a:prstGeom>
          <a:noFill/>
          <a:ln/>
        </p:spPr>
        <p:txBody>
          <a:bodyPr wrap="square" rtlCol="0" anchor="t"/>
          <a:lstStyle/>
          <a:p>
            <a:pPr marL="0" indent="0" algn="l">
              <a:lnSpc>
                <a:spcPts val="2974"/>
              </a:lnSpc>
              <a:buNone/>
            </a:pPr>
            <a:r>
              <a:rPr lang="en-US" sz="1859" dirty="0">
                <a:solidFill>
                  <a:srgbClr val="D6E5EF"/>
                </a:solidFill>
                <a:latin typeface="Source Sans Pro" pitchFamily="34" charset="0"/>
                <a:ea typeface="Source Sans Pro" pitchFamily="34" charset="-122"/>
                <a:cs typeface="Source Sans Pro" pitchFamily="34" charset="-120"/>
              </a:rPr>
              <a:t>An iterative optimization algorithm that uses the second derivative of the cost function to find the optimal solution. It can converge faster than other methods but is computationally expensive.</a:t>
            </a:r>
            <a:endParaRPr lang="en-US" sz="1859" dirty="0"/>
          </a:p>
        </p:txBody>
      </p:sp>
      <p:pic>
        <p:nvPicPr>
          <p:cNvPr id="11" name="Image 2" descr="preencoded.png"/>
          <p:cNvPicPr>
            <a:picLocks noChangeAspect="1"/>
          </p:cNvPicPr>
          <p:nvPr/>
        </p:nvPicPr>
        <p:blipFill>
          <a:blip r:embed="rId5"/>
          <a:stretch>
            <a:fillRect/>
          </a:stretch>
        </p:blipFill>
        <p:spPr>
          <a:xfrm>
            <a:off x="9694545" y="1871137"/>
            <a:ext cx="4050625" cy="2485001"/>
          </a:xfrm>
          <a:prstGeom prst="rect">
            <a:avLst/>
          </a:prstGeom>
        </p:spPr>
      </p:pic>
      <p:sp>
        <p:nvSpPr>
          <p:cNvPr id="12" name="Text 7"/>
          <p:cNvSpPr/>
          <p:nvPr/>
        </p:nvSpPr>
        <p:spPr>
          <a:xfrm>
            <a:off x="9694545" y="4649005"/>
            <a:ext cx="2537460" cy="366143"/>
          </a:xfrm>
          <a:prstGeom prst="rect">
            <a:avLst/>
          </a:prstGeom>
          <a:noFill/>
          <a:ln/>
        </p:spPr>
        <p:txBody>
          <a:bodyPr wrap="none" rtlCol="0" anchor="t"/>
          <a:lstStyle/>
          <a:p>
            <a:pPr marL="0" indent="0" algn="l">
              <a:lnSpc>
                <a:spcPts val="2905"/>
              </a:lnSpc>
              <a:buNone/>
            </a:pPr>
            <a:r>
              <a:rPr lang="en-US" sz="2324" dirty="0">
                <a:solidFill>
                  <a:srgbClr val="6EB9FC"/>
                </a:solidFill>
                <a:latin typeface="Lora" pitchFamily="34" charset="0"/>
                <a:ea typeface="Lora" pitchFamily="34" charset="-122"/>
                <a:cs typeface="Lora" pitchFamily="34" charset="-120"/>
              </a:rPr>
              <a:t>Genetic Algorithm</a:t>
            </a:r>
            <a:endParaRPr lang="en-US" sz="2324" dirty="0"/>
          </a:p>
        </p:txBody>
      </p:sp>
      <p:sp>
        <p:nvSpPr>
          <p:cNvPr id="13" name="Text 8"/>
          <p:cNvSpPr/>
          <p:nvPr/>
        </p:nvSpPr>
        <p:spPr>
          <a:xfrm>
            <a:off x="9694545" y="5249396"/>
            <a:ext cx="4050625" cy="2249336"/>
          </a:xfrm>
          <a:prstGeom prst="rect">
            <a:avLst/>
          </a:prstGeom>
          <a:noFill/>
          <a:ln/>
        </p:spPr>
        <p:txBody>
          <a:bodyPr wrap="square" rtlCol="0" anchor="t"/>
          <a:lstStyle/>
          <a:p>
            <a:pPr marL="0" indent="0" algn="l">
              <a:lnSpc>
                <a:spcPts val="2974"/>
              </a:lnSpc>
              <a:buNone/>
            </a:pPr>
            <a:r>
              <a:rPr lang="en-US" sz="1859" dirty="0">
                <a:solidFill>
                  <a:srgbClr val="D6E5EF"/>
                </a:solidFill>
                <a:latin typeface="Source Sans Pro" pitchFamily="34" charset="0"/>
                <a:ea typeface="Source Sans Pro" pitchFamily="34" charset="-122"/>
                <a:cs typeface="Source Sans Pro" pitchFamily="34" charset="-120"/>
              </a:rPr>
              <a:t>An evolutionary optimization algorithm that simulates the biological process of natural selection. It generates a population of solutions, evaluates their fitness, and selects the best solutions to evolve and reproduce.</a:t>
            </a:r>
            <a:endParaRPr lang="en-US" sz="1859"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6213991" y="990762"/>
            <a:ext cx="7688818" cy="1203617"/>
          </a:xfrm>
          <a:prstGeom prst="rect">
            <a:avLst/>
          </a:prstGeom>
          <a:noFill/>
          <a:ln/>
        </p:spPr>
        <p:txBody>
          <a:bodyPr wrap="square" rtlCol="0" anchor="t"/>
          <a:lstStyle/>
          <a:p>
            <a:pPr marL="0" indent="0">
              <a:lnSpc>
                <a:spcPts val="4775"/>
              </a:lnSpc>
              <a:buNone/>
            </a:pPr>
            <a:r>
              <a:rPr lang="en-US" sz="3820" dirty="0">
                <a:solidFill>
                  <a:srgbClr val="6EB9FC"/>
                </a:solidFill>
                <a:latin typeface="Lora" pitchFamily="34" charset="0"/>
                <a:ea typeface="Lora" pitchFamily="34" charset="-122"/>
                <a:cs typeface="Lora" pitchFamily="34" charset="-120"/>
              </a:rPr>
              <a:t>Unconstrained Optimization Techniques</a:t>
            </a:r>
            <a:endParaRPr lang="en-US" sz="3820" dirty="0"/>
          </a:p>
        </p:txBody>
      </p:sp>
      <p:sp>
        <p:nvSpPr>
          <p:cNvPr id="5" name="Shape 3"/>
          <p:cNvSpPr/>
          <p:nvPr/>
        </p:nvSpPr>
        <p:spPr>
          <a:xfrm>
            <a:off x="6213991" y="2633680"/>
            <a:ext cx="436483" cy="433274"/>
          </a:xfrm>
          <a:prstGeom prst="roundRect">
            <a:avLst>
              <a:gd name="adj" fmla="val 13436"/>
            </a:avLst>
          </a:prstGeom>
          <a:solidFill>
            <a:srgbClr val="2F3343"/>
          </a:solidFill>
          <a:ln/>
        </p:spPr>
      </p:sp>
      <p:sp>
        <p:nvSpPr>
          <p:cNvPr id="6" name="Text 4"/>
          <p:cNvSpPr/>
          <p:nvPr/>
        </p:nvSpPr>
        <p:spPr>
          <a:xfrm>
            <a:off x="6378893" y="2669727"/>
            <a:ext cx="106680" cy="361180"/>
          </a:xfrm>
          <a:prstGeom prst="rect">
            <a:avLst/>
          </a:prstGeom>
          <a:noFill/>
          <a:ln/>
        </p:spPr>
        <p:txBody>
          <a:bodyPr wrap="none" rtlCol="0" anchor="t"/>
          <a:lstStyle/>
          <a:p>
            <a:pPr marL="0" indent="0" algn="ctr">
              <a:lnSpc>
                <a:spcPts val="2865"/>
              </a:lnSpc>
              <a:buNone/>
            </a:pPr>
            <a:r>
              <a:rPr lang="en-US" sz="2292" dirty="0">
                <a:solidFill>
                  <a:srgbClr val="6EB9FC"/>
                </a:solidFill>
                <a:latin typeface="Lora" pitchFamily="34" charset="0"/>
                <a:ea typeface="Lora" pitchFamily="34" charset="-122"/>
                <a:cs typeface="Lora" pitchFamily="34" charset="-120"/>
              </a:rPr>
              <a:t>1</a:t>
            </a:r>
            <a:endParaRPr lang="en-US" sz="2292" dirty="0"/>
          </a:p>
        </p:txBody>
      </p:sp>
      <p:sp>
        <p:nvSpPr>
          <p:cNvPr id="7" name="Text 5"/>
          <p:cNvSpPr/>
          <p:nvPr/>
        </p:nvSpPr>
        <p:spPr>
          <a:xfrm>
            <a:off x="6844427" y="2699865"/>
            <a:ext cx="1973580" cy="300904"/>
          </a:xfrm>
          <a:prstGeom prst="rect">
            <a:avLst/>
          </a:prstGeom>
          <a:noFill/>
          <a:ln/>
        </p:spPr>
        <p:txBody>
          <a:bodyPr wrap="none" rtlCol="0" anchor="t"/>
          <a:lstStyle/>
          <a:p>
            <a:pPr marL="0" indent="0">
              <a:lnSpc>
                <a:spcPts val="2387"/>
              </a:lnSpc>
              <a:buNone/>
            </a:pPr>
            <a:r>
              <a:rPr lang="en-US" sz="1910" dirty="0">
                <a:solidFill>
                  <a:srgbClr val="6EB9FC"/>
                </a:solidFill>
                <a:latin typeface="Lora" pitchFamily="34" charset="0"/>
                <a:ea typeface="Lora" pitchFamily="34" charset="-122"/>
                <a:cs typeface="Lora" pitchFamily="34" charset="-120"/>
              </a:rPr>
              <a:t>Gradient Descent</a:t>
            </a:r>
            <a:endParaRPr lang="en-US" sz="1910" dirty="0"/>
          </a:p>
        </p:txBody>
      </p:sp>
      <p:sp>
        <p:nvSpPr>
          <p:cNvPr id="8" name="Text 6"/>
          <p:cNvSpPr/>
          <p:nvPr/>
        </p:nvSpPr>
        <p:spPr>
          <a:xfrm>
            <a:off x="6844427" y="3193296"/>
            <a:ext cx="3117056" cy="2157623"/>
          </a:xfrm>
          <a:prstGeom prst="rect">
            <a:avLst/>
          </a:prstGeom>
          <a:noFill/>
          <a:ln/>
        </p:spPr>
        <p:txBody>
          <a:bodyPr wrap="square" rtlCol="0" anchor="t"/>
          <a:lstStyle/>
          <a:p>
            <a:pPr marL="0" indent="0">
              <a:lnSpc>
                <a:spcPts val="2445"/>
              </a:lnSpc>
              <a:buNone/>
            </a:pPr>
            <a:r>
              <a:rPr lang="en-US" sz="1528" dirty="0">
                <a:solidFill>
                  <a:srgbClr val="D6E5EF"/>
                </a:solidFill>
                <a:latin typeface="Source Sans Pro" pitchFamily="34" charset="0"/>
                <a:ea typeface="Source Sans Pro" pitchFamily="34" charset="-122"/>
                <a:cs typeface="Source Sans Pro" pitchFamily="34" charset="-120"/>
              </a:rPr>
              <a:t>A popular unconstrained optimization technique used to find the minimum of a function by iteratively moving in the direction of the negative gradient. It can converge faster for some problems but may get stuck in local optima.</a:t>
            </a:r>
            <a:endParaRPr lang="en-US" sz="1528" dirty="0"/>
          </a:p>
        </p:txBody>
      </p:sp>
      <p:sp>
        <p:nvSpPr>
          <p:cNvPr id="9" name="Shape 7"/>
          <p:cNvSpPr/>
          <p:nvPr/>
        </p:nvSpPr>
        <p:spPr>
          <a:xfrm>
            <a:off x="10155436" y="2633680"/>
            <a:ext cx="436483" cy="433274"/>
          </a:xfrm>
          <a:prstGeom prst="roundRect">
            <a:avLst>
              <a:gd name="adj" fmla="val 13436"/>
            </a:avLst>
          </a:prstGeom>
          <a:solidFill>
            <a:srgbClr val="2F3343"/>
          </a:solidFill>
          <a:ln/>
        </p:spPr>
      </p:sp>
      <p:sp>
        <p:nvSpPr>
          <p:cNvPr id="10" name="Text 8"/>
          <p:cNvSpPr/>
          <p:nvPr/>
        </p:nvSpPr>
        <p:spPr>
          <a:xfrm>
            <a:off x="10293668" y="2669727"/>
            <a:ext cx="160020" cy="361180"/>
          </a:xfrm>
          <a:prstGeom prst="rect">
            <a:avLst/>
          </a:prstGeom>
          <a:noFill/>
          <a:ln/>
        </p:spPr>
        <p:txBody>
          <a:bodyPr wrap="none" rtlCol="0" anchor="t"/>
          <a:lstStyle/>
          <a:p>
            <a:pPr marL="0" indent="0" algn="ctr">
              <a:lnSpc>
                <a:spcPts val="2865"/>
              </a:lnSpc>
              <a:buNone/>
            </a:pPr>
            <a:r>
              <a:rPr lang="en-US" sz="2292" dirty="0">
                <a:solidFill>
                  <a:srgbClr val="6EB9FC"/>
                </a:solidFill>
                <a:latin typeface="Lora" pitchFamily="34" charset="0"/>
                <a:ea typeface="Lora" pitchFamily="34" charset="-122"/>
                <a:cs typeface="Lora" pitchFamily="34" charset="-120"/>
              </a:rPr>
              <a:t>2</a:t>
            </a:r>
            <a:endParaRPr lang="en-US" sz="2292" dirty="0"/>
          </a:p>
        </p:txBody>
      </p:sp>
      <p:sp>
        <p:nvSpPr>
          <p:cNvPr id="11" name="Text 9"/>
          <p:cNvSpPr/>
          <p:nvPr/>
        </p:nvSpPr>
        <p:spPr>
          <a:xfrm>
            <a:off x="10785872" y="2699865"/>
            <a:ext cx="1996440" cy="300904"/>
          </a:xfrm>
          <a:prstGeom prst="rect">
            <a:avLst/>
          </a:prstGeom>
          <a:noFill/>
          <a:ln/>
        </p:spPr>
        <p:txBody>
          <a:bodyPr wrap="none" rtlCol="0" anchor="t"/>
          <a:lstStyle/>
          <a:p>
            <a:pPr marL="0" indent="0">
              <a:lnSpc>
                <a:spcPts val="2387"/>
              </a:lnSpc>
              <a:buNone/>
            </a:pPr>
            <a:r>
              <a:rPr lang="en-US" sz="1910" dirty="0">
                <a:solidFill>
                  <a:srgbClr val="6EB9FC"/>
                </a:solidFill>
                <a:latin typeface="Lora" pitchFamily="34" charset="0"/>
                <a:ea typeface="Lora" pitchFamily="34" charset="-122"/>
                <a:cs typeface="Lora" pitchFamily="34" charset="-120"/>
              </a:rPr>
              <a:t>Newton's Method</a:t>
            </a:r>
            <a:endParaRPr lang="en-US" sz="1910" dirty="0"/>
          </a:p>
        </p:txBody>
      </p:sp>
      <p:sp>
        <p:nvSpPr>
          <p:cNvPr id="12" name="Text 10"/>
          <p:cNvSpPr/>
          <p:nvPr/>
        </p:nvSpPr>
        <p:spPr>
          <a:xfrm>
            <a:off x="10785872" y="3193296"/>
            <a:ext cx="3117056" cy="2157623"/>
          </a:xfrm>
          <a:prstGeom prst="rect">
            <a:avLst/>
          </a:prstGeom>
          <a:noFill/>
          <a:ln/>
        </p:spPr>
        <p:txBody>
          <a:bodyPr wrap="square" rtlCol="0" anchor="t"/>
          <a:lstStyle/>
          <a:p>
            <a:pPr marL="0" indent="0">
              <a:lnSpc>
                <a:spcPts val="2445"/>
              </a:lnSpc>
              <a:buNone/>
            </a:pPr>
            <a:r>
              <a:rPr lang="en-US" sz="1528" dirty="0">
                <a:solidFill>
                  <a:srgbClr val="D6E5EF"/>
                </a:solidFill>
                <a:latin typeface="Source Sans Pro" pitchFamily="34" charset="0"/>
                <a:ea typeface="Source Sans Pro" pitchFamily="34" charset="-122"/>
                <a:cs typeface="Source Sans Pro" pitchFamily="34" charset="-120"/>
              </a:rPr>
              <a:t>Another unconstrained optimization technique that uses the second derivative of the function to find the minimum. It can converge faster than gradient descent but may be computationally expensive for large problems.</a:t>
            </a:r>
            <a:endParaRPr lang="en-US" sz="1528" dirty="0"/>
          </a:p>
        </p:txBody>
      </p:sp>
      <p:sp>
        <p:nvSpPr>
          <p:cNvPr id="13" name="Shape 11"/>
          <p:cNvSpPr/>
          <p:nvPr/>
        </p:nvSpPr>
        <p:spPr>
          <a:xfrm>
            <a:off x="6213991" y="5693897"/>
            <a:ext cx="436483" cy="433274"/>
          </a:xfrm>
          <a:prstGeom prst="roundRect">
            <a:avLst>
              <a:gd name="adj" fmla="val 13436"/>
            </a:avLst>
          </a:prstGeom>
          <a:solidFill>
            <a:srgbClr val="2F3343"/>
          </a:solidFill>
          <a:ln/>
        </p:spPr>
      </p:sp>
      <p:sp>
        <p:nvSpPr>
          <p:cNvPr id="14" name="Text 12"/>
          <p:cNvSpPr/>
          <p:nvPr/>
        </p:nvSpPr>
        <p:spPr>
          <a:xfrm>
            <a:off x="6352223" y="5729944"/>
            <a:ext cx="160020" cy="361180"/>
          </a:xfrm>
          <a:prstGeom prst="rect">
            <a:avLst/>
          </a:prstGeom>
          <a:noFill/>
          <a:ln/>
        </p:spPr>
        <p:txBody>
          <a:bodyPr wrap="none" rtlCol="0" anchor="t"/>
          <a:lstStyle/>
          <a:p>
            <a:pPr marL="0" indent="0" algn="ctr">
              <a:lnSpc>
                <a:spcPts val="2865"/>
              </a:lnSpc>
              <a:buNone/>
            </a:pPr>
            <a:r>
              <a:rPr lang="en-US" sz="2292" dirty="0">
                <a:solidFill>
                  <a:srgbClr val="6EB9FC"/>
                </a:solidFill>
                <a:latin typeface="Lora" pitchFamily="34" charset="0"/>
                <a:ea typeface="Lora" pitchFamily="34" charset="-122"/>
                <a:cs typeface="Lora" pitchFamily="34" charset="-120"/>
              </a:rPr>
              <a:t>3</a:t>
            </a:r>
            <a:endParaRPr lang="en-US" sz="2292" dirty="0"/>
          </a:p>
        </p:txBody>
      </p:sp>
      <p:sp>
        <p:nvSpPr>
          <p:cNvPr id="15" name="Text 13"/>
          <p:cNvSpPr/>
          <p:nvPr/>
        </p:nvSpPr>
        <p:spPr>
          <a:xfrm>
            <a:off x="6844427" y="5760082"/>
            <a:ext cx="2697480" cy="300904"/>
          </a:xfrm>
          <a:prstGeom prst="rect">
            <a:avLst/>
          </a:prstGeom>
          <a:noFill/>
          <a:ln/>
        </p:spPr>
        <p:txBody>
          <a:bodyPr wrap="none" rtlCol="0" anchor="t"/>
          <a:lstStyle/>
          <a:p>
            <a:pPr marL="0" indent="0">
              <a:lnSpc>
                <a:spcPts val="2387"/>
              </a:lnSpc>
              <a:buNone/>
            </a:pPr>
            <a:r>
              <a:rPr lang="en-US" sz="1910" dirty="0">
                <a:solidFill>
                  <a:srgbClr val="6EB9FC"/>
                </a:solidFill>
                <a:latin typeface="Lora" pitchFamily="34" charset="0"/>
                <a:ea typeface="Lora" pitchFamily="34" charset="-122"/>
                <a:cs typeface="Lora" pitchFamily="34" charset="-120"/>
              </a:rPr>
              <a:t>Quasi-Newton Methods</a:t>
            </a:r>
            <a:endParaRPr lang="en-US" sz="1910" dirty="0"/>
          </a:p>
        </p:txBody>
      </p:sp>
      <p:sp>
        <p:nvSpPr>
          <p:cNvPr id="16" name="Text 14"/>
          <p:cNvSpPr/>
          <p:nvPr/>
        </p:nvSpPr>
        <p:spPr>
          <a:xfrm>
            <a:off x="6844427" y="6253513"/>
            <a:ext cx="7058382" cy="924695"/>
          </a:xfrm>
          <a:prstGeom prst="rect">
            <a:avLst/>
          </a:prstGeom>
          <a:noFill/>
          <a:ln/>
        </p:spPr>
        <p:txBody>
          <a:bodyPr wrap="square" rtlCol="0" anchor="t"/>
          <a:lstStyle/>
          <a:p>
            <a:pPr marL="0" indent="0">
              <a:lnSpc>
                <a:spcPts val="2445"/>
              </a:lnSpc>
              <a:buNone/>
            </a:pPr>
            <a:r>
              <a:rPr lang="en-US" sz="1528" dirty="0">
                <a:solidFill>
                  <a:srgbClr val="D6E5EF"/>
                </a:solidFill>
                <a:latin typeface="Source Sans Pro" pitchFamily="34" charset="0"/>
                <a:ea typeface="Source Sans Pro" pitchFamily="34" charset="-122"/>
                <a:cs typeface="Source Sans Pro" pitchFamily="34" charset="-120"/>
              </a:rPr>
              <a:t>A family of methods that approximate the Hessian matrix (second derivatives) of the function to find the minimum. They can be more efficient than Newton's method for large problems but may not be as accurate.</a:t>
            </a:r>
            <a:endParaRPr lang="en-US" sz="1528" dirty="0"/>
          </a:p>
        </p:txBody>
      </p:sp>
      <p:pic>
        <p:nvPicPr>
          <p:cNvPr id="17" name="Image 0" descr="preencoded.png"/>
          <p:cNvPicPr>
            <a:picLocks noChangeAspect="1"/>
          </p:cNvPicPr>
          <p:nvPr/>
        </p:nvPicPr>
        <p:blipFill>
          <a:blip r:embed="rId3"/>
          <a:stretch>
            <a:fillRect/>
          </a:stretch>
        </p:blipFill>
        <p:spPr>
          <a:xfrm>
            <a:off x="0" y="0"/>
            <a:ext cx="5486400" cy="81690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85230" y="1867355"/>
            <a:ext cx="12859941" cy="1464574"/>
          </a:xfrm>
          <a:prstGeom prst="rect">
            <a:avLst/>
          </a:prstGeom>
          <a:noFill/>
          <a:ln/>
        </p:spPr>
        <p:txBody>
          <a:bodyPr wrap="square" rtlCol="0" anchor="t"/>
          <a:lstStyle/>
          <a:p>
            <a:pPr marL="0" indent="0">
              <a:lnSpc>
                <a:spcPts val="5809"/>
              </a:lnSpc>
              <a:buNone/>
            </a:pPr>
            <a:r>
              <a:rPr lang="en-US" sz="4647" dirty="0">
                <a:solidFill>
                  <a:srgbClr val="6EB9FC"/>
                </a:solidFill>
                <a:latin typeface="Lora" pitchFamily="34" charset="0"/>
                <a:ea typeface="Lora" pitchFamily="34" charset="-122"/>
                <a:cs typeface="Lora" pitchFamily="34" charset="-120"/>
              </a:rPr>
              <a:t>Constrained Optimization and Linear Programming</a:t>
            </a:r>
            <a:endParaRPr lang="en-US" sz="4647" dirty="0"/>
          </a:p>
        </p:txBody>
      </p:sp>
      <p:sp>
        <p:nvSpPr>
          <p:cNvPr id="5" name="Text 3"/>
          <p:cNvSpPr/>
          <p:nvPr/>
        </p:nvSpPr>
        <p:spPr>
          <a:xfrm>
            <a:off x="885230" y="3917664"/>
            <a:ext cx="4282440" cy="439301"/>
          </a:xfrm>
          <a:prstGeom prst="rect">
            <a:avLst/>
          </a:prstGeom>
          <a:noFill/>
          <a:ln/>
        </p:spPr>
        <p:txBody>
          <a:bodyPr wrap="none" rtlCol="0" anchor="t"/>
          <a:lstStyle/>
          <a:p>
            <a:pPr marL="0" indent="0">
              <a:lnSpc>
                <a:spcPts val="3486"/>
              </a:lnSpc>
              <a:buNone/>
            </a:pPr>
            <a:r>
              <a:rPr lang="en-US" sz="2788" dirty="0">
                <a:solidFill>
                  <a:srgbClr val="6EB9FC"/>
                </a:solidFill>
                <a:latin typeface="Lora" pitchFamily="34" charset="0"/>
                <a:ea typeface="Lora" pitchFamily="34" charset="-122"/>
                <a:cs typeface="Lora" pitchFamily="34" charset="-120"/>
              </a:rPr>
              <a:t>Constrained Optimization</a:t>
            </a:r>
            <a:endParaRPr lang="en-US" sz="2788" dirty="0"/>
          </a:p>
        </p:txBody>
      </p:sp>
      <p:sp>
        <p:nvSpPr>
          <p:cNvPr id="6" name="Text 4"/>
          <p:cNvSpPr/>
          <p:nvPr/>
        </p:nvSpPr>
        <p:spPr>
          <a:xfrm>
            <a:off x="885230" y="4591212"/>
            <a:ext cx="6141958" cy="1499557"/>
          </a:xfrm>
          <a:prstGeom prst="rect">
            <a:avLst/>
          </a:prstGeom>
          <a:noFill/>
          <a:ln/>
        </p:spPr>
        <p:txBody>
          <a:bodyPr wrap="square" rtlCol="0" anchor="t"/>
          <a:lstStyle/>
          <a:p>
            <a:pPr marL="0" indent="0">
              <a:lnSpc>
                <a:spcPts val="2974"/>
              </a:lnSpc>
              <a:buNone/>
            </a:pPr>
            <a:r>
              <a:rPr lang="en-US" sz="1859" dirty="0">
                <a:solidFill>
                  <a:srgbClr val="D6E5EF"/>
                </a:solidFill>
                <a:latin typeface="Source Sans Pro" pitchFamily="34" charset="0"/>
                <a:ea typeface="Source Sans Pro" pitchFamily="34" charset="-122"/>
                <a:cs typeface="Source Sans Pro" pitchFamily="34" charset="-120"/>
              </a:rPr>
              <a:t>In some cases, the optimization problem requires finding the minimum subject to a set of constraints. This can be done using techniques such as Lagrange multipliers or barrier functions.</a:t>
            </a:r>
            <a:endParaRPr lang="en-US" sz="1859" dirty="0"/>
          </a:p>
        </p:txBody>
      </p:sp>
      <p:sp>
        <p:nvSpPr>
          <p:cNvPr id="7" name="Text 5"/>
          <p:cNvSpPr/>
          <p:nvPr/>
        </p:nvSpPr>
        <p:spPr>
          <a:xfrm>
            <a:off x="7610832" y="3917664"/>
            <a:ext cx="3390900" cy="439301"/>
          </a:xfrm>
          <a:prstGeom prst="rect">
            <a:avLst/>
          </a:prstGeom>
          <a:noFill/>
          <a:ln/>
        </p:spPr>
        <p:txBody>
          <a:bodyPr wrap="none" rtlCol="0" anchor="t"/>
          <a:lstStyle/>
          <a:p>
            <a:pPr marL="0" indent="0">
              <a:lnSpc>
                <a:spcPts val="3486"/>
              </a:lnSpc>
              <a:buNone/>
            </a:pPr>
            <a:r>
              <a:rPr lang="en-US" sz="2788" dirty="0">
                <a:solidFill>
                  <a:srgbClr val="6EB9FC"/>
                </a:solidFill>
                <a:latin typeface="Lora" pitchFamily="34" charset="0"/>
                <a:ea typeface="Lora" pitchFamily="34" charset="-122"/>
                <a:cs typeface="Lora" pitchFamily="34" charset="-120"/>
              </a:rPr>
              <a:t>Linear Programming</a:t>
            </a:r>
            <a:endParaRPr lang="en-US" sz="2788" dirty="0"/>
          </a:p>
        </p:txBody>
      </p:sp>
      <p:sp>
        <p:nvSpPr>
          <p:cNvPr id="8" name="Text 6"/>
          <p:cNvSpPr/>
          <p:nvPr/>
        </p:nvSpPr>
        <p:spPr>
          <a:xfrm>
            <a:off x="7610832" y="4591212"/>
            <a:ext cx="6141958" cy="1499557"/>
          </a:xfrm>
          <a:prstGeom prst="rect">
            <a:avLst/>
          </a:prstGeom>
          <a:noFill/>
          <a:ln/>
        </p:spPr>
        <p:txBody>
          <a:bodyPr wrap="square" rtlCol="0" anchor="t"/>
          <a:lstStyle/>
          <a:p>
            <a:pPr marL="0" indent="0">
              <a:lnSpc>
                <a:spcPts val="2974"/>
              </a:lnSpc>
              <a:buNone/>
            </a:pPr>
            <a:r>
              <a:rPr lang="en-US" sz="1859" dirty="0">
                <a:solidFill>
                  <a:srgbClr val="D6E5EF"/>
                </a:solidFill>
                <a:latin typeface="Source Sans Pro" pitchFamily="34" charset="0"/>
                <a:ea typeface="Source Sans Pro" pitchFamily="34" charset="-122"/>
                <a:cs typeface="Source Sans Pro" pitchFamily="34" charset="-120"/>
              </a:rPr>
              <a:t>A special case of constrained optimization where the objective function and constraints are linear. It's widely used in optimization problems such as resource allocation and production planning.</a:t>
            </a:r>
            <a:endParaRPr lang="en-US" sz="1859"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85230" y="1168752"/>
            <a:ext cx="6652260" cy="732287"/>
          </a:xfrm>
          <a:prstGeom prst="rect">
            <a:avLst/>
          </a:prstGeom>
          <a:noFill/>
          <a:ln/>
        </p:spPr>
        <p:txBody>
          <a:bodyPr wrap="none" rtlCol="0" anchor="t"/>
          <a:lstStyle/>
          <a:p>
            <a:pPr marL="0" indent="0">
              <a:lnSpc>
                <a:spcPts val="5809"/>
              </a:lnSpc>
              <a:buNone/>
            </a:pPr>
            <a:r>
              <a:rPr lang="en-US" sz="4647" dirty="0">
                <a:solidFill>
                  <a:srgbClr val="6EB9FC"/>
                </a:solidFill>
                <a:latin typeface="Lora" pitchFamily="34" charset="0"/>
                <a:ea typeface="Lora" pitchFamily="34" charset="-122"/>
                <a:cs typeface="Lora" pitchFamily="34" charset="-120"/>
              </a:rPr>
              <a:t>Evolutionary Algorithms</a:t>
            </a:r>
            <a:endParaRPr lang="en-US" sz="4647" dirty="0"/>
          </a:p>
        </p:txBody>
      </p:sp>
      <p:sp>
        <p:nvSpPr>
          <p:cNvPr id="5" name="Shape 3"/>
          <p:cNvSpPr/>
          <p:nvPr/>
        </p:nvSpPr>
        <p:spPr>
          <a:xfrm>
            <a:off x="885230" y="2721138"/>
            <a:ext cx="12859941" cy="15128"/>
          </a:xfrm>
          <a:prstGeom prst="rect">
            <a:avLst/>
          </a:prstGeom>
          <a:solidFill>
            <a:srgbClr val="6EB9FC"/>
          </a:solidFill>
          <a:ln/>
        </p:spPr>
      </p:sp>
      <p:sp>
        <p:nvSpPr>
          <p:cNvPr id="6" name="Shape 4"/>
          <p:cNvSpPr/>
          <p:nvPr/>
        </p:nvSpPr>
        <p:spPr>
          <a:xfrm>
            <a:off x="2942272" y="2721138"/>
            <a:ext cx="15240" cy="820218"/>
          </a:xfrm>
          <a:prstGeom prst="rect">
            <a:avLst/>
          </a:prstGeom>
          <a:solidFill>
            <a:srgbClr val="6EB9FC"/>
          </a:solidFill>
          <a:ln/>
        </p:spPr>
      </p:sp>
      <p:sp>
        <p:nvSpPr>
          <p:cNvPr id="7" name="Shape 5"/>
          <p:cNvSpPr/>
          <p:nvPr/>
        </p:nvSpPr>
        <p:spPr>
          <a:xfrm>
            <a:off x="2684383" y="2457581"/>
            <a:ext cx="531138" cy="527232"/>
          </a:xfrm>
          <a:prstGeom prst="roundRect">
            <a:avLst>
              <a:gd name="adj" fmla="val 13434"/>
            </a:avLst>
          </a:prstGeom>
          <a:solidFill>
            <a:srgbClr val="2F3343"/>
          </a:solidFill>
          <a:ln/>
        </p:spPr>
      </p:sp>
      <p:sp>
        <p:nvSpPr>
          <p:cNvPr id="8" name="Text 6"/>
          <p:cNvSpPr/>
          <p:nvPr/>
        </p:nvSpPr>
        <p:spPr>
          <a:xfrm>
            <a:off x="2885122" y="2501547"/>
            <a:ext cx="129540" cy="439301"/>
          </a:xfrm>
          <a:prstGeom prst="rect">
            <a:avLst/>
          </a:prstGeom>
          <a:noFill/>
          <a:ln/>
        </p:spPr>
        <p:txBody>
          <a:bodyPr wrap="none" rtlCol="0" anchor="t"/>
          <a:lstStyle/>
          <a:p>
            <a:pPr marL="0" indent="0" algn="ctr">
              <a:lnSpc>
                <a:spcPts val="3486"/>
              </a:lnSpc>
              <a:buNone/>
            </a:pPr>
            <a:r>
              <a:rPr lang="en-US" sz="2788" dirty="0">
                <a:solidFill>
                  <a:srgbClr val="6EB9FC"/>
                </a:solidFill>
                <a:latin typeface="Lora" pitchFamily="34" charset="0"/>
                <a:ea typeface="Lora" pitchFamily="34" charset="-122"/>
                <a:cs typeface="Lora" pitchFamily="34" charset="-120"/>
              </a:rPr>
              <a:t>1</a:t>
            </a:r>
            <a:endParaRPr lang="en-US" sz="2788" dirty="0"/>
          </a:p>
        </p:txBody>
      </p:sp>
      <p:sp>
        <p:nvSpPr>
          <p:cNvPr id="9" name="Text 7"/>
          <p:cNvSpPr/>
          <p:nvPr/>
        </p:nvSpPr>
        <p:spPr>
          <a:xfrm>
            <a:off x="1769507" y="3775603"/>
            <a:ext cx="2360771" cy="366143"/>
          </a:xfrm>
          <a:prstGeom prst="rect">
            <a:avLst/>
          </a:prstGeom>
          <a:noFill/>
          <a:ln/>
        </p:spPr>
        <p:txBody>
          <a:bodyPr wrap="none" rtlCol="0" anchor="t"/>
          <a:lstStyle/>
          <a:p>
            <a:pPr marL="0" indent="0" algn="ctr">
              <a:lnSpc>
                <a:spcPts val="2905"/>
              </a:lnSpc>
              <a:buNone/>
            </a:pPr>
            <a:r>
              <a:rPr lang="en-US" sz="2324" dirty="0">
                <a:solidFill>
                  <a:srgbClr val="6EB9FC"/>
                </a:solidFill>
                <a:latin typeface="Lora" pitchFamily="34" charset="0"/>
                <a:ea typeface="Lora" pitchFamily="34" charset="-122"/>
                <a:cs typeface="Lora" pitchFamily="34" charset="-120"/>
              </a:rPr>
              <a:t>Introduction</a:t>
            </a:r>
            <a:endParaRPr lang="en-US" sz="2324" dirty="0"/>
          </a:p>
        </p:txBody>
      </p:sp>
      <p:sp>
        <p:nvSpPr>
          <p:cNvPr id="10" name="Text 8"/>
          <p:cNvSpPr/>
          <p:nvPr/>
        </p:nvSpPr>
        <p:spPr>
          <a:xfrm>
            <a:off x="1121212" y="4375993"/>
            <a:ext cx="3657362" cy="2624225"/>
          </a:xfrm>
          <a:prstGeom prst="rect">
            <a:avLst/>
          </a:prstGeom>
          <a:noFill/>
          <a:ln/>
        </p:spPr>
        <p:txBody>
          <a:bodyPr wrap="square" rtlCol="0" anchor="t"/>
          <a:lstStyle/>
          <a:p>
            <a:pPr marL="0" indent="0" algn="ctr">
              <a:lnSpc>
                <a:spcPts val="2974"/>
              </a:lnSpc>
              <a:buNone/>
            </a:pPr>
            <a:r>
              <a:rPr lang="en-US" sz="1859" dirty="0">
                <a:solidFill>
                  <a:srgbClr val="D6E5EF"/>
                </a:solidFill>
                <a:latin typeface="Source Sans Pro" pitchFamily="34" charset="0"/>
                <a:ea typeface="Source Sans Pro" pitchFamily="34" charset="-122"/>
                <a:cs typeface="Source Sans Pro" pitchFamily="34" charset="-120"/>
              </a:rPr>
              <a:t>Evolutionary algorithms are a family of optimization techniques inspired by biological evolution. They work by generating a population of solutions, evaluating their fitness, and selecting the best solutions for reproduction.</a:t>
            </a:r>
            <a:endParaRPr lang="en-US" sz="1859" dirty="0"/>
          </a:p>
        </p:txBody>
      </p:sp>
      <p:sp>
        <p:nvSpPr>
          <p:cNvPr id="11" name="Shape 9"/>
          <p:cNvSpPr/>
          <p:nvPr/>
        </p:nvSpPr>
        <p:spPr>
          <a:xfrm>
            <a:off x="7307580" y="2721138"/>
            <a:ext cx="15240" cy="820218"/>
          </a:xfrm>
          <a:prstGeom prst="rect">
            <a:avLst/>
          </a:prstGeom>
          <a:solidFill>
            <a:srgbClr val="6EB9FC"/>
          </a:solidFill>
          <a:ln/>
        </p:spPr>
      </p:sp>
      <p:sp>
        <p:nvSpPr>
          <p:cNvPr id="12" name="Shape 10"/>
          <p:cNvSpPr/>
          <p:nvPr/>
        </p:nvSpPr>
        <p:spPr>
          <a:xfrm>
            <a:off x="7049691" y="2457581"/>
            <a:ext cx="531138" cy="527232"/>
          </a:xfrm>
          <a:prstGeom prst="roundRect">
            <a:avLst>
              <a:gd name="adj" fmla="val 13434"/>
            </a:avLst>
          </a:prstGeom>
          <a:solidFill>
            <a:srgbClr val="2F3343"/>
          </a:solidFill>
          <a:ln/>
        </p:spPr>
      </p:sp>
      <p:sp>
        <p:nvSpPr>
          <p:cNvPr id="13" name="Text 11"/>
          <p:cNvSpPr/>
          <p:nvPr/>
        </p:nvSpPr>
        <p:spPr>
          <a:xfrm>
            <a:off x="7219950" y="2501547"/>
            <a:ext cx="190500" cy="439301"/>
          </a:xfrm>
          <a:prstGeom prst="rect">
            <a:avLst/>
          </a:prstGeom>
          <a:noFill/>
          <a:ln/>
        </p:spPr>
        <p:txBody>
          <a:bodyPr wrap="none" rtlCol="0" anchor="t"/>
          <a:lstStyle/>
          <a:p>
            <a:pPr marL="0" indent="0" algn="ctr">
              <a:lnSpc>
                <a:spcPts val="3486"/>
              </a:lnSpc>
              <a:buNone/>
            </a:pPr>
            <a:r>
              <a:rPr lang="en-US" sz="2788" dirty="0">
                <a:solidFill>
                  <a:srgbClr val="6EB9FC"/>
                </a:solidFill>
                <a:latin typeface="Lora" pitchFamily="34" charset="0"/>
                <a:ea typeface="Lora" pitchFamily="34" charset="-122"/>
                <a:cs typeface="Lora" pitchFamily="34" charset="-120"/>
              </a:rPr>
              <a:t>2</a:t>
            </a:r>
            <a:endParaRPr lang="en-US" sz="2788" dirty="0"/>
          </a:p>
        </p:txBody>
      </p:sp>
      <p:sp>
        <p:nvSpPr>
          <p:cNvPr id="14" name="Text 12"/>
          <p:cNvSpPr/>
          <p:nvPr/>
        </p:nvSpPr>
        <p:spPr>
          <a:xfrm>
            <a:off x="5486519" y="3775603"/>
            <a:ext cx="3657362" cy="732287"/>
          </a:xfrm>
          <a:prstGeom prst="rect">
            <a:avLst/>
          </a:prstGeom>
          <a:noFill/>
          <a:ln/>
        </p:spPr>
        <p:txBody>
          <a:bodyPr wrap="square" rtlCol="0" anchor="t"/>
          <a:lstStyle/>
          <a:p>
            <a:pPr marL="0" indent="0" algn="ctr">
              <a:lnSpc>
                <a:spcPts val="2905"/>
              </a:lnSpc>
              <a:buNone/>
            </a:pPr>
            <a:r>
              <a:rPr lang="en-US" sz="2324" dirty="0">
                <a:solidFill>
                  <a:srgbClr val="6EB9FC"/>
                </a:solidFill>
                <a:latin typeface="Lora" pitchFamily="34" charset="0"/>
                <a:ea typeface="Lora" pitchFamily="34" charset="-122"/>
                <a:cs typeface="Lora" pitchFamily="34" charset="-120"/>
              </a:rPr>
              <a:t>Types of Evolutionary Algorithms</a:t>
            </a:r>
            <a:endParaRPr lang="en-US" sz="2324" dirty="0"/>
          </a:p>
        </p:txBody>
      </p:sp>
      <p:sp>
        <p:nvSpPr>
          <p:cNvPr id="15" name="Text 13"/>
          <p:cNvSpPr/>
          <p:nvPr/>
        </p:nvSpPr>
        <p:spPr>
          <a:xfrm>
            <a:off x="5864185" y="4771447"/>
            <a:ext cx="3279696" cy="374889"/>
          </a:xfrm>
          <a:prstGeom prst="rect">
            <a:avLst/>
          </a:prstGeom>
          <a:noFill/>
          <a:ln/>
        </p:spPr>
        <p:txBody>
          <a:bodyPr wrap="none" rtlCol="0" anchor="t"/>
          <a:lstStyle/>
          <a:p>
            <a:pPr marL="342900" indent="-342900" algn="l">
              <a:lnSpc>
                <a:spcPts val="2974"/>
              </a:lnSpc>
              <a:buSzPct val="100000"/>
              <a:buChar char="•"/>
            </a:pPr>
            <a:r>
              <a:rPr lang="en-US" sz="1859" dirty="0">
                <a:solidFill>
                  <a:srgbClr val="D6E5EF"/>
                </a:solidFill>
                <a:latin typeface="Source Sans Pro" pitchFamily="34" charset="0"/>
                <a:ea typeface="Source Sans Pro" pitchFamily="34" charset="-122"/>
                <a:cs typeface="Source Sans Pro" pitchFamily="34" charset="-120"/>
              </a:rPr>
              <a:t>Genetic algorithms</a:t>
            </a:r>
            <a:endParaRPr lang="en-US" sz="1859" dirty="0"/>
          </a:p>
        </p:txBody>
      </p:sp>
      <p:sp>
        <p:nvSpPr>
          <p:cNvPr id="16" name="Text 14"/>
          <p:cNvSpPr/>
          <p:nvPr/>
        </p:nvSpPr>
        <p:spPr>
          <a:xfrm>
            <a:off x="5864185" y="5240059"/>
            <a:ext cx="3279696" cy="374889"/>
          </a:xfrm>
          <a:prstGeom prst="rect">
            <a:avLst/>
          </a:prstGeom>
          <a:noFill/>
          <a:ln/>
        </p:spPr>
        <p:txBody>
          <a:bodyPr wrap="none" rtlCol="0" anchor="t"/>
          <a:lstStyle/>
          <a:p>
            <a:pPr marL="342900" indent="-342900" algn="l">
              <a:lnSpc>
                <a:spcPts val="2974"/>
              </a:lnSpc>
              <a:buSzPct val="100000"/>
              <a:buChar char="•"/>
            </a:pPr>
            <a:r>
              <a:rPr lang="en-US" sz="1859" dirty="0">
                <a:solidFill>
                  <a:srgbClr val="D6E5EF"/>
                </a:solidFill>
                <a:latin typeface="Source Sans Pro" pitchFamily="34" charset="0"/>
                <a:ea typeface="Source Sans Pro" pitchFamily="34" charset="-122"/>
                <a:cs typeface="Source Sans Pro" pitchFamily="34" charset="-120"/>
              </a:rPr>
              <a:t>Evolution strategies</a:t>
            </a:r>
            <a:endParaRPr lang="en-US" sz="1859" dirty="0"/>
          </a:p>
        </p:txBody>
      </p:sp>
      <p:sp>
        <p:nvSpPr>
          <p:cNvPr id="17" name="Text 15"/>
          <p:cNvSpPr/>
          <p:nvPr/>
        </p:nvSpPr>
        <p:spPr>
          <a:xfrm>
            <a:off x="5864185" y="5708670"/>
            <a:ext cx="3279696" cy="374889"/>
          </a:xfrm>
          <a:prstGeom prst="rect">
            <a:avLst/>
          </a:prstGeom>
          <a:noFill/>
          <a:ln/>
        </p:spPr>
        <p:txBody>
          <a:bodyPr wrap="none" rtlCol="0" anchor="t"/>
          <a:lstStyle/>
          <a:p>
            <a:pPr marL="342900" indent="-342900" algn="l">
              <a:lnSpc>
                <a:spcPts val="2974"/>
              </a:lnSpc>
              <a:buSzPct val="100000"/>
              <a:buChar char="•"/>
            </a:pPr>
            <a:r>
              <a:rPr lang="en-US" sz="1859" dirty="0">
                <a:solidFill>
                  <a:srgbClr val="D6E5EF"/>
                </a:solidFill>
                <a:latin typeface="Source Sans Pro" pitchFamily="34" charset="0"/>
                <a:ea typeface="Source Sans Pro" pitchFamily="34" charset="-122"/>
                <a:cs typeface="Source Sans Pro" pitchFamily="34" charset="-120"/>
              </a:rPr>
              <a:t>Genetic programming</a:t>
            </a:r>
            <a:endParaRPr lang="en-US" sz="1859" dirty="0"/>
          </a:p>
        </p:txBody>
      </p:sp>
      <p:sp>
        <p:nvSpPr>
          <p:cNvPr id="18" name="Text 16"/>
          <p:cNvSpPr/>
          <p:nvPr/>
        </p:nvSpPr>
        <p:spPr>
          <a:xfrm>
            <a:off x="5864185" y="6177282"/>
            <a:ext cx="3279696" cy="374889"/>
          </a:xfrm>
          <a:prstGeom prst="rect">
            <a:avLst/>
          </a:prstGeom>
          <a:noFill/>
          <a:ln/>
        </p:spPr>
        <p:txBody>
          <a:bodyPr wrap="none" rtlCol="0" anchor="t"/>
          <a:lstStyle/>
          <a:p>
            <a:pPr marL="342900" indent="-342900" algn="l">
              <a:lnSpc>
                <a:spcPts val="2974"/>
              </a:lnSpc>
              <a:buSzPct val="100000"/>
              <a:buChar char="•"/>
            </a:pPr>
            <a:r>
              <a:rPr lang="en-US" sz="1859" dirty="0">
                <a:solidFill>
                  <a:srgbClr val="D6E5EF"/>
                </a:solidFill>
                <a:latin typeface="Source Sans Pro" pitchFamily="34" charset="0"/>
                <a:ea typeface="Source Sans Pro" pitchFamily="34" charset="-122"/>
                <a:cs typeface="Source Sans Pro" pitchFamily="34" charset="-120"/>
              </a:rPr>
              <a:t>Differential evolution</a:t>
            </a:r>
            <a:endParaRPr lang="en-US" sz="1859" dirty="0"/>
          </a:p>
        </p:txBody>
      </p:sp>
      <p:sp>
        <p:nvSpPr>
          <p:cNvPr id="19" name="Shape 17"/>
          <p:cNvSpPr/>
          <p:nvPr/>
        </p:nvSpPr>
        <p:spPr>
          <a:xfrm>
            <a:off x="11672888" y="2721138"/>
            <a:ext cx="15240" cy="820218"/>
          </a:xfrm>
          <a:prstGeom prst="rect">
            <a:avLst/>
          </a:prstGeom>
          <a:solidFill>
            <a:srgbClr val="6EB9FC"/>
          </a:solidFill>
          <a:ln/>
        </p:spPr>
      </p:sp>
      <p:sp>
        <p:nvSpPr>
          <p:cNvPr id="20" name="Shape 18"/>
          <p:cNvSpPr/>
          <p:nvPr/>
        </p:nvSpPr>
        <p:spPr>
          <a:xfrm>
            <a:off x="11414998" y="2457581"/>
            <a:ext cx="531138" cy="527232"/>
          </a:xfrm>
          <a:prstGeom prst="roundRect">
            <a:avLst>
              <a:gd name="adj" fmla="val 13434"/>
            </a:avLst>
          </a:prstGeom>
          <a:solidFill>
            <a:srgbClr val="2F3343"/>
          </a:solidFill>
          <a:ln/>
        </p:spPr>
      </p:sp>
      <p:sp>
        <p:nvSpPr>
          <p:cNvPr id="21" name="Text 19"/>
          <p:cNvSpPr/>
          <p:nvPr/>
        </p:nvSpPr>
        <p:spPr>
          <a:xfrm>
            <a:off x="11581448" y="2501547"/>
            <a:ext cx="198120" cy="439301"/>
          </a:xfrm>
          <a:prstGeom prst="rect">
            <a:avLst/>
          </a:prstGeom>
          <a:noFill/>
          <a:ln/>
        </p:spPr>
        <p:txBody>
          <a:bodyPr wrap="none" rtlCol="0" anchor="t"/>
          <a:lstStyle/>
          <a:p>
            <a:pPr marL="0" indent="0" algn="ctr">
              <a:lnSpc>
                <a:spcPts val="3486"/>
              </a:lnSpc>
              <a:buNone/>
            </a:pPr>
            <a:r>
              <a:rPr lang="en-US" sz="2788" dirty="0">
                <a:solidFill>
                  <a:srgbClr val="6EB9FC"/>
                </a:solidFill>
                <a:latin typeface="Lora" pitchFamily="34" charset="0"/>
                <a:ea typeface="Lora" pitchFamily="34" charset="-122"/>
                <a:cs typeface="Lora" pitchFamily="34" charset="-120"/>
              </a:rPr>
              <a:t>3</a:t>
            </a:r>
            <a:endParaRPr lang="en-US" sz="2788" dirty="0"/>
          </a:p>
        </p:txBody>
      </p:sp>
      <p:sp>
        <p:nvSpPr>
          <p:cNvPr id="22" name="Text 20"/>
          <p:cNvSpPr/>
          <p:nvPr/>
        </p:nvSpPr>
        <p:spPr>
          <a:xfrm>
            <a:off x="10500122" y="3775603"/>
            <a:ext cx="2360771" cy="366143"/>
          </a:xfrm>
          <a:prstGeom prst="rect">
            <a:avLst/>
          </a:prstGeom>
          <a:noFill/>
          <a:ln/>
        </p:spPr>
        <p:txBody>
          <a:bodyPr wrap="none" rtlCol="0" anchor="t"/>
          <a:lstStyle/>
          <a:p>
            <a:pPr marL="0" indent="0" algn="ctr">
              <a:lnSpc>
                <a:spcPts val="2905"/>
              </a:lnSpc>
              <a:buNone/>
            </a:pPr>
            <a:r>
              <a:rPr lang="en-US" sz="2324" dirty="0">
                <a:solidFill>
                  <a:srgbClr val="6EB9FC"/>
                </a:solidFill>
                <a:latin typeface="Lora" pitchFamily="34" charset="0"/>
                <a:ea typeface="Lora" pitchFamily="34" charset="-122"/>
                <a:cs typeface="Lora" pitchFamily="34" charset="-120"/>
              </a:rPr>
              <a:t>Applications</a:t>
            </a:r>
            <a:endParaRPr lang="en-US" sz="2324" dirty="0"/>
          </a:p>
        </p:txBody>
      </p:sp>
      <p:sp>
        <p:nvSpPr>
          <p:cNvPr id="23" name="Text 21"/>
          <p:cNvSpPr/>
          <p:nvPr/>
        </p:nvSpPr>
        <p:spPr>
          <a:xfrm>
            <a:off x="9851827" y="4375993"/>
            <a:ext cx="3657362" cy="2249336"/>
          </a:xfrm>
          <a:prstGeom prst="rect">
            <a:avLst/>
          </a:prstGeom>
          <a:noFill/>
          <a:ln/>
        </p:spPr>
        <p:txBody>
          <a:bodyPr wrap="square" rtlCol="0" anchor="t"/>
          <a:lstStyle/>
          <a:p>
            <a:pPr marL="0" indent="0" algn="ctr">
              <a:lnSpc>
                <a:spcPts val="2974"/>
              </a:lnSpc>
              <a:buNone/>
            </a:pPr>
            <a:r>
              <a:rPr lang="en-US" sz="1859" dirty="0">
                <a:solidFill>
                  <a:srgbClr val="D6E5EF"/>
                </a:solidFill>
                <a:latin typeface="Source Sans Pro" pitchFamily="34" charset="0"/>
                <a:ea typeface="Source Sans Pro" pitchFamily="34" charset="-122"/>
                <a:cs typeface="Source Sans Pro" pitchFamily="34" charset="-120"/>
              </a:rPr>
              <a:t>Evolutionary algorithms can be used in various optimization problems such as scheduling, resource allocation, and data mining. They are also used in robotics, game development, and artificial life.</a:t>
            </a:r>
            <a:endParaRPr lang="en-US" sz="1859"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85230" y="2012371"/>
            <a:ext cx="10226040" cy="732287"/>
          </a:xfrm>
          <a:prstGeom prst="rect">
            <a:avLst/>
          </a:prstGeom>
          <a:noFill/>
          <a:ln/>
        </p:spPr>
        <p:txBody>
          <a:bodyPr wrap="none" rtlCol="0" anchor="t"/>
          <a:lstStyle/>
          <a:p>
            <a:pPr marL="0" indent="0">
              <a:lnSpc>
                <a:spcPts val="5809"/>
              </a:lnSpc>
              <a:buNone/>
            </a:pPr>
            <a:r>
              <a:rPr lang="en-US" sz="4647" dirty="0">
                <a:solidFill>
                  <a:srgbClr val="6EB9FC"/>
                </a:solidFill>
                <a:latin typeface="Lora" pitchFamily="34" charset="0"/>
                <a:ea typeface="Lora" pitchFamily="34" charset="-122"/>
                <a:cs typeface="Lora" pitchFamily="34" charset="-120"/>
              </a:rPr>
              <a:t>Why is Optimization Important in AI?</a:t>
            </a:r>
            <a:endParaRPr lang="en-US" sz="4647" dirty="0"/>
          </a:p>
        </p:txBody>
      </p:sp>
      <p:sp>
        <p:nvSpPr>
          <p:cNvPr id="5" name="Shape 3"/>
          <p:cNvSpPr/>
          <p:nvPr/>
        </p:nvSpPr>
        <p:spPr>
          <a:xfrm>
            <a:off x="885230" y="3213269"/>
            <a:ext cx="4129326" cy="2943330"/>
          </a:xfrm>
          <a:prstGeom prst="roundRect">
            <a:avLst>
              <a:gd name="adj" fmla="val 2406"/>
            </a:avLst>
          </a:prstGeom>
          <a:solidFill>
            <a:srgbClr val="2F3343"/>
          </a:solidFill>
          <a:ln/>
        </p:spPr>
      </p:sp>
      <p:sp>
        <p:nvSpPr>
          <p:cNvPr id="6" name="Text 4"/>
          <p:cNvSpPr/>
          <p:nvPr/>
        </p:nvSpPr>
        <p:spPr>
          <a:xfrm>
            <a:off x="1121212" y="3447516"/>
            <a:ext cx="3329940" cy="366143"/>
          </a:xfrm>
          <a:prstGeom prst="rect">
            <a:avLst/>
          </a:prstGeom>
          <a:noFill/>
          <a:ln/>
        </p:spPr>
        <p:txBody>
          <a:bodyPr wrap="none" rtlCol="0" anchor="t"/>
          <a:lstStyle/>
          <a:p>
            <a:pPr marL="0" indent="0">
              <a:lnSpc>
                <a:spcPts val="2905"/>
              </a:lnSpc>
              <a:buNone/>
            </a:pPr>
            <a:r>
              <a:rPr lang="en-US" sz="2324" dirty="0">
                <a:solidFill>
                  <a:srgbClr val="6EB9FC"/>
                </a:solidFill>
                <a:latin typeface="Lora" pitchFamily="34" charset="0"/>
                <a:ea typeface="Lora" pitchFamily="34" charset="-122"/>
                <a:cs typeface="Lora" pitchFamily="34" charset="-120"/>
              </a:rPr>
              <a:t>Enhancing Performance</a:t>
            </a:r>
            <a:endParaRPr lang="en-US" sz="2324" dirty="0"/>
          </a:p>
        </p:txBody>
      </p:sp>
      <p:sp>
        <p:nvSpPr>
          <p:cNvPr id="7" name="Text 5"/>
          <p:cNvSpPr/>
          <p:nvPr/>
        </p:nvSpPr>
        <p:spPr>
          <a:xfrm>
            <a:off x="1121212" y="4047906"/>
            <a:ext cx="3657362" cy="1874446"/>
          </a:xfrm>
          <a:prstGeom prst="rect">
            <a:avLst/>
          </a:prstGeom>
          <a:noFill/>
          <a:ln/>
        </p:spPr>
        <p:txBody>
          <a:bodyPr wrap="square" rtlCol="0" anchor="t"/>
          <a:lstStyle/>
          <a:p>
            <a:pPr marL="0" indent="0">
              <a:lnSpc>
                <a:spcPts val="2974"/>
              </a:lnSpc>
              <a:buNone/>
            </a:pPr>
            <a:r>
              <a:rPr lang="en-US" sz="1859" dirty="0">
                <a:solidFill>
                  <a:srgbClr val="D6E5EF"/>
                </a:solidFill>
                <a:latin typeface="Source Sans Pro" pitchFamily="34" charset="0"/>
                <a:ea typeface="Source Sans Pro" pitchFamily="34" charset="-122"/>
                <a:cs typeface="Source Sans Pro" pitchFamily="34" charset="-120"/>
              </a:rPr>
              <a:t>Optimization techniques can help improve the performance and accuracy of AI models, allowing them to generalize better and make better predictions.</a:t>
            </a:r>
            <a:endParaRPr lang="en-US" sz="1859" dirty="0"/>
          </a:p>
        </p:txBody>
      </p:sp>
      <p:sp>
        <p:nvSpPr>
          <p:cNvPr id="8" name="Shape 6"/>
          <p:cNvSpPr/>
          <p:nvPr/>
        </p:nvSpPr>
        <p:spPr>
          <a:xfrm>
            <a:off x="5250537" y="3213269"/>
            <a:ext cx="4129326" cy="2943330"/>
          </a:xfrm>
          <a:prstGeom prst="roundRect">
            <a:avLst>
              <a:gd name="adj" fmla="val 2406"/>
            </a:avLst>
          </a:prstGeom>
          <a:solidFill>
            <a:srgbClr val="2F3343"/>
          </a:solidFill>
          <a:ln/>
        </p:spPr>
      </p:sp>
      <p:sp>
        <p:nvSpPr>
          <p:cNvPr id="9" name="Text 7"/>
          <p:cNvSpPr/>
          <p:nvPr/>
        </p:nvSpPr>
        <p:spPr>
          <a:xfrm>
            <a:off x="5486519" y="3447516"/>
            <a:ext cx="3543300" cy="366143"/>
          </a:xfrm>
          <a:prstGeom prst="rect">
            <a:avLst/>
          </a:prstGeom>
          <a:noFill/>
          <a:ln/>
        </p:spPr>
        <p:txBody>
          <a:bodyPr wrap="none" rtlCol="0" anchor="t"/>
          <a:lstStyle/>
          <a:p>
            <a:pPr marL="0" indent="0">
              <a:lnSpc>
                <a:spcPts val="2905"/>
              </a:lnSpc>
              <a:buNone/>
            </a:pPr>
            <a:r>
              <a:rPr lang="en-US" sz="2324" dirty="0">
                <a:solidFill>
                  <a:srgbClr val="6EB9FC"/>
                </a:solidFill>
                <a:latin typeface="Lora" pitchFamily="34" charset="0"/>
                <a:ea typeface="Lora" pitchFamily="34" charset="-122"/>
                <a:cs typeface="Lora" pitchFamily="34" charset="-120"/>
              </a:rPr>
              <a:t>Reducing Resource Usage</a:t>
            </a:r>
            <a:endParaRPr lang="en-US" sz="2324" dirty="0"/>
          </a:p>
        </p:txBody>
      </p:sp>
      <p:sp>
        <p:nvSpPr>
          <p:cNvPr id="10" name="Text 8"/>
          <p:cNvSpPr/>
          <p:nvPr/>
        </p:nvSpPr>
        <p:spPr>
          <a:xfrm>
            <a:off x="5486519" y="4047906"/>
            <a:ext cx="3657362" cy="1499557"/>
          </a:xfrm>
          <a:prstGeom prst="rect">
            <a:avLst/>
          </a:prstGeom>
          <a:noFill/>
          <a:ln/>
        </p:spPr>
        <p:txBody>
          <a:bodyPr wrap="square" rtlCol="0" anchor="t"/>
          <a:lstStyle/>
          <a:p>
            <a:pPr marL="0" indent="0">
              <a:lnSpc>
                <a:spcPts val="2974"/>
              </a:lnSpc>
              <a:buNone/>
            </a:pPr>
            <a:r>
              <a:rPr lang="en-US" sz="1859" dirty="0">
                <a:solidFill>
                  <a:srgbClr val="D6E5EF"/>
                </a:solidFill>
                <a:latin typeface="Source Sans Pro" pitchFamily="34" charset="0"/>
                <a:ea typeface="Source Sans Pro" pitchFamily="34" charset="-122"/>
                <a:cs typeface="Source Sans Pro" pitchFamily="34" charset="-120"/>
              </a:rPr>
              <a:t>By optimizing the models, we can reduce the amount of data and processing power needed, making AI more accessible and cost-effective.</a:t>
            </a:r>
            <a:endParaRPr lang="en-US" sz="1859" dirty="0"/>
          </a:p>
        </p:txBody>
      </p:sp>
      <p:sp>
        <p:nvSpPr>
          <p:cNvPr id="11" name="Shape 9"/>
          <p:cNvSpPr/>
          <p:nvPr/>
        </p:nvSpPr>
        <p:spPr>
          <a:xfrm>
            <a:off x="9615845" y="3213269"/>
            <a:ext cx="4129326" cy="2943330"/>
          </a:xfrm>
          <a:prstGeom prst="roundRect">
            <a:avLst>
              <a:gd name="adj" fmla="val 2406"/>
            </a:avLst>
          </a:prstGeom>
          <a:solidFill>
            <a:srgbClr val="2F3343"/>
          </a:solidFill>
          <a:ln/>
        </p:spPr>
      </p:sp>
      <p:sp>
        <p:nvSpPr>
          <p:cNvPr id="12" name="Text 10"/>
          <p:cNvSpPr/>
          <p:nvPr/>
        </p:nvSpPr>
        <p:spPr>
          <a:xfrm>
            <a:off x="9851827" y="3447516"/>
            <a:ext cx="2567940" cy="366143"/>
          </a:xfrm>
          <a:prstGeom prst="rect">
            <a:avLst/>
          </a:prstGeom>
          <a:noFill/>
          <a:ln/>
        </p:spPr>
        <p:txBody>
          <a:bodyPr wrap="none" rtlCol="0" anchor="t"/>
          <a:lstStyle/>
          <a:p>
            <a:pPr marL="0" indent="0">
              <a:lnSpc>
                <a:spcPts val="2905"/>
              </a:lnSpc>
              <a:buNone/>
            </a:pPr>
            <a:r>
              <a:rPr lang="en-US" sz="2324" dirty="0">
                <a:solidFill>
                  <a:srgbClr val="6EB9FC"/>
                </a:solidFill>
                <a:latin typeface="Lora" pitchFamily="34" charset="0"/>
                <a:ea typeface="Lora" pitchFamily="34" charset="-122"/>
                <a:cs typeface="Lora" pitchFamily="34" charset="-120"/>
              </a:rPr>
              <a:t>Real-world Impact</a:t>
            </a:r>
            <a:endParaRPr lang="en-US" sz="2324" dirty="0"/>
          </a:p>
        </p:txBody>
      </p:sp>
      <p:sp>
        <p:nvSpPr>
          <p:cNvPr id="13" name="Text 11"/>
          <p:cNvSpPr/>
          <p:nvPr/>
        </p:nvSpPr>
        <p:spPr>
          <a:xfrm>
            <a:off x="9851827" y="4047906"/>
            <a:ext cx="3657362" cy="1874446"/>
          </a:xfrm>
          <a:prstGeom prst="rect">
            <a:avLst/>
          </a:prstGeom>
          <a:noFill/>
          <a:ln/>
        </p:spPr>
        <p:txBody>
          <a:bodyPr wrap="square" rtlCol="0" anchor="t"/>
          <a:lstStyle/>
          <a:p>
            <a:pPr marL="0" indent="0">
              <a:lnSpc>
                <a:spcPts val="2974"/>
              </a:lnSpc>
              <a:buNone/>
            </a:pPr>
            <a:r>
              <a:rPr lang="en-US" sz="1859" dirty="0">
                <a:solidFill>
                  <a:srgbClr val="D6E5EF"/>
                </a:solidFill>
                <a:latin typeface="Source Sans Pro" pitchFamily="34" charset="0"/>
                <a:ea typeface="Source Sans Pro" pitchFamily="34" charset="-122"/>
                <a:cs typeface="Source Sans Pro" pitchFamily="34" charset="-120"/>
              </a:rPr>
              <a:t>AI optimization is used in various industries such as finance, healthcare, and transportation to solve complex problems and make data-driven decisions.</a:t>
            </a:r>
            <a:endParaRPr lang="en-US" sz="1859"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85230" y="857683"/>
            <a:ext cx="10942320" cy="732287"/>
          </a:xfrm>
          <a:prstGeom prst="rect">
            <a:avLst/>
          </a:prstGeom>
          <a:noFill/>
          <a:ln/>
        </p:spPr>
        <p:txBody>
          <a:bodyPr wrap="none" rtlCol="0" anchor="t"/>
          <a:lstStyle/>
          <a:p>
            <a:pPr marL="0" indent="0">
              <a:lnSpc>
                <a:spcPts val="5809"/>
              </a:lnSpc>
              <a:buNone/>
            </a:pPr>
            <a:r>
              <a:rPr lang="en-US" sz="4647" dirty="0">
                <a:solidFill>
                  <a:srgbClr val="6EB9FC"/>
                </a:solidFill>
                <a:latin typeface="Lora" pitchFamily="34" charset="0"/>
                <a:ea typeface="Lora" pitchFamily="34" charset="-122"/>
                <a:cs typeface="Lora" pitchFamily="34" charset="-120"/>
              </a:rPr>
              <a:t>Real-world Examples of AI Optimization</a:t>
            </a:r>
            <a:endParaRPr lang="en-US" sz="4647" dirty="0"/>
          </a:p>
        </p:txBody>
      </p:sp>
      <p:pic>
        <p:nvPicPr>
          <p:cNvPr id="5" name="Image 0" descr="preencoded.png"/>
          <p:cNvPicPr>
            <a:picLocks noChangeAspect="1"/>
          </p:cNvPicPr>
          <p:nvPr/>
        </p:nvPicPr>
        <p:blipFill>
          <a:blip r:embed="rId3"/>
          <a:stretch>
            <a:fillRect/>
          </a:stretch>
        </p:blipFill>
        <p:spPr>
          <a:xfrm>
            <a:off x="885230" y="2058582"/>
            <a:ext cx="4050506" cy="2484883"/>
          </a:xfrm>
          <a:prstGeom prst="rect">
            <a:avLst/>
          </a:prstGeom>
        </p:spPr>
      </p:pic>
      <p:sp>
        <p:nvSpPr>
          <p:cNvPr id="6" name="Text 3"/>
          <p:cNvSpPr/>
          <p:nvPr/>
        </p:nvSpPr>
        <p:spPr>
          <a:xfrm>
            <a:off x="885230" y="4836332"/>
            <a:ext cx="2360771" cy="366143"/>
          </a:xfrm>
          <a:prstGeom prst="rect">
            <a:avLst/>
          </a:prstGeom>
          <a:noFill/>
          <a:ln/>
        </p:spPr>
        <p:txBody>
          <a:bodyPr wrap="none" rtlCol="0" anchor="t"/>
          <a:lstStyle/>
          <a:p>
            <a:pPr marL="0" indent="0" algn="l">
              <a:lnSpc>
                <a:spcPts val="2905"/>
              </a:lnSpc>
              <a:buNone/>
            </a:pPr>
            <a:r>
              <a:rPr lang="en-US" sz="2324" dirty="0">
                <a:solidFill>
                  <a:srgbClr val="6EB9FC"/>
                </a:solidFill>
                <a:latin typeface="Lora" pitchFamily="34" charset="0"/>
                <a:ea typeface="Lora" pitchFamily="34" charset="-122"/>
                <a:cs typeface="Lora" pitchFamily="34" charset="-120"/>
              </a:rPr>
              <a:t>Self-driving Cars</a:t>
            </a:r>
            <a:endParaRPr lang="en-US" sz="2324" dirty="0"/>
          </a:p>
        </p:txBody>
      </p:sp>
      <p:sp>
        <p:nvSpPr>
          <p:cNvPr id="7" name="Text 4"/>
          <p:cNvSpPr/>
          <p:nvPr/>
        </p:nvSpPr>
        <p:spPr>
          <a:xfrm>
            <a:off x="885230" y="5436722"/>
            <a:ext cx="4050506" cy="1499557"/>
          </a:xfrm>
          <a:prstGeom prst="rect">
            <a:avLst/>
          </a:prstGeom>
          <a:noFill/>
          <a:ln/>
        </p:spPr>
        <p:txBody>
          <a:bodyPr wrap="square" rtlCol="0" anchor="t"/>
          <a:lstStyle/>
          <a:p>
            <a:pPr marL="0" indent="0" algn="l">
              <a:lnSpc>
                <a:spcPts val="2974"/>
              </a:lnSpc>
              <a:buNone/>
            </a:pPr>
            <a:r>
              <a:rPr lang="en-US" sz="1859" dirty="0">
                <a:solidFill>
                  <a:srgbClr val="D6E5EF"/>
                </a:solidFill>
                <a:latin typeface="Source Sans Pro" pitchFamily="34" charset="0"/>
                <a:ea typeface="Source Sans Pro" pitchFamily="34" charset="-122"/>
                <a:cs typeface="Source Sans Pro" pitchFamily="34" charset="-120"/>
              </a:rPr>
              <a:t>Optimization techniques are used to train self-driving cars to recognize and respond to different traffic conditions, obstacles, and pedestrians.</a:t>
            </a:r>
            <a:endParaRPr lang="en-US" sz="1859" dirty="0"/>
          </a:p>
        </p:txBody>
      </p:sp>
      <p:pic>
        <p:nvPicPr>
          <p:cNvPr id="8" name="Image 1" descr="preencoded.png"/>
          <p:cNvPicPr>
            <a:picLocks noChangeAspect="1"/>
          </p:cNvPicPr>
          <p:nvPr/>
        </p:nvPicPr>
        <p:blipFill>
          <a:blip r:embed="rId4"/>
          <a:stretch>
            <a:fillRect/>
          </a:stretch>
        </p:blipFill>
        <p:spPr>
          <a:xfrm>
            <a:off x="5289828" y="2058582"/>
            <a:ext cx="4050625" cy="2485001"/>
          </a:xfrm>
          <a:prstGeom prst="rect">
            <a:avLst/>
          </a:prstGeom>
        </p:spPr>
      </p:pic>
      <p:sp>
        <p:nvSpPr>
          <p:cNvPr id="9" name="Text 5"/>
          <p:cNvSpPr/>
          <p:nvPr/>
        </p:nvSpPr>
        <p:spPr>
          <a:xfrm>
            <a:off x="5289828" y="4836450"/>
            <a:ext cx="2360771" cy="366143"/>
          </a:xfrm>
          <a:prstGeom prst="rect">
            <a:avLst/>
          </a:prstGeom>
          <a:noFill/>
          <a:ln/>
        </p:spPr>
        <p:txBody>
          <a:bodyPr wrap="none" rtlCol="0" anchor="t"/>
          <a:lstStyle/>
          <a:p>
            <a:pPr marL="0" indent="0" algn="l">
              <a:lnSpc>
                <a:spcPts val="2905"/>
              </a:lnSpc>
              <a:buNone/>
            </a:pPr>
            <a:r>
              <a:rPr lang="en-US" sz="2324" dirty="0">
                <a:solidFill>
                  <a:srgbClr val="6EB9FC"/>
                </a:solidFill>
                <a:latin typeface="Lora" pitchFamily="34" charset="0"/>
                <a:ea typeface="Lora" pitchFamily="34" charset="-122"/>
                <a:cs typeface="Lora" pitchFamily="34" charset="-120"/>
              </a:rPr>
              <a:t>Healthcare</a:t>
            </a:r>
            <a:endParaRPr lang="en-US" sz="2324" dirty="0"/>
          </a:p>
        </p:txBody>
      </p:sp>
      <p:sp>
        <p:nvSpPr>
          <p:cNvPr id="10" name="Text 6"/>
          <p:cNvSpPr/>
          <p:nvPr/>
        </p:nvSpPr>
        <p:spPr>
          <a:xfrm>
            <a:off x="5289828" y="5436840"/>
            <a:ext cx="4050625" cy="1874446"/>
          </a:xfrm>
          <a:prstGeom prst="rect">
            <a:avLst/>
          </a:prstGeom>
          <a:noFill/>
          <a:ln/>
        </p:spPr>
        <p:txBody>
          <a:bodyPr wrap="square" rtlCol="0" anchor="t"/>
          <a:lstStyle/>
          <a:p>
            <a:pPr marL="0" indent="0" algn="l">
              <a:lnSpc>
                <a:spcPts val="2974"/>
              </a:lnSpc>
              <a:buNone/>
            </a:pPr>
            <a:r>
              <a:rPr lang="en-US" sz="1859" dirty="0">
                <a:solidFill>
                  <a:srgbClr val="D6E5EF"/>
                </a:solidFill>
                <a:latin typeface="Source Sans Pro" pitchFamily="34" charset="0"/>
                <a:ea typeface="Source Sans Pro" pitchFamily="34" charset="-122"/>
                <a:cs typeface="Source Sans Pro" pitchFamily="34" charset="-120"/>
              </a:rPr>
              <a:t>AI optimization is used to analyze medical data and identify patterns that can help diagnose diseases, plan treatments, and improve patient outcomes.</a:t>
            </a:r>
            <a:endParaRPr lang="en-US" sz="1859" dirty="0"/>
          </a:p>
        </p:txBody>
      </p:sp>
      <p:pic>
        <p:nvPicPr>
          <p:cNvPr id="11" name="Image 2" descr="preencoded.png"/>
          <p:cNvPicPr>
            <a:picLocks noChangeAspect="1"/>
          </p:cNvPicPr>
          <p:nvPr/>
        </p:nvPicPr>
        <p:blipFill>
          <a:blip r:embed="rId5"/>
          <a:stretch>
            <a:fillRect/>
          </a:stretch>
        </p:blipFill>
        <p:spPr>
          <a:xfrm>
            <a:off x="9694545" y="2058582"/>
            <a:ext cx="4050625" cy="2485001"/>
          </a:xfrm>
          <a:prstGeom prst="rect">
            <a:avLst/>
          </a:prstGeom>
        </p:spPr>
      </p:pic>
      <p:sp>
        <p:nvSpPr>
          <p:cNvPr id="12" name="Text 7"/>
          <p:cNvSpPr/>
          <p:nvPr/>
        </p:nvSpPr>
        <p:spPr>
          <a:xfrm>
            <a:off x="9694545" y="4836450"/>
            <a:ext cx="2360771" cy="366143"/>
          </a:xfrm>
          <a:prstGeom prst="rect">
            <a:avLst/>
          </a:prstGeom>
          <a:noFill/>
          <a:ln/>
        </p:spPr>
        <p:txBody>
          <a:bodyPr wrap="none" rtlCol="0" anchor="t"/>
          <a:lstStyle/>
          <a:p>
            <a:pPr marL="0" indent="0" algn="l">
              <a:lnSpc>
                <a:spcPts val="2905"/>
              </a:lnSpc>
              <a:buNone/>
            </a:pPr>
            <a:r>
              <a:rPr lang="en-US" sz="2324" dirty="0">
                <a:solidFill>
                  <a:srgbClr val="6EB9FC"/>
                </a:solidFill>
                <a:latin typeface="Lora" pitchFamily="34" charset="0"/>
                <a:ea typeface="Lora" pitchFamily="34" charset="-122"/>
                <a:cs typeface="Lora" pitchFamily="34" charset="-120"/>
              </a:rPr>
              <a:t>Finance</a:t>
            </a:r>
            <a:endParaRPr lang="en-US" sz="2324" dirty="0"/>
          </a:p>
        </p:txBody>
      </p:sp>
      <p:sp>
        <p:nvSpPr>
          <p:cNvPr id="13" name="Text 8"/>
          <p:cNvSpPr/>
          <p:nvPr/>
        </p:nvSpPr>
        <p:spPr>
          <a:xfrm>
            <a:off x="9694545" y="5436840"/>
            <a:ext cx="4050625" cy="1499557"/>
          </a:xfrm>
          <a:prstGeom prst="rect">
            <a:avLst/>
          </a:prstGeom>
          <a:noFill/>
          <a:ln/>
        </p:spPr>
        <p:txBody>
          <a:bodyPr wrap="square" rtlCol="0" anchor="t"/>
          <a:lstStyle/>
          <a:p>
            <a:pPr marL="0" indent="0" algn="l">
              <a:lnSpc>
                <a:spcPts val="2974"/>
              </a:lnSpc>
              <a:buNone/>
            </a:pPr>
            <a:r>
              <a:rPr lang="en-US" sz="1859" dirty="0">
                <a:solidFill>
                  <a:srgbClr val="D6E5EF"/>
                </a:solidFill>
                <a:latin typeface="Source Sans Pro" pitchFamily="34" charset="0"/>
                <a:ea typeface="Source Sans Pro" pitchFamily="34" charset="-122"/>
                <a:cs typeface="Source Sans Pro" pitchFamily="34" charset="-120"/>
              </a:rPr>
              <a:t>Optimization techniques are used to optimize investment portfolios, perform risk analysis, and forecast market trends in the financial industry.</a:t>
            </a:r>
            <a:endParaRPr lang="en-US" sz="1859"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6321385" y="785707"/>
            <a:ext cx="7474029" cy="1381607"/>
          </a:xfrm>
          <a:prstGeom prst="rect">
            <a:avLst/>
          </a:prstGeom>
          <a:noFill/>
          <a:ln/>
        </p:spPr>
        <p:txBody>
          <a:bodyPr wrap="square" rtlCol="0" anchor="t"/>
          <a:lstStyle/>
          <a:p>
            <a:pPr marL="0" indent="0">
              <a:lnSpc>
                <a:spcPts val="5479"/>
              </a:lnSpc>
              <a:buNone/>
            </a:pPr>
            <a:r>
              <a:rPr lang="en-US" sz="4384" dirty="0">
                <a:solidFill>
                  <a:srgbClr val="6EB9FC"/>
                </a:solidFill>
                <a:latin typeface="Lora" pitchFamily="34" charset="0"/>
                <a:ea typeface="Lora" pitchFamily="34" charset="-122"/>
                <a:cs typeface="Lora" pitchFamily="34" charset="-120"/>
              </a:rPr>
              <a:t>Conclusion and Resources for Further Learning</a:t>
            </a:r>
            <a:endParaRPr lang="en-US" sz="4384" dirty="0"/>
          </a:p>
        </p:txBody>
      </p:sp>
      <p:sp>
        <p:nvSpPr>
          <p:cNvPr id="5" name="Shape 3"/>
          <p:cNvSpPr/>
          <p:nvPr/>
        </p:nvSpPr>
        <p:spPr>
          <a:xfrm>
            <a:off x="6321385" y="2671500"/>
            <a:ext cx="501015" cy="497331"/>
          </a:xfrm>
          <a:prstGeom prst="roundRect">
            <a:avLst>
              <a:gd name="adj" fmla="val 13433"/>
            </a:avLst>
          </a:prstGeom>
          <a:solidFill>
            <a:srgbClr val="2F3343"/>
          </a:solidFill>
          <a:ln/>
        </p:spPr>
      </p:sp>
      <p:sp>
        <p:nvSpPr>
          <p:cNvPr id="6" name="Text 4"/>
          <p:cNvSpPr/>
          <p:nvPr/>
        </p:nvSpPr>
        <p:spPr>
          <a:xfrm>
            <a:off x="6510933" y="2712984"/>
            <a:ext cx="121920" cy="414364"/>
          </a:xfrm>
          <a:prstGeom prst="rect">
            <a:avLst/>
          </a:prstGeom>
          <a:noFill/>
          <a:ln/>
        </p:spPr>
        <p:txBody>
          <a:bodyPr wrap="none" rtlCol="0" anchor="t"/>
          <a:lstStyle/>
          <a:p>
            <a:pPr marL="0" indent="0" algn="ctr">
              <a:lnSpc>
                <a:spcPts val="3288"/>
              </a:lnSpc>
              <a:buNone/>
            </a:pPr>
            <a:r>
              <a:rPr lang="en-US" sz="2630" dirty="0">
                <a:solidFill>
                  <a:srgbClr val="6EB9FC"/>
                </a:solidFill>
                <a:latin typeface="Lora" pitchFamily="34" charset="0"/>
                <a:ea typeface="Lora" pitchFamily="34" charset="-122"/>
                <a:cs typeface="Lora" pitchFamily="34" charset="-120"/>
              </a:rPr>
              <a:t>1</a:t>
            </a:r>
            <a:endParaRPr lang="en-US" sz="2630" dirty="0"/>
          </a:p>
        </p:txBody>
      </p:sp>
      <p:sp>
        <p:nvSpPr>
          <p:cNvPr id="7" name="Text 5"/>
          <p:cNvSpPr/>
          <p:nvPr/>
        </p:nvSpPr>
        <p:spPr>
          <a:xfrm>
            <a:off x="7045047" y="2747494"/>
            <a:ext cx="2226826" cy="345343"/>
          </a:xfrm>
          <a:prstGeom prst="rect">
            <a:avLst/>
          </a:prstGeom>
          <a:noFill/>
          <a:ln/>
        </p:spPr>
        <p:txBody>
          <a:bodyPr wrap="none" rtlCol="0" anchor="t"/>
          <a:lstStyle/>
          <a:p>
            <a:pPr marL="0" indent="0">
              <a:lnSpc>
                <a:spcPts val="2740"/>
              </a:lnSpc>
              <a:buNone/>
            </a:pPr>
            <a:r>
              <a:rPr lang="en-US" sz="2192" dirty="0">
                <a:solidFill>
                  <a:srgbClr val="6EB9FC"/>
                </a:solidFill>
                <a:latin typeface="Lora" pitchFamily="34" charset="0"/>
                <a:ea typeface="Lora" pitchFamily="34" charset="-122"/>
                <a:cs typeface="Lora" pitchFamily="34" charset="-120"/>
              </a:rPr>
              <a:t>Conclusion</a:t>
            </a:r>
            <a:endParaRPr lang="en-US" sz="2192" dirty="0"/>
          </a:p>
        </p:txBody>
      </p:sp>
      <p:sp>
        <p:nvSpPr>
          <p:cNvPr id="8" name="Text 6"/>
          <p:cNvSpPr/>
          <p:nvPr/>
        </p:nvSpPr>
        <p:spPr>
          <a:xfrm>
            <a:off x="7045047" y="3313846"/>
            <a:ext cx="6750368" cy="1414463"/>
          </a:xfrm>
          <a:prstGeom prst="rect">
            <a:avLst/>
          </a:prstGeom>
          <a:noFill/>
          <a:ln/>
        </p:spPr>
        <p:txBody>
          <a:bodyPr wrap="square" rtlCol="0" anchor="t"/>
          <a:lstStyle/>
          <a:p>
            <a:pPr marL="0" indent="0">
              <a:lnSpc>
                <a:spcPts val="2805"/>
              </a:lnSpc>
              <a:buNone/>
            </a:pPr>
            <a:r>
              <a:rPr lang="en-US" sz="1753" dirty="0">
                <a:solidFill>
                  <a:srgbClr val="D6E5EF"/>
                </a:solidFill>
                <a:latin typeface="Source Sans Pro" pitchFamily="34" charset="0"/>
                <a:ea typeface="Source Sans Pro" pitchFamily="34" charset="-122"/>
                <a:cs typeface="Source Sans Pro" pitchFamily="34" charset="-120"/>
              </a:rPr>
              <a:t>Optimization is a critical part of AI that helps improve performance, reduce resource usage, and solve complex problems. By learning different optimization techniques and algorithms, we can develop more effective AI models and applications.</a:t>
            </a:r>
            <a:endParaRPr lang="en-US" sz="1753" dirty="0"/>
          </a:p>
        </p:txBody>
      </p:sp>
      <p:sp>
        <p:nvSpPr>
          <p:cNvPr id="9" name="Shape 7"/>
          <p:cNvSpPr/>
          <p:nvPr/>
        </p:nvSpPr>
        <p:spPr>
          <a:xfrm>
            <a:off x="6321385" y="5121990"/>
            <a:ext cx="501015" cy="497331"/>
          </a:xfrm>
          <a:prstGeom prst="roundRect">
            <a:avLst>
              <a:gd name="adj" fmla="val 13433"/>
            </a:avLst>
          </a:prstGeom>
          <a:solidFill>
            <a:srgbClr val="2F3343"/>
          </a:solidFill>
          <a:ln/>
        </p:spPr>
      </p:sp>
      <p:sp>
        <p:nvSpPr>
          <p:cNvPr id="10" name="Text 8"/>
          <p:cNvSpPr/>
          <p:nvPr/>
        </p:nvSpPr>
        <p:spPr>
          <a:xfrm>
            <a:off x="6480453" y="5163474"/>
            <a:ext cx="182880" cy="414364"/>
          </a:xfrm>
          <a:prstGeom prst="rect">
            <a:avLst/>
          </a:prstGeom>
          <a:noFill/>
          <a:ln/>
        </p:spPr>
        <p:txBody>
          <a:bodyPr wrap="none" rtlCol="0" anchor="t"/>
          <a:lstStyle/>
          <a:p>
            <a:pPr marL="0" indent="0" algn="ctr">
              <a:lnSpc>
                <a:spcPts val="3288"/>
              </a:lnSpc>
              <a:buNone/>
            </a:pPr>
            <a:r>
              <a:rPr lang="en-US" sz="2630" dirty="0">
                <a:solidFill>
                  <a:srgbClr val="6EB9FC"/>
                </a:solidFill>
                <a:latin typeface="Lora" pitchFamily="34" charset="0"/>
                <a:ea typeface="Lora" pitchFamily="34" charset="-122"/>
                <a:cs typeface="Lora" pitchFamily="34" charset="-120"/>
              </a:rPr>
              <a:t>2</a:t>
            </a:r>
            <a:endParaRPr lang="en-US" sz="2630" dirty="0"/>
          </a:p>
        </p:txBody>
      </p:sp>
      <p:sp>
        <p:nvSpPr>
          <p:cNvPr id="11" name="Text 9"/>
          <p:cNvSpPr/>
          <p:nvPr/>
        </p:nvSpPr>
        <p:spPr>
          <a:xfrm>
            <a:off x="7045047" y="5197984"/>
            <a:ext cx="2226826" cy="345343"/>
          </a:xfrm>
          <a:prstGeom prst="rect">
            <a:avLst/>
          </a:prstGeom>
          <a:noFill/>
          <a:ln/>
        </p:spPr>
        <p:txBody>
          <a:bodyPr wrap="none" rtlCol="0" anchor="t"/>
          <a:lstStyle/>
          <a:p>
            <a:pPr marL="0" indent="0">
              <a:lnSpc>
                <a:spcPts val="2740"/>
              </a:lnSpc>
              <a:buNone/>
            </a:pPr>
            <a:r>
              <a:rPr lang="en-US" sz="2192" dirty="0">
                <a:solidFill>
                  <a:srgbClr val="6EB9FC"/>
                </a:solidFill>
                <a:latin typeface="Lora" pitchFamily="34" charset="0"/>
                <a:ea typeface="Lora" pitchFamily="34" charset="-122"/>
                <a:cs typeface="Lora" pitchFamily="34" charset="-120"/>
              </a:rPr>
              <a:t>Resources</a:t>
            </a:r>
            <a:endParaRPr lang="en-US" sz="2192" dirty="0"/>
          </a:p>
        </p:txBody>
      </p:sp>
      <p:sp>
        <p:nvSpPr>
          <p:cNvPr id="12" name="Text 10"/>
          <p:cNvSpPr/>
          <p:nvPr/>
        </p:nvSpPr>
        <p:spPr>
          <a:xfrm>
            <a:off x="7401282" y="5791992"/>
            <a:ext cx="6394133" cy="707231"/>
          </a:xfrm>
          <a:prstGeom prst="rect">
            <a:avLst/>
          </a:prstGeom>
          <a:noFill/>
          <a:ln/>
        </p:spPr>
        <p:txBody>
          <a:bodyPr wrap="square" rtlCol="0" anchor="t"/>
          <a:lstStyle/>
          <a:p>
            <a:pPr marL="342900" indent="-342900" algn="l">
              <a:lnSpc>
                <a:spcPts val="2805"/>
              </a:lnSpc>
              <a:buSzPct val="100000"/>
              <a:buChar char="•"/>
            </a:pPr>
            <a:r>
              <a:rPr lang="en-US" sz="1753" dirty="0">
                <a:solidFill>
                  <a:srgbClr val="D6E5EF"/>
                </a:solidFill>
                <a:latin typeface="Source Sans Pro" pitchFamily="34" charset="0"/>
                <a:ea typeface="Source Sans Pro" pitchFamily="34" charset="-122"/>
                <a:cs typeface="Source Sans Pro" pitchFamily="34" charset="-120"/>
              </a:rPr>
              <a:t>Python for Data Science Handbook - Chapter 5: Machine Learning with Scikit-Learn</a:t>
            </a:r>
            <a:endParaRPr lang="en-US" sz="1753" dirty="0"/>
          </a:p>
        </p:txBody>
      </p:sp>
      <p:sp>
        <p:nvSpPr>
          <p:cNvPr id="13" name="Text 11"/>
          <p:cNvSpPr/>
          <p:nvPr/>
        </p:nvSpPr>
        <p:spPr>
          <a:xfrm>
            <a:off x="7401282" y="6587627"/>
            <a:ext cx="6394133" cy="353616"/>
          </a:xfrm>
          <a:prstGeom prst="rect">
            <a:avLst/>
          </a:prstGeom>
          <a:noFill/>
          <a:ln/>
        </p:spPr>
        <p:txBody>
          <a:bodyPr wrap="none" rtlCol="0" anchor="t"/>
          <a:lstStyle/>
          <a:p>
            <a:pPr marL="342900" indent="-342900" algn="l">
              <a:lnSpc>
                <a:spcPts val="2805"/>
              </a:lnSpc>
              <a:buSzPct val="100000"/>
              <a:buChar char="•"/>
            </a:pPr>
            <a:r>
              <a:rPr lang="en-US" sz="1753" dirty="0">
                <a:solidFill>
                  <a:srgbClr val="D6E5EF"/>
                </a:solidFill>
                <a:latin typeface="Source Sans Pro" pitchFamily="34" charset="0"/>
                <a:ea typeface="Source Sans Pro" pitchFamily="34" charset="-122"/>
                <a:cs typeface="Source Sans Pro" pitchFamily="34" charset="-120"/>
              </a:rPr>
              <a:t>Optimization for Machine Learning by Suvrit Sra</a:t>
            </a:r>
            <a:endParaRPr lang="en-US" sz="1753" dirty="0"/>
          </a:p>
        </p:txBody>
      </p:sp>
      <p:sp>
        <p:nvSpPr>
          <p:cNvPr id="14" name="Text 12"/>
          <p:cNvSpPr/>
          <p:nvPr/>
        </p:nvSpPr>
        <p:spPr>
          <a:xfrm>
            <a:off x="7401282" y="7029647"/>
            <a:ext cx="6394133" cy="353616"/>
          </a:xfrm>
          <a:prstGeom prst="rect">
            <a:avLst/>
          </a:prstGeom>
          <a:noFill/>
          <a:ln/>
        </p:spPr>
        <p:txBody>
          <a:bodyPr wrap="none" rtlCol="0" anchor="t"/>
          <a:lstStyle/>
          <a:p>
            <a:pPr marL="342900" indent="-342900" algn="l">
              <a:lnSpc>
                <a:spcPts val="2805"/>
              </a:lnSpc>
              <a:buSzPct val="100000"/>
              <a:buChar char="•"/>
            </a:pPr>
            <a:r>
              <a:rPr lang="en-US" sz="1753" dirty="0">
                <a:solidFill>
                  <a:srgbClr val="D6E5EF"/>
                </a:solidFill>
                <a:latin typeface="Source Sans Pro" pitchFamily="34" charset="0"/>
                <a:ea typeface="Source Sans Pro" pitchFamily="34" charset="-122"/>
                <a:cs typeface="Source Sans Pro" pitchFamily="34" charset="-120"/>
              </a:rPr>
              <a:t>Introduction to Evolutionary Computing by A.E. Eiben and J.E. Smith</a:t>
            </a:r>
            <a:endParaRPr lang="en-US" sz="1753" dirty="0"/>
          </a:p>
        </p:txBody>
      </p:sp>
      <p:pic>
        <p:nvPicPr>
          <p:cNvPr id="15" name="Image 0" descr="preencoded.png"/>
          <p:cNvPicPr>
            <a:picLocks noChangeAspect="1"/>
          </p:cNvPicPr>
          <p:nvPr/>
        </p:nvPicPr>
        <p:blipFill>
          <a:blip r:embed="rId3"/>
          <a:stretch>
            <a:fillRect/>
          </a:stretch>
        </p:blipFill>
        <p:spPr>
          <a:xfrm>
            <a:off x="0" y="0"/>
            <a:ext cx="5486400" cy="816908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938</Words>
  <Application>Microsoft Office PowerPoint</Application>
  <PresentationFormat>Custom</PresentationFormat>
  <Paragraphs>90</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Lora</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Halyna Melnyk</cp:lastModifiedBy>
  <cp:revision>1</cp:revision>
  <dcterms:created xsi:type="dcterms:W3CDTF">2023-07-28T15:16:15Z</dcterms:created>
  <dcterms:modified xsi:type="dcterms:W3CDTF">2023-07-28T15:17:39Z</dcterms:modified>
</cp:coreProperties>
</file>