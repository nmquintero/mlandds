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yna Melnyk" userId="3a0791cb-340d-4bb0-af37-0c0723bf166e" providerId="ADAL" clId="{A2767167-E3DA-4747-B2A8-BC41A77D9F07}"/>
    <pc:docChg chg="custSel modSld">
      <pc:chgData name="Halyna Melnyk" userId="3a0791cb-340d-4bb0-af37-0c0723bf166e" providerId="ADAL" clId="{A2767167-E3DA-4747-B2A8-BC41A77D9F07}" dt="2023-07-21T13:45:15.233" v="11" actId="478"/>
      <pc:docMkLst>
        <pc:docMk/>
      </pc:docMkLst>
      <pc:sldChg chg="delSp mod">
        <pc:chgData name="Halyna Melnyk" userId="3a0791cb-340d-4bb0-af37-0c0723bf166e" providerId="ADAL" clId="{A2767167-E3DA-4747-B2A8-BC41A77D9F07}" dt="2023-07-21T13:44:38.199" v="0" actId="478"/>
        <pc:sldMkLst>
          <pc:docMk/>
          <pc:sldMk cId="0" sldId="256"/>
        </pc:sldMkLst>
        <pc:picChg chg="del">
          <ac:chgData name="Halyna Melnyk" userId="3a0791cb-340d-4bb0-af37-0c0723bf166e" providerId="ADAL" clId="{A2767167-E3DA-4747-B2A8-BC41A77D9F07}" dt="2023-07-21T13:44:38.199" v="0" actId="478"/>
          <ac:picMkLst>
            <pc:docMk/>
            <pc:sldMk cId="0" sldId="256"/>
            <ac:picMk id="7" creationId="{00000000-0000-0000-0000-000000000000}"/>
          </ac:picMkLst>
        </pc:picChg>
      </pc:sldChg>
      <pc:sldChg chg="delSp mod">
        <pc:chgData name="Halyna Melnyk" userId="3a0791cb-340d-4bb0-af37-0c0723bf166e" providerId="ADAL" clId="{A2767167-E3DA-4747-B2A8-BC41A77D9F07}" dt="2023-07-21T13:44:42.295" v="1" actId="478"/>
        <pc:sldMkLst>
          <pc:docMk/>
          <pc:sldMk cId="0" sldId="257"/>
        </pc:sldMkLst>
        <pc:picChg chg="del">
          <ac:chgData name="Halyna Melnyk" userId="3a0791cb-340d-4bb0-af37-0c0723bf166e" providerId="ADAL" clId="{A2767167-E3DA-4747-B2A8-BC41A77D9F07}" dt="2023-07-21T13:44:42.295" v="1" actId="478"/>
          <ac:picMkLst>
            <pc:docMk/>
            <pc:sldMk cId="0" sldId="257"/>
            <ac:picMk id="26" creationId="{00000000-0000-0000-0000-000000000000}"/>
          </ac:picMkLst>
        </pc:picChg>
      </pc:sldChg>
      <pc:sldChg chg="delSp mod">
        <pc:chgData name="Halyna Melnyk" userId="3a0791cb-340d-4bb0-af37-0c0723bf166e" providerId="ADAL" clId="{A2767167-E3DA-4747-B2A8-BC41A77D9F07}" dt="2023-07-21T13:44:45.604" v="2" actId="478"/>
        <pc:sldMkLst>
          <pc:docMk/>
          <pc:sldMk cId="0" sldId="258"/>
        </pc:sldMkLst>
        <pc:picChg chg="del">
          <ac:chgData name="Halyna Melnyk" userId="3a0791cb-340d-4bb0-af37-0c0723bf166e" providerId="ADAL" clId="{A2767167-E3DA-4747-B2A8-BC41A77D9F07}" dt="2023-07-21T13:44:45.604" v="2" actId="478"/>
          <ac:picMkLst>
            <pc:docMk/>
            <pc:sldMk cId="0" sldId="258"/>
            <ac:picMk id="17" creationId="{00000000-0000-0000-0000-000000000000}"/>
          </ac:picMkLst>
        </pc:picChg>
      </pc:sldChg>
      <pc:sldChg chg="delSp mod">
        <pc:chgData name="Halyna Melnyk" userId="3a0791cb-340d-4bb0-af37-0c0723bf166e" providerId="ADAL" clId="{A2767167-E3DA-4747-B2A8-BC41A77D9F07}" dt="2023-07-21T13:44:48.217" v="3" actId="478"/>
        <pc:sldMkLst>
          <pc:docMk/>
          <pc:sldMk cId="0" sldId="259"/>
        </pc:sldMkLst>
        <pc:picChg chg="del">
          <ac:chgData name="Halyna Melnyk" userId="3a0791cb-340d-4bb0-af37-0c0723bf166e" providerId="ADAL" clId="{A2767167-E3DA-4747-B2A8-BC41A77D9F07}" dt="2023-07-21T13:44:48.217" v="3" actId="478"/>
          <ac:picMkLst>
            <pc:docMk/>
            <pc:sldMk cId="0" sldId="259"/>
            <ac:picMk id="17" creationId="{00000000-0000-0000-0000-000000000000}"/>
          </ac:picMkLst>
        </pc:picChg>
      </pc:sldChg>
      <pc:sldChg chg="delSp mod">
        <pc:chgData name="Halyna Melnyk" userId="3a0791cb-340d-4bb0-af37-0c0723bf166e" providerId="ADAL" clId="{A2767167-E3DA-4747-B2A8-BC41A77D9F07}" dt="2023-07-21T13:44:51.260" v="4" actId="478"/>
        <pc:sldMkLst>
          <pc:docMk/>
          <pc:sldMk cId="0" sldId="260"/>
        </pc:sldMkLst>
        <pc:picChg chg="del">
          <ac:chgData name="Halyna Melnyk" userId="3a0791cb-340d-4bb0-af37-0c0723bf166e" providerId="ADAL" clId="{A2767167-E3DA-4747-B2A8-BC41A77D9F07}" dt="2023-07-21T13:44:51.260" v="4" actId="478"/>
          <ac:picMkLst>
            <pc:docMk/>
            <pc:sldMk cId="0" sldId="260"/>
            <ac:picMk id="21" creationId="{00000000-0000-0000-0000-000000000000}"/>
          </ac:picMkLst>
        </pc:picChg>
      </pc:sldChg>
      <pc:sldChg chg="delSp mod">
        <pc:chgData name="Halyna Melnyk" userId="3a0791cb-340d-4bb0-af37-0c0723bf166e" providerId="ADAL" clId="{A2767167-E3DA-4747-B2A8-BC41A77D9F07}" dt="2023-07-21T13:44:54.728" v="5" actId="478"/>
        <pc:sldMkLst>
          <pc:docMk/>
          <pc:sldMk cId="0" sldId="261"/>
        </pc:sldMkLst>
        <pc:picChg chg="del">
          <ac:chgData name="Halyna Melnyk" userId="3a0791cb-340d-4bb0-af37-0c0723bf166e" providerId="ADAL" clId="{A2767167-E3DA-4747-B2A8-BC41A77D9F07}" dt="2023-07-21T13:44:54.728" v="5" actId="478"/>
          <ac:picMkLst>
            <pc:docMk/>
            <pc:sldMk cId="0" sldId="261"/>
            <ac:picMk id="11" creationId="{00000000-0000-0000-0000-000000000000}"/>
          </ac:picMkLst>
        </pc:picChg>
      </pc:sldChg>
      <pc:sldChg chg="delSp mod">
        <pc:chgData name="Halyna Melnyk" userId="3a0791cb-340d-4bb0-af37-0c0723bf166e" providerId="ADAL" clId="{A2767167-E3DA-4747-B2A8-BC41A77D9F07}" dt="2023-07-21T13:44:58.645" v="6" actId="478"/>
        <pc:sldMkLst>
          <pc:docMk/>
          <pc:sldMk cId="0" sldId="262"/>
        </pc:sldMkLst>
        <pc:picChg chg="del">
          <ac:chgData name="Halyna Melnyk" userId="3a0791cb-340d-4bb0-af37-0c0723bf166e" providerId="ADAL" clId="{A2767167-E3DA-4747-B2A8-BC41A77D9F07}" dt="2023-07-21T13:44:58.645" v="6" actId="478"/>
          <ac:picMkLst>
            <pc:docMk/>
            <pc:sldMk cId="0" sldId="262"/>
            <ac:picMk id="18" creationId="{00000000-0000-0000-0000-000000000000}"/>
          </ac:picMkLst>
        </pc:picChg>
      </pc:sldChg>
      <pc:sldChg chg="delSp mod">
        <pc:chgData name="Halyna Melnyk" userId="3a0791cb-340d-4bb0-af37-0c0723bf166e" providerId="ADAL" clId="{A2767167-E3DA-4747-B2A8-BC41A77D9F07}" dt="2023-07-21T13:45:03.040" v="7" actId="478"/>
        <pc:sldMkLst>
          <pc:docMk/>
          <pc:sldMk cId="0" sldId="263"/>
        </pc:sldMkLst>
        <pc:picChg chg="del">
          <ac:chgData name="Halyna Melnyk" userId="3a0791cb-340d-4bb0-af37-0c0723bf166e" providerId="ADAL" clId="{A2767167-E3DA-4747-B2A8-BC41A77D9F07}" dt="2023-07-21T13:45:03.040" v="7" actId="478"/>
          <ac:picMkLst>
            <pc:docMk/>
            <pc:sldMk cId="0" sldId="263"/>
            <ac:picMk id="14" creationId="{00000000-0000-0000-0000-000000000000}"/>
          </ac:picMkLst>
        </pc:picChg>
      </pc:sldChg>
      <pc:sldChg chg="delSp mod">
        <pc:chgData name="Halyna Melnyk" userId="3a0791cb-340d-4bb0-af37-0c0723bf166e" providerId="ADAL" clId="{A2767167-E3DA-4747-B2A8-BC41A77D9F07}" dt="2023-07-21T13:45:07.213" v="8" actId="478"/>
        <pc:sldMkLst>
          <pc:docMk/>
          <pc:sldMk cId="0" sldId="264"/>
        </pc:sldMkLst>
        <pc:picChg chg="del">
          <ac:chgData name="Halyna Melnyk" userId="3a0791cb-340d-4bb0-af37-0c0723bf166e" providerId="ADAL" clId="{A2767167-E3DA-4747-B2A8-BC41A77D9F07}" dt="2023-07-21T13:45:07.213" v="8" actId="478"/>
          <ac:picMkLst>
            <pc:docMk/>
            <pc:sldMk cId="0" sldId="264"/>
            <ac:picMk id="21" creationId="{00000000-0000-0000-0000-000000000000}"/>
          </ac:picMkLst>
        </pc:picChg>
      </pc:sldChg>
      <pc:sldChg chg="delSp modSp mod">
        <pc:chgData name="Halyna Melnyk" userId="3a0791cb-340d-4bb0-af37-0c0723bf166e" providerId="ADAL" clId="{A2767167-E3DA-4747-B2A8-BC41A77D9F07}" dt="2023-07-21T13:45:11.125" v="10" actId="478"/>
        <pc:sldMkLst>
          <pc:docMk/>
          <pc:sldMk cId="0" sldId="265"/>
        </pc:sldMkLst>
        <pc:picChg chg="del mod">
          <ac:chgData name="Halyna Melnyk" userId="3a0791cb-340d-4bb0-af37-0c0723bf166e" providerId="ADAL" clId="{A2767167-E3DA-4747-B2A8-BC41A77D9F07}" dt="2023-07-21T13:45:11.125" v="10" actId="478"/>
          <ac:picMkLst>
            <pc:docMk/>
            <pc:sldMk cId="0" sldId="265"/>
            <ac:picMk id="14" creationId="{00000000-0000-0000-0000-000000000000}"/>
          </ac:picMkLst>
        </pc:picChg>
      </pc:sldChg>
      <pc:sldChg chg="delSp mod">
        <pc:chgData name="Halyna Melnyk" userId="3a0791cb-340d-4bb0-af37-0c0723bf166e" providerId="ADAL" clId="{A2767167-E3DA-4747-B2A8-BC41A77D9F07}" dt="2023-07-21T13:45:15.233" v="11" actId="478"/>
        <pc:sldMkLst>
          <pc:docMk/>
          <pc:sldMk cId="0" sldId="266"/>
        </pc:sldMkLst>
        <pc:picChg chg="del">
          <ac:chgData name="Halyna Melnyk" userId="3a0791cb-340d-4bb0-af37-0c0723bf166e" providerId="ADAL" clId="{A2767167-E3DA-4747-B2A8-BC41A77D9F07}" dt="2023-07-21T13:45:15.233" v="11" actId="478"/>
          <ac:picMkLst>
            <pc:docMk/>
            <pc:sldMk cId="0" sldId="266"/>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325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362086"/>
            <a:ext cx="7373541" cy="1827881"/>
          </a:xfrm>
          <a:prstGeom prst="rect">
            <a:avLst/>
          </a:prstGeom>
          <a:noFill/>
          <a:ln/>
        </p:spPr>
        <p:txBody>
          <a:bodyPr wrap="square" rtlCol="0" anchor="t"/>
          <a:lstStyle/>
          <a:p>
            <a:pPr marL="0" indent="0">
              <a:lnSpc>
                <a:spcPts val="7250"/>
              </a:lnSpc>
              <a:buNone/>
            </a:pPr>
            <a:r>
              <a:rPr lang="en-US" sz="5577" dirty="0">
                <a:solidFill>
                  <a:srgbClr val="6EB9FC"/>
                </a:solidFill>
                <a:latin typeface="Lora" pitchFamily="34" charset="0"/>
                <a:ea typeface="Lora" pitchFamily="34" charset="-122"/>
                <a:cs typeface="Lora" pitchFamily="34" charset="-120"/>
              </a:rPr>
              <a:t>Introduction to Artificial Intelligence</a:t>
            </a:r>
            <a:endParaRPr lang="en-US" sz="5577" dirty="0"/>
          </a:p>
        </p:txBody>
      </p:sp>
      <p:sp>
        <p:nvSpPr>
          <p:cNvPr id="5" name="Text 3"/>
          <p:cNvSpPr/>
          <p:nvPr/>
        </p:nvSpPr>
        <p:spPr>
          <a:xfrm>
            <a:off x="885230" y="4541455"/>
            <a:ext cx="7373541"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Welcome to the exciting world of Artificial Intelligence! Discover the wonders of AI, explore its various types, approaches and applications, and learn about the ethical considerations and future of AI</a:t>
            </a:r>
            <a:endParaRPr lang="en-US" sz="1859" dirty="0"/>
          </a:p>
        </p:txBody>
      </p:sp>
      <p:pic>
        <p:nvPicPr>
          <p:cNvPr id="6" name="Image 0" descr="preencoded.png"/>
          <p:cNvPicPr>
            <a:picLocks noChangeAspect="1"/>
          </p:cNvPicPr>
          <p:nvPr/>
        </p:nvPicPr>
        <p:blipFill>
          <a:blip r:embed="rId3"/>
          <a:stretch>
            <a:fillRect/>
          </a:stretch>
        </p:blipFill>
        <p:spPr>
          <a:xfrm>
            <a:off x="9144000" y="0"/>
            <a:ext cx="5486400" cy="8169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671393" y="490122"/>
            <a:ext cx="6240780" cy="577698"/>
          </a:xfrm>
          <a:prstGeom prst="rect">
            <a:avLst/>
          </a:prstGeom>
          <a:noFill/>
          <a:ln/>
        </p:spPr>
        <p:txBody>
          <a:bodyPr wrap="none" rtlCol="0" anchor="t"/>
          <a:lstStyle/>
          <a:p>
            <a:pPr marL="0" indent="0">
              <a:lnSpc>
                <a:spcPts val="4582"/>
              </a:lnSpc>
              <a:buNone/>
            </a:pPr>
            <a:r>
              <a:rPr lang="en-US" sz="3525" dirty="0">
                <a:solidFill>
                  <a:srgbClr val="6EB9FC"/>
                </a:solidFill>
                <a:latin typeface="Lora" pitchFamily="34" charset="0"/>
                <a:ea typeface="Lora" pitchFamily="34" charset="-122"/>
                <a:cs typeface="Lora" pitchFamily="34" charset="-120"/>
              </a:rPr>
              <a:t>Types of Artificial Intelligence</a:t>
            </a:r>
            <a:endParaRPr lang="en-US" sz="3525" dirty="0"/>
          </a:p>
        </p:txBody>
      </p:sp>
      <p:sp>
        <p:nvSpPr>
          <p:cNvPr id="5" name="Shape 3"/>
          <p:cNvSpPr/>
          <p:nvPr/>
        </p:nvSpPr>
        <p:spPr>
          <a:xfrm>
            <a:off x="932259" y="1458783"/>
            <a:ext cx="15240" cy="6220066"/>
          </a:xfrm>
          <a:prstGeom prst="rect">
            <a:avLst/>
          </a:prstGeom>
          <a:solidFill>
            <a:srgbClr val="6EB9FC"/>
          </a:solidFill>
          <a:ln/>
        </p:spPr>
      </p:sp>
      <p:sp>
        <p:nvSpPr>
          <p:cNvPr id="6" name="Shape 4"/>
          <p:cNvSpPr/>
          <p:nvPr/>
        </p:nvSpPr>
        <p:spPr>
          <a:xfrm>
            <a:off x="1141274" y="1817598"/>
            <a:ext cx="626626" cy="15128"/>
          </a:xfrm>
          <a:prstGeom prst="rect">
            <a:avLst/>
          </a:prstGeom>
          <a:solidFill>
            <a:srgbClr val="6EB9FC"/>
          </a:solidFill>
          <a:ln/>
        </p:spPr>
      </p:sp>
      <p:sp>
        <p:nvSpPr>
          <p:cNvPr id="7" name="Shape 5"/>
          <p:cNvSpPr/>
          <p:nvPr/>
        </p:nvSpPr>
        <p:spPr>
          <a:xfrm>
            <a:off x="738485" y="1625308"/>
            <a:ext cx="402788" cy="399827"/>
          </a:xfrm>
          <a:prstGeom prst="roundRect">
            <a:avLst>
              <a:gd name="adj" fmla="val 13435"/>
            </a:avLst>
          </a:prstGeom>
          <a:solidFill>
            <a:srgbClr val="2F3343"/>
          </a:solidFill>
          <a:ln/>
        </p:spPr>
      </p:sp>
      <p:sp>
        <p:nvSpPr>
          <p:cNvPr id="8" name="Text 6"/>
          <p:cNvSpPr/>
          <p:nvPr/>
        </p:nvSpPr>
        <p:spPr>
          <a:xfrm>
            <a:off x="890290" y="1651900"/>
            <a:ext cx="99060" cy="346524"/>
          </a:xfrm>
          <a:prstGeom prst="rect">
            <a:avLst/>
          </a:prstGeom>
          <a:noFill/>
          <a:ln/>
        </p:spPr>
        <p:txBody>
          <a:bodyPr wrap="none" rtlCol="0" anchor="t"/>
          <a:lstStyle/>
          <a:p>
            <a:pPr marL="0" indent="0" algn="ctr">
              <a:lnSpc>
                <a:spcPts val="2749"/>
              </a:lnSpc>
              <a:buNone/>
            </a:pPr>
            <a:r>
              <a:rPr lang="en-US" sz="2115" dirty="0">
                <a:solidFill>
                  <a:srgbClr val="6EB9FC"/>
                </a:solidFill>
                <a:latin typeface="Lora" pitchFamily="34" charset="0"/>
                <a:ea typeface="Lora" pitchFamily="34" charset="-122"/>
                <a:cs typeface="Lora" pitchFamily="34" charset="-120"/>
              </a:rPr>
              <a:t>1</a:t>
            </a:r>
            <a:endParaRPr lang="en-US" sz="2115" dirty="0"/>
          </a:p>
        </p:txBody>
      </p:sp>
      <p:sp>
        <p:nvSpPr>
          <p:cNvPr id="9" name="Text 7"/>
          <p:cNvSpPr/>
          <p:nvPr/>
        </p:nvSpPr>
        <p:spPr>
          <a:xfrm>
            <a:off x="1924645" y="1636418"/>
            <a:ext cx="1943100" cy="288849"/>
          </a:xfrm>
          <a:prstGeom prst="rect">
            <a:avLst/>
          </a:prstGeom>
          <a:noFill/>
          <a:ln/>
        </p:spPr>
        <p:txBody>
          <a:bodyPr wrap="none" rtlCol="0" anchor="t"/>
          <a:lstStyle/>
          <a:p>
            <a:pPr marL="0" indent="0" algn="l">
              <a:lnSpc>
                <a:spcPts val="2291"/>
              </a:lnSpc>
              <a:buNone/>
            </a:pPr>
            <a:r>
              <a:rPr lang="en-US" sz="1762" dirty="0">
                <a:solidFill>
                  <a:srgbClr val="6EB9FC"/>
                </a:solidFill>
                <a:latin typeface="Lora" pitchFamily="34" charset="0"/>
                <a:ea typeface="Lora" pitchFamily="34" charset="-122"/>
                <a:cs typeface="Lora" pitchFamily="34" charset="-120"/>
              </a:rPr>
              <a:t>Reactive Machines</a:t>
            </a:r>
            <a:endParaRPr lang="en-US" sz="1762" dirty="0"/>
          </a:p>
        </p:txBody>
      </p:sp>
      <p:sp>
        <p:nvSpPr>
          <p:cNvPr id="10" name="Text 8"/>
          <p:cNvSpPr/>
          <p:nvPr/>
        </p:nvSpPr>
        <p:spPr>
          <a:xfrm>
            <a:off x="1924645" y="2085174"/>
            <a:ext cx="12034361" cy="319932"/>
          </a:xfrm>
          <a:prstGeom prst="rect">
            <a:avLst/>
          </a:prstGeom>
          <a:noFill/>
          <a:ln/>
        </p:spPr>
        <p:txBody>
          <a:bodyPr wrap="none" rtlCol="0" anchor="t"/>
          <a:lstStyle/>
          <a:p>
            <a:pPr marL="0" indent="0" algn="l">
              <a:lnSpc>
                <a:spcPts val="2538"/>
              </a:lnSpc>
              <a:buNone/>
            </a:pPr>
            <a:r>
              <a:rPr lang="en-US" sz="1410" dirty="0">
                <a:solidFill>
                  <a:srgbClr val="D6E5EF"/>
                </a:solidFill>
                <a:latin typeface="Source Sans Pro" pitchFamily="34" charset="0"/>
                <a:ea typeface="Source Sans Pro" pitchFamily="34" charset="-122"/>
                <a:cs typeface="Source Sans Pro" pitchFamily="34" charset="-120"/>
              </a:rPr>
              <a:t>React to different situations but cannot learn from experience. Examples include IBM Deep Blue.</a:t>
            </a:r>
            <a:endParaRPr lang="en-US" sz="1410" dirty="0"/>
          </a:p>
        </p:txBody>
      </p:sp>
      <p:sp>
        <p:nvSpPr>
          <p:cNvPr id="11" name="Shape 9"/>
          <p:cNvSpPr/>
          <p:nvPr/>
        </p:nvSpPr>
        <p:spPr>
          <a:xfrm>
            <a:off x="1141274" y="3417024"/>
            <a:ext cx="626626" cy="15128"/>
          </a:xfrm>
          <a:prstGeom prst="rect">
            <a:avLst/>
          </a:prstGeom>
          <a:solidFill>
            <a:srgbClr val="6EB9FC"/>
          </a:solidFill>
          <a:ln/>
        </p:spPr>
      </p:sp>
      <p:sp>
        <p:nvSpPr>
          <p:cNvPr id="12" name="Shape 10"/>
          <p:cNvSpPr/>
          <p:nvPr/>
        </p:nvSpPr>
        <p:spPr>
          <a:xfrm>
            <a:off x="738485" y="3224733"/>
            <a:ext cx="402788" cy="399827"/>
          </a:xfrm>
          <a:prstGeom prst="roundRect">
            <a:avLst>
              <a:gd name="adj" fmla="val 13435"/>
            </a:avLst>
          </a:prstGeom>
          <a:solidFill>
            <a:srgbClr val="2F3343"/>
          </a:solidFill>
          <a:ln/>
        </p:spPr>
      </p:sp>
      <p:sp>
        <p:nvSpPr>
          <p:cNvPr id="13" name="Text 11"/>
          <p:cNvSpPr/>
          <p:nvPr/>
        </p:nvSpPr>
        <p:spPr>
          <a:xfrm>
            <a:off x="867430" y="3251325"/>
            <a:ext cx="144780" cy="346524"/>
          </a:xfrm>
          <a:prstGeom prst="rect">
            <a:avLst/>
          </a:prstGeom>
          <a:noFill/>
          <a:ln/>
        </p:spPr>
        <p:txBody>
          <a:bodyPr wrap="none" rtlCol="0" anchor="t"/>
          <a:lstStyle/>
          <a:p>
            <a:pPr marL="0" indent="0" algn="ctr">
              <a:lnSpc>
                <a:spcPts val="2749"/>
              </a:lnSpc>
              <a:buNone/>
            </a:pPr>
            <a:r>
              <a:rPr lang="en-US" sz="2115" dirty="0">
                <a:solidFill>
                  <a:srgbClr val="6EB9FC"/>
                </a:solidFill>
                <a:latin typeface="Lora" pitchFamily="34" charset="0"/>
                <a:ea typeface="Lora" pitchFamily="34" charset="-122"/>
                <a:cs typeface="Lora" pitchFamily="34" charset="-120"/>
              </a:rPr>
              <a:t>2</a:t>
            </a:r>
            <a:endParaRPr lang="en-US" sz="2115" dirty="0"/>
          </a:p>
        </p:txBody>
      </p:sp>
      <p:sp>
        <p:nvSpPr>
          <p:cNvPr id="14" name="Text 12"/>
          <p:cNvSpPr/>
          <p:nvPr/>
        </p:nvSpPr>
        <p:spPr>
          <a:xfrm>
            <a:off x="1924645" y="3235843"/>
            <a:ext cx="1790462" cy="288849"/>
          </a:xfrm>
          <a:prstGeom prst="rect">
            <a:avLst/>
          </a:prstGeom>
          <a:noFill/>
          <a:ln/>
        </p:spPr>
        <p:txBody>
          <a:bodyPr wrap="none" rtlCol="0" anchor="t"/>
          <a:lstStyle/>
          <a:p>
            <a:pPr marL="0" indent="0" algn="l">
              <a:lnSpc>
                <a:spcPts val="2291"/>
              </a:lnSpc>
              <a:buNone/>
            </a:pPr>
            <a:r>
              <a:rPr lang="en-US" sz="1762" dirty="0">
                <a:solidFill>
                  <a:srgbClr val="6EB9FC"/>
                </a:solidFill>
                <a:latin typeface="Lora" pitchFamily="34" charset="0"/>
                <a:ea typeface="Lora" pitchFamily="34" charset="-122"/>
                <a:cs typeface="Lora" pitchFamily="34" charset="-120"/>
              </a:rPr>
              <a:t>Limited Memory</a:t>
            </a:r>
            <a:endParaRPr lang="en-US" sz="1762" dirty="0"/>
          </a:p>
        </p:txBody>
      </p:sp>
      <p:sp>
        <p:nvSpPr>
          <p:cNvPr id="15" name="Text 13"/>
          <p:cNvSpPr/>
          <p:nvPr/>
        </p:nvSpPr>
        <p:spPr>
          <a:xfrm>
            <a:off x="1924645" y="3684599"/>
            <a:ext cx="12034361" cy="319932"/>
          </a:xfrm>
          <a:prstGeom prst="rect">
            <a:avLst/>
          </a:prstGeom>
          <a:noFill/>
          <a:ln/>
        </p:spPr>
        <p:txBody>
          <a:bodyPr wrap="none" rtlCol="0" anchor="t"/>
          <a:lstStyle/>
          <a:p>
            <a:pPr marL="0" indent="0" algn="l">
              <a:lnSpc>
                <a:spcPts val="2538"/>
              </a:lnSpc>
              <a:buNone/>
            </a:pPr>
            <a:r>
              <a:rPr lang="en-US" sz="1410" dirty="0">
                <a:solidFill>
                  <a:srgbClr val="D6E5EF"/>
                </a:solidFill>
                <a:latin typeface="Source Sans Pro" pitchFamily="34" charset="0"/>
                <a:ea typeface="Source Sans Pro" pitchFamily="34" charset="-122"/>
                <a:cs typeface="Source Sans Pro" pitchFamily="34" charset="-120"/>
              </a:rPr>
              <a:t>Uses data from the past to make decisions. Examples include self-driving cars.</a:t>
            </a:r>
            <a:endParaRPr lang="en-US" sz="1410" dirty="0"/>
          </a:p>
        </p:txBody>
      </p:sp>
      <p:sp>
        <p:nvSpPr>
          <p:cNvPr id="16" name="Shape 14"/>
          <p:cNvSpPr/>
          <p:nvPr/>
        </p:nvSpPr>
        <p:spPr>
          <a:xfrm>
            <a:off x="1141274" y="5016449"/>
            <a:ext cx="626626" cy="15128"/>
          </a:xfrm>
          <a:prstGeom prst="rect">
            <a:avLst/>
          </a:prstGeom>
          <a:solidFill>
            <a:srgbClr val="6EB9FC"/>
          </a:solidFill>
          <a:ln/>
        </p:spPr>
      </p:sp>
      <p:sp>
        <p:nvSpPr>
          <p:cNvPr id="17" name="Shape 15"/>
          <p:cNvSpPr/>
          <p:nvPr/>
        </p:nvSpPr>
        <p:spPr>
          <a:xfrm>
            <a:off x="738485" y="4824159"/>
            <a:ext cx="402788" cy="399827"/>
          </a:xfrm>
          <a:prstGeom prst="roundRect">
            <a:avLst>
              <a:gd name="adj" fmla="val 13435"/>
            </a:avLst>
          </a:prstGeom>
          <a:solidFill>
            <a:srgbClr val="2F3343"/>
          </a:solidFill>
          <a:ln/>
        </p:spPr>
      </p:sp>
      <p:sp>
        <p:nvSpPr>
          <p:cNvPr id="18" name="Text 16"/>
          <p:cNvSpPr/>
          <p:nvPr/>
        </p:nvSpPr>
        <p:spPr>
          <a:xfrm>
            <a:off x="863620" y="4850751"/>
            <a:ext cx="152400" cy="346524"/>
          </a:xfrm>
          <a:prstGeom prst="rect">
            <a:avLst/>
          </a:prstGeom>
          <a:noFill/>
          <a:ln/>
        </p:spPr>
        <p:txBody>
          <a:bodyPr wrap="none" rtlCol="0" anchor="t"/>
          <a:lstStyle/>
          <a:p>
            <a:pPr marL="0" indent="0" algn="ctr">
              <a:lnSpc>
                <a:spcPts val="2749"/>
              </a:lnSpc>
              <a:buNone/>
            </a:pPr>
            <a:r>
              <a:rPr lang="en-US" sz="2115" dirty="0">
                <a:solidFill>
                  <a:srgbClr val="6EB9FC"/>
                </a:solidFill>
                <a:latin typeface="Lora" pitchFamily="34" charset="0"/>
                <a:ea typeface="Lora" pitchFamily="34" charset="-122"/>
                <a:cs typeface="Lora" pitchFamily="34" charset="-120"/>
              </a:rPr>
              <a:t>3</a:t>
            </a:r>
            <a:endParaRPr lang="en-US" sz="2115" dirty="0"/>
          </a:p>
        </p:txBody>
      </p:sp>
      <p:sp>
        <p:nvSpPr>
          <p:cNvPr id="19" name="Text 17"/>
          <p:cNvSpPr/>
          <p:nvPr/>
        </p:nvSpPr>
        <p:spPr>
          <a:xfrm>
            <a:off x="1924645" y="4835268"/>
            <a:ext cx="1897380" cy="288849"/>
          </a:xfrm>
          <a:prstGeom prst="rect">
            <a:avLst/>
          </a:prstGeom>
          <a:noFill/>
          <a:ln/>
        </p:spPr>
        <p:txBody>
          <a:bodyPr wrap="none" rtlCol="0" anchor="t"/>
          <a:lstStyle/>
          <a:p>
            <a:pPr marL="0" indent="0" algn="l">
              <a:lnSpc>
                <a:spcPts val="2291"/>
              </a:lnSpc>
              <a:buNone/>
            </a:pPr>
            <a:r>
              <a:rPr lang="en-US" sz="1762" dirty="0">
                <a:solidFill>
                  <a:srgbClr val="6EB9FC"/>
                </a:solidFill>
                <a:latin typeface="Lora" pitchFamily="34" charset="0"/>
                <a:ea typeface="Lora" pitchFamily="34" charset="-122"/>
                <a:cs typeface="Lora" pitchFamily="34" charset="-120"/>
              </a:rPr>
              <a:t>Theory of Mind AI</a:t>
            </a:r>
            <a:endParaRPr lang="en-US" sz="1762" dirty="0"/>
          </a:p>
        </p:txBody>
      </p:sp>
      <p:sp>
        <p:nvSpPr>
          <p:cNvPr id="20" name="Text 18"/>
          <p:cNvSpPr/>
          <p:nvPr/>
        </p:nvSpPr>
        <p:spPr>
          <a:xfrm>
            <a:off x="1924645" y="5284024"/>
            <a:ext cx="12034361" cy="319932"/>
          </a:xfrm>
          <a:prstGeom prst="rect">
            <a:avLst/>
          </a:prstGeom>
          <a:noFill/>
          <a:ln/>
        </p:spPr>
        <p:txBody>
          <a:bodyPr wrap="none" rtlCol="0" anchor="t"/>
          <a:lstStyle/>
          <a:p>
            <a:pPr marL="0" indent="0" algn="l">
              <a:lnSpc>
                <a:spcPts val="2538"/>
              </a:lnSpc>
              <a:buNone/>
            </a:pPr>
            <a:r>
              <a:rPr lang="en-US" sz="1410" dirty="0">
                <a:solidFill>
                  <a:srgbClr val="D6E5EF"/>
                </a:solidFill>
                <a:latin typeface="Source Sans Pro" pitchFamily="34" charset="0"/>
                <a:ea typeface="Source Sans Pro" pitchFamily="34" charset="-122"/>
                <a:cs typeface="Source Sans Pro" pitchFamily="34" charset="-120"/>
              </a:rPr>
              <a:t>Can understand and react to emotions, beliefs, desires and intentions of others. Under current development.</a:t>
            </a:r>
            <a:endParaRPr lang="en-US" sz="1410" dirty="0"/>
          </a:p>
        </p:txBody>
      </p:sp>
      <p:sp>
        <p:nvSpPr>
          <p:cNvPr id="21" name="Shape 19"/>
          <p:cNvSpPr/>
          <p:nvPr/>
        </p:nvSpPr>
        <p:spPr>
          <a:xfrm>
            <a:off x="1141274" y="6615874"/>
            <a:ext cx="626626" cy="15128"/>
          </a:xfrm>
          <a:prstGeom prst="rect">
            <a:avLst/>
          </a:prstGeom>
          <a:solidFill>
            <a:srgbClr val="6EB9FC"/>
          </a:solidFill>
          <a:ln/>
        </p:spPr>
      </p:sp>
      <p:sp>
        <p:nvSpPr>
          <p:cNvPr id="22" name="Shape 20"/>
          <p:cNvSpPr/>
          <p:nvPr/>
        </p:nvSpPr>
        <p:spPr>
          <a:xfrm>
            <a:off x="738485" y="6423584"/>
            <a:ext cx="402788" cy="399827"/>
          </a:xfrm>
          <a:prstGeom prst="roundRect">
            <a:avLst>
              <a:gd name="adj" fmla="val 13435"/>
            </a:avLst>
          </a:prstGeom>
          <a:solidFill>
            <a:srgbClr val="2F3343"/>
          </a:solidFill>
          <a:ln/>
        </p:spPr>
      </p:sp>
      <p:sp>
        <p:nvSpPr>
          <p:cNvPr id="23" name="Text 21"/>
          <p:cNvSpPr/>
          <p:nvPr/>
        </p:nvSpPr>
        <p:spPr>
          <a:xfrm>
            <a:off x="867430" y="6450176"/>
            <a:ext cx="144780" cy="346524"/>
          </a:xfrm>
          <a:prstGeom prst="rect">
            <a:avLst/>
          </a:prstGeom>
          <a:noFill/>
          <a:ln/>
        </p:spPr>
        <p:txBody>
          <a:bodyPr wrap="none" rtlCol="0" anchor="t"/>
          <a:lstStyle/>
          <a:p>
            <a:pPr marL="0" indent="0" algn="ctr">
              <a:lnSpc>
                <a:spcPts val="2749"/>
              </a:lnSpc>
              <a:buNone/>
            </a:pPr>
            <a:r>
              <a:rPr lang="en-US" sz="2115" dirty="0">
                <a:solidFill>
                  <a:srgbClr val="6EB9FC"/>
                </a:solidFill>
                <a:latin typeface="Lora" pitchFamily="34" charset="0"/>
                <a:ea typeface="Lora" pitchFamily="34" charset="-122"/>
                <a:cs typeface="Lora" pitchFamily="34" charset="-120"/>
              </a:rPr>
              <a:t>4</a:t>
            </a:r>
            <a:endParaRPr lang="en-US" sz="2115" dirty="0"/>
          </a:p>
        </p:txBody>
      </p:sp>
      <p:sp>
        <p:nvSpPr>
          <p:cNvPr id="24" name="Text 22"/>
          <p:cNvSpPr/>
          <p:nvPr/>
        </p:nvSpPr>
        <p:spPr>
          <a:xfrm>
            <a:off x="1924645" y="6434693"/>
            <a:ext cx="1790462" cy="288849"/>
          </a:xfrm>
          <a:prstGeom prst="rect">
            <a:avLst/>
          </a:prstGeom>
          <a:noFill/>
          <a:ln/>
        </p:spPr>
        <p:txBody>
          <a:bodyPr wrap="none" rtlCol="0" anchor="t"/>
          <a:lstStyle/>
          <a:p>
            <a:pPr marL="0" indent="0" algn="l">
              <a:lnSpc>
                <a:spcPts val="2291"/>
              </a:lnSpc>
              <a:buNone/>
            </a:pPr>
            <a:r>
              <a:rPr lang="en-US" sz="1762" dirty="0">
                <a:solidFill>
                  <a:srgbClr val="6EB9FC"/>
                </a:solidFill>
                <a:latin typeface="Lora" pitchFamily="34" charset="0"/>
                <a:ea typeface="Lora" pitchFamily="34" charset="-122"/>
                <a:cs typeface="Lora" pitchFamily="34" charset="-120"/>
              </a:rPr>
              <a:t>Self-Aware AI</a:t>
            </a:r>
            <a:endParaRPr lang="en-US" sz="1762" dirty="0"/>
          </a:p>
        </p:txBody>
      </p:sp>
      <p:sp>
        <p:nvSpPr>
          <p:cNvPr id="25" name="Text 23"/>
          <p:cNvSpPr/>
          <p:nvPr/>
        </p:nvSpPr>
        <p:spPr>
          <a:xfrm>
            <a:off x="1924645" y="6883450"/>
            <a:ext cx="12034361" cy="319932"/>
          </a:xfrm>
          <a:prstGeom prst="rect">
            <a:avLst/>
          </a:prstGeom>
          <a:noFill/>
          <a:ln/>
        </p:spPr>
        <p:txBody>
          <a:bodyPr wrap="none" rtlCol="0" anchor="t"/>
          <a:lstStyle/>
          <a:p>
            <a:pPr marL="0" indent="0" algn="l">
              <a:lnSpc>
                <a:spcPts val="2538"/>
              </a:lnSpc>
              <a:buNone/>
            </a:pPr>
            <a:r>
              <a:rPr lang="en-US" sz="1410" dirty="0">
                <a:solidFill>
                  <a:srgbClr val="D6E5EF"/>
                </a:solidFill>
                <a:latin typeface="Source Sans Pro" pitchFamily="34" charset="0"/>
                <a:ea typeface="Source Sans Pro" pitchFamily="34" charset="-122"/>
                <a:cs typeface="Source Sans Pro" pitchFamily="34" charset="-120"/>
              </a:rPr>
              <a:t>Can think like humans and be conscious of their own existence. Only hypothetical at this point.</a:t>
            </a:r>
            <a:endParaRPr lang="en-US" sz="14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846909"/>
            <a:ext cx="840486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AI Techniques and Approaches</a:t>
            </a:r>
            <a:endParaRPr lang="en-US" sz="4647" dirty="0"/>
          </a:p>
        </p:txBody>
      </p:sp>
      <p:sp>
        <p:nvSpPr>
          <p:cNvPr id="5" name="Shape 3"/>
          <p:cNvSpPr/>
          <p:nvPr/>
        </p:nvSpPr>
        <p:spPr>
          <a:xfrm>
            <a:off x="885230" y="3124038"/>
            <a:ext cx="6311979" cy="1481947"/>
          </a:xfrm>
          <a:prstGeom prst="roundRect">
            <a:avLst>
              <a:gd name="adj" fmla="val 4779"/>
            </a:avLst>
          </a:prstGeom>
          <a:solidFill>
            <a:srgbClr val="2F3343"/>
          </a:solidFill>
          <a:ln/>
        </p:spPr>
      </p:sp>
      <p:sp>
        <p:nvSpPr>
          <p:cNvPr id="6" name="Text 4"/>
          <p:cNvSpPr/>
          <p:nvPr/>
        </p:nvSpPr>
        <p:spPr>
          <a:xfrm>
            <a:off x="1121212" y="3358285"/>
            <a:ext cx="248412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Machine Learning</a:t>
            </a:r>
            <a:endParaRPr lang="en-US" sz="2324" dirty="0"/>
          </a:p>
        </p:txBody>
      </p:sp>
      <p:sp>
        <p:nvSpPr>
          <p:cNvPr id="7" name="Text 5"/>
          <p:cNvSpPr/>
          <p:nvPr/>
        </p:nvSpPr>
        <p:spPr>
          <a:xfrm>
            <a:off x="1121212" y="3949929"/>
            <a:ext cx="5840016"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The process of automating analytical model building.</a:t>
            </a:r>
            <a:endParaRPr lang="en-US" sz="1859" dirty="0"/>
          </a:p>
        </p:txBody>
      </p:sp>
      <p:sp>
        <p:nvSpPr>
          <p:cNvPr id="8" name="Shape 6"/>
          <p:cNvSpPr/>
          <p:nvPr/>
        </p:nvSpPr>
        <p:spPr>
          <a:xfrm>
            <a:off x="7433191" y="3124038"/>
            <a:ext cx="6311979" cy="1481947"/>
          </a:xfrm>
          <a:prstGeom prst="roundRect">
            <a:avLst>
              <a:gd name="adj" fmla="val 4779"/>
            </a:avLst>
          </a:prstGeom>
          <a:solidFill>
            <a:srgbClr val="2F3343"/>
          </a:solidFill>
          <a:ln/>
        </p:spPr>
      </p:sp>
      <p:sp>
        <p:nvSpPr>
          <p:cNvPr id="9" name="Text 7"/>
          <p:cNvSpPr/>
          <p:nvPr/>
        </p:nvSpPr>
        <p:spPr>
          <a:xfrm>
            <a:off x="7669173" y="3358285"/>
            <a:ext cx="2360771"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Neural Network</a:t>
            </a:r>
            <a:endParaRPr lang="en-US" sz="2324" dirty="0"/>
          </a:p>
        </p:txBody>
      </p:sp>
      <p:sp>
        <p:nvSpPr>
          <p:cNvPr id="10" name="Text 8"/>
          <p:cNvSpPr/>
          <p:nvPr/>
        </p:nvSpPr>
        <p:spPr>
          <a:xfrm>
            <a:off x="7669173" y="3949929"/>
            <a:ext cx="5840016"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 group of algorithms for pattern recognition.</a:t>
            </a:r>
            <a:endParaRPr lang="en-US" sz="1859" dirty="0"/>
          </a:p>
        </p:txBody>
      </p:sp>
      <p:sp>
        <p:nvSpPr>
          <p:cNvPr id="11" name="Shape 9"/>
          <p:cNvSpPr/>
          <p:nvPr/>
        </p:nvSpPr>
        <p:spPr>
          <a:xfrm>
            <a:off x="885230" y="4840232"/>
            <a:ext cx="6311979" cy="1481947"/>
          </a:xfrm>
          <a:prstGeom prst="roundRect">
            <a:avLst>
              <a:gd name="adj" fmla="val 4779"/>
            </a:avLst>
          </a:prstGeom>
          <a:solidFill>
            <a:srgbClr val="2F3343"/>
          </a:solidFill>
          <a:ln/>
        </p:spPr>
      </p:sp>
      <p:sp>
        <p:nvSpPr>
          <p:cNvPr id="12" name="Text 10"/>
          <p:cNvSpPr/>
          <p:nvPr/>
        </p:nvSpPr>
        <p:spPr>
          <a:xfrm>
            <a:off x="1121212" y="5074479"/>
            <a:ext cx="400812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Natural Language Processing</a:t>
            </a:r>
            <a:endParaRPr lang="en-US" sz="2324" dirty="0"/>
          </a:p>
        </p:txBody>
      </p:sp>
      <p:sp>
        <p:nvSpPr>
          <p:cNvPr id="13" name="Text 11"/>
          <p:cNvSpPr/>
          <p:nvPr/>
        </p:nvSpPr>
        <p:spPr>
          <a:xfrm>
            <a:off x="1121212" y="5666123"/>
            <a:ext cx="5840016"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that can understand and interpret human language.</a:t>
            </a:r>
            <a:endParaRPr lang="en-US" sz="1859" dirty="0"/>
          </a:p>
        </p:txBody>
      </p:sp>
      <p:sp>
        <p:nvSpPr>
          <p:cNvPr id="14" name="Shape 12"/>
          <p:cNvSpPr/>
          <p:nvPr/>
        </p:nvSpPr>
        <p:spPr>
          <a:xfrm>
            <a:off x="7433191" y="4840232"/>
            <a:ext cx="6311979" cy="1481947"/>
          </a:xfrm>
          <a:prstGeom prst="roundRect">
            <a:avLst>
              <a:gd name="adj" fmla="val 4779"/>
            </a:avLst>
          </a:prstGeom>
          <a:solidFill>
            <a:srgbClr val="2F3343"/>
          </a:solidFill>
          <a:ln/>
        </p:spPr>
      </p:sp>
      <p:sp>
        <p:nvSpPr>
          <p:cNvPr id="15" name="Text 13"/>
          <p:cNvSpPr/>
          <p:nvPr/>
        </p:nvSpPr>
        <p:spPr>
          <a:xfrm>
            <a:off x="7669173" y="5074479"/>
            <a:ext cx="2360771"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Robotics</a:t>
            </a:r>
            <a:endParaRPr lang="en-US" sz="2324" dirty="0"/>
          </a:p>
        </p:txBody>
      </p:sp>
      <p:sp>
        <p:nvSpPr>
          <p:cNvPr id="16" name="Text 14"/>
          <p:cNvSpPr/>
          <p:nvPr/>
        </p:nvSpPr>
        <p:spPr>
          <a:xfrm>
            <a:off x="7669173" y="5666123"/>
            <a:ext cx="5840016"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 subfield of AI focused on developing intelligent robots.</a:t>
            </a:r>
            <a:endParaRPr lang="en-US" sz="185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17126" y="594835"/>
            <a:ext cx="7284720" cy="702977"/>
          </a:xfrm>
          <a:prstGeom prst="rect">
            <a:avLst/>
          </a:prstGeom>
          <a:noFill/>
          <a:ln/>
        </p:spPr>
        <p:txBody>
          <a:bodyPr wrap="none" rtlCol="0" anchor="t"/>
          <a:lstStyle/>
          <a:p>
            <a:pPr marL="0" indent="0">
              <a:lnSpc>
                <a:spcPts val="5577"/>
              </a:lnSpc>
              <a:buNone/>
            </a:pPr>
            <a:r>
              <a:rPr lang="en-US" sz="4290" dirty="0">
                <a:solidFill>
                  <a:srgbClr val="6EB9FC"/>
                </a:solidFill>
                <a:latin typeface="Lora" pitchFamily="34" charset="0"/>
                <a:ea typeface="Lora" pitchFamily="34" charset="-122"/>
                <a:cs typeface="Lora" pitchFamily="34" charset="-120"/>
              </a:rPr>
              <a:t>The AI Development Process</a:t>
            </a:r>
            <a:endParaRPr lang="en-US" sz="4290" dirty="0"/>
          </a:p>
        </p:txBody>
      </p:sp>
      <p:pic>
        <p:nvPicPr>
          <p:cNvPr id="5" name="Image 0" descr="preencoded.png"/>
          <p:cNvPicPr>
            <a:picLocks noChangeAspect="1"/>
          </p:cNvPicPr>
          <p:nvPr/>
        </p:nvPicPr>
        <p:blipFill>
          <a:blip r:embed="rId3"/>
          <a:stretch>
            <a:fillRect/>
          </a:stretch>
        </p:blipFill>
        <p:spPr>
          <a:xfrm>
            <a:off x="817126" y="1773633"/>
            <a:ext cx="4114086" cy="2523884"/>
          </a:xfrm>
          <a:prstGeom prst="rect">
            <a:avLst/>
          </a:prstGeom>
        </p:spPr>
      </p:pic>
      <p:sp>
        <p:nvSpPr>
          <p:cNvPr id="6" name="Text 3"/>
          <p:cNvSpPr/>
          <p:nvPr/>
        </p:nvSpPr>
        <p:spPr>
          <a:xfrm>
            <a:off x="817126" y="4567811"/>
            <a:ext cx="4114086" cy="702977"/>
          </a:xfrm>
          <a:prstGeom prst="rect">
            <a:avLst/>
          </a:prstGeom>
          <a:noFill/>
          <a:ln/>
        </p:spPr>
        <p:txBody>
          <a:bodyPr wrap="square" rtlCol="0" anchor="t"/>
          <a:lstStyle/>
          <a:p>
            <a:pPr marL="0" indent="0" algn="l">
              <a:lnSpc>
                <a:spcPts val="2788"/>
              </a:lnSpc>
              <a:buNone/>
            </a:pPr>
            <a:r>
              <a:rPr lang="en-US" sz="2145" dirty="0">
                <a:solidFill>
                  <a:srgbClr val="6EB9FC"/>
                </a:solidFill>
                <a:latin typeface="Lora" pitchFamily="34" charset="0"/>
                <a:ea typeface="Lora" pitchFamily="34" charset="-122"/>
                <a:cs typeface="Lora" pitchFamily="34" charset="-120"/>
              </a:rPr>
              <a:t>Data collection and preprocessing</a:t>
            </a:r>
            <a:endParaRPr lang="en-US" sz="2145" dirty="0"/>
          </a:p>
        </p:txBody>
      </p:sp>
      <p:sp>
        <p:nvSpPr>
          <p:cNvPr id="7" name="Text 4"/>
          <p:cNvSpPr/>
          <p:nvPr/>
        </p:nvSpPr>
        <p:spPr>
          <a:xfrm>
            <a:off x="817126" y="5465441"/>
            <a:ext cx="4114086" cy="1167924"/>
          </a:xfrm>
          <a:prstGeom prst="rect">
            <a:avLst/>
          </a:prstGeom>
          <a:noFill/>
          <a:ln/>
        </p:spPr>
        <p:txBody>
          <a:bodyPr wrap="square" rtlCol="0" anchor="t"/>
          <a:lstStyle/>
          <a:p>
            <a:pPr marL="0" indent="0" algn="l">
              <a:lnSpc>
                <a:spcPts val="3089"/>
              </a:lnSpc>
              <a:buNone/>
            </a:pPr>
            <a:r>
              <a:rPr lang="en-US" sz="1716" dirty="0">
                <a:solidFill>
                  <a:srgbClr val="D6E5EF"/>
                </a:solidFill>
                <a:latin typeface="Source Sans Pro" pitchFamily="34" charset="0"/>
                <a:ea typeface="Source Sans Pro" pitchFamily="34" charset="-122"/>
                <a:cs typeface="Source Sans Pro" pitchFamily="34" charset="-120"/>
              </a:rPr>
              <a:t>Understand your problem, identify data sources, and collect data that will help solve the problem.</a:t>
            </a:r>
            <a:endParaRPr lang="en-US" sz="1716" dirty="0"/>
          </a:p>
        </p:txBody>
      </p:sp>
      <p:pic>
        <p:nvPicPr>
          <p:cNvPr id="8" name="Image 1" descr="preencoded.png"/>
          <p:cNvPicPr>
            <a:picLocks noChangeAspect="1"/>
          </p:cNvPicPr>
          <p:nvPr/>
        </p:nvPicPr>
        <p:blipFill>
          <a:blip r:embed="rId4"/>
          <a:stretch>
            <a:fillRect/>
          </a:stretch>
        </p:blipFill>
        <p:spPr>
          <a:xfrm>
            <a:off x="5258038" y="1773633"/>
            <a:ext cx="4114205" cy="2524002"/>
          </a:xfrm>
          <a:prstGeom prst="rect">
            <a:avLst/>
          </a:prstGeom>
        </p:spPr>
      </p:pic>
      <p:sp>
        <p:nvSpPr>
          <p:cNvPr id="9" name="Text 5"/>
          <p:cNvSpPr/>
          <p:nvPr/>
        </p:nvSpPr>
        <p:spPr>
          <a:xfrm>
            <a:off x="5258038" y="4567929"/>
            <a:ext cx="4107180" cy="351488"/>
          </a:xfrm>
          <a:prstGeom prst="rect">
            <a:avLst/>
          </a:prstGeom>
          <a:noFill/>
          <a:ln/>
        </p:spPr>
        <p:txBody>
          <a:bodyPr wrap="none" rtlCol="0" anchor="t"/>
          <a:lstStyle/>
          <a:p>
            <a:pPr marL="0" indent="0" algn="l">
              <a:lnSpc>
                <a:spcPts val="2788"/>
              </a:lnSpc>
              <a:buNone/>
            </a:pPr>
            <a:r>
              <a:rPr lang="en-US" sz="2145" dirty="0">
                <a:solidFill>
                  <a:srgbClr val="6EB9FC"/>
                </a:solidFill>
                <a:latin typeface="Lora" pitchFamily="34" charset="0"/>
                <a:ea typeface="Lora" pitchFamily="34" charset="-122"/>
                <a:cs typeface="Lora" pitchFamily="34" charset="-120"/>
              </a:rPr>
              <a:t>Model development and training</a:t>
            </a:r>
            <a:endParaRPr lang="en-US" sz="2145" dirty="0"/>
          </a:p>
        </p:txBody>
      </p:sp>
      <p:sp>
        <p:nvSpPr>
          <p:cNvPr id="10" name="Text 6"/>
          <p:cNvSpPr/>
          <p:nvPr/>
        </p:nvSpPr>
        <p:spPr>
          <a:xfrm>
            <a:off x="5258038" y="5114071"/>
            <a:ext cx="4114205" cy="1167924"/>
          </a:xfrm>
          <a:prstGeom prst="rect">
            <a:avLst/>
          </a:prstGeom>
          <a:noFill/>
          <a:ln/>
        </p:spPr>
        <p:txBody>
          <a:bodyPr wrap="square" rtlCol="0" anchor="t"/>
          <a:lstStyle/>
          <a:p>
            <a:pPr marL="0" indent="0" algn="l">
              <a:lnSpc>
                <a:spcPts val="3089"/>
              </a:lnSpc>
              <a:buNone/>
            </a:pPr>
            <a:r>
              <a:rPr lang="en-US" sz="1716" dirty="0">
                <a:solidFill>
                  <a:srgbClr val="D6E5EF"/>
                </a:solidFill>
                <a:latin typeface="Source Sans Pro" pitchFamily="34" charset="0"/>
                <a:ea typeface="Source Sans Pro" pitchFamily="34" charset="-122"/>
                <a:cs typeface="Source Sans Pro" pitchFamily="34" charset="-120"/>
              </a:rPr>
              <a:t>Choose a model, train it on your data, and tune its hyperparameters to improve performance.</a:t>
            </a:r>
            <a:endParaRPr lang="en-US" sz="1716" dirty="0"/>
          </a:p>
        </p:txBody>
      </p:sp>
      <p:pic>
        <p:nvPicPr>
          <p:cNvPr id="11" name="Image 2" descr="preencoded.png"/>
          <p:cNvPicPr>
            <a:picLocks noChangeAspect="1"/>
          </p:cNvPicPr>
          <p:nvPr/>
        </p:nvPicPr>
        <p:blipFill>
          <a:blip r:embed="rId5"/>
          <a:stretch>
            <a:fillRect/>
          </a:stretch>
        </p:blipFill>
        <p:spPr>
          <a:xfrm>
            <a:off x="9699069" y="1773633"/>
            <a:ext cx="4114205" cy="2524002"/>
          </a:xfrm>
          <a:prstGeom prst="rect">
            <a:avLst/>
          </a:prstGeom>
        </p:spPr>
      </p:pic>
      <p:sp>
        <p:nvSpPr>
          <p:cNvPr id="12" name="Text 7"/>
          <p:cNvSpPr/>
          <p:nvPr/>
        </p:nvSpPr>
        <p:spPr>
          <a:xfrm>
            <a:off x="9699069" y="4567929"/>
            <a:ext cx="4114205" cy="702977"/>
          </a:xfrm>
          <a:prstGeom prst="rect">
            <a:avLst/>
          </a:prstGeom>
          <a:noFill/>
          <a:ln/>
        </p:spPr>
        <p:txBody>
          <a:bodyPr wrap="square" rtlCol="0" anchor="t"/>
          <a:lstStyle/>
          <a:p>
            <a:pPr marL="0" indent="0" algn="l">
              <a:lnSpc>
                <a:spcPts val="2788"/>
              </a:lnSpc>
              <a:buNone/>
            </a:pPr>
            <a:r>
              <a:rPr lang="en-US" sz="2145" dirty="0">
                <a:solidFill>
                  <a:srgbClr val="6EB9FC"/>
                </a:solidFill>
                <a:latin typeface="Lora" pitchFamily="34" charset="0"/>
                <a:ea typeface="Lora" pitchFamily="34" charset="-122"/>
                <a:cs typeface="Lora" pitchFamily="34" charset="-120"/>
              </a:rPr>
              <a:t>Model evaluation and fine-tuning</a:t>
            </a:r>
            <a:endParaRPr lang="en-US" sz="2145" dirty="0"/>
          </a:p>
        </p:txBody>
      </p:sp>
      <p:sp>
        <p:nvSpPr>
          <p:cNvPr id="13" name="Text 8"/>
          <p:cNvSpPr/>
          <p:nvPr/>
        </p:nvSpPr>
        <p:spPr>
          <a:xfrm>
            <a:off x="9699069" y="5465560"/>
            <a:ext cx="4114205" cy="778616"/>
          </a:xfrm>
          <a:prstGeom prst="rect">
            <a:avLst/>
          </a:prstGeom>
          <a:noFill/>
          <a:ln/>
        </p:spPr>
        <p:txBody>
          <a:bodyPr wrap="square" rtlCol="0" anchor="t"/>
          <a:lstStyle/>
          <a:p>
            <a:pPr marL="0" indent="0" algn="l">
              <a:lnSpc>
                <a:spcPts val="3089"/>
              </a:lnSpc>
              <a:buNone/>
            </a:pPr>
            <a:r>
              <a:rPr lang="en-US" sz="1716" dirty="0">
                <a:solidFill>
                  <a:srgbClr val="D6E5EF"/>
                </a:solidFill>
                <a:latin typeface="Source Sans Pro" pitchFamily="34" charset="0"/>
                <a:ea typeface="Source Sans Pro" pitchFamily="34" charset="-122"/>
                <a:cs typeface="Source Sans Pro" pitchFamily="34" charset="-120"/>
              </a:rPr>
              <a:t>Evaluate your model's performance and fine-tune it to improve results.</a:t>
            </a:r>
            <a:endParaRPr lang="en-US" sz="1716" dirty="0"/>
          </a:p>
        </p:txBody>
      </p:sp>
      <p:sp>
        <p:nvSpPr>
          <p:cNvPr id="14" name="Shape 9"/>
          <p:cNvSpPr/>
          <p:nvPr/>
        </p:nvSpPr>
        <p:spPr>
          <a:xfrm>
            <a:off x="817126" y="6903660"/>
            <a:ext cx="12996148" cy="897512"/>
          </a:xfrm>
          <a:prstGeom prst="roundRect">
            <a:avLst>
              <a:gd name="adj" fmla="val 7284"/>
            </a:avLst>
          </a:prstGeom>
          <a:solidFill>
            <a:srgbClr val="02284B"/>
          </a:solidFill>
          <a:ln/>
        </p:spPr>
      </p:sp>
      <p:pic>
        <p:nvPicPr>
          <p:cNvPr id="15" name="Image 3" descr="preencoded.png"/>
          <p:cNvPicPr>
            <a:picLocks noChangeAspect="1"/>
          </p:cNvPicPr>
          <p:nvPr/>
        </p:nvPicPr>
        <p:blipFill>
          <a:blip r:embed="rId6"/>
          <a:stretch>
            <a:fillRect/>
          </a:stretch>
        </p:blipFill>
        <p:spPr>
          <a:xfrm>
            <a:off x="1035010" y="7249357"/>
            <a:ext cx="272296" cy="216282"/>
          </a:xfrm>
          <a:prstGeom prst="rect">
            <a:avLst/>
          </a:prstGeom>
        </p:spPr>
      </p:pic>
      <p:sp>
        <p:nvSpPr>
          <p:cNvPr id="16" name="Text 10"/>
          <p:cNvSpPr/>
          <p:nvPr/>
        </p:nvSpPr>
        <p:spPr>
          <a:xfrm>
            <a:off x="1525191" y="7130697"/>
            <a:ext cx="12070199" cy="389308"/>
          </a:xfrm>
          <a:prstGeom prst="rect">
            <a:avLst/>
          </a:prstGeom>
          <a:noFill/>
          <a:ln/>
        </p:spPr>
        <p:txBody>
          <a:bodyPr wrap="none" rtlCol="0" anchor="t"/>
          <a:lstStyle/>
          <a:p>
            <a:pPr marL="0" indent="0">
              <a:lnSpc>
                <a:spcPts val="3089"/>
              </a:lnSpc>
              <a:buNone/>
            </a:pPr>
            <a:r>
              <a:rPr lang="en-US" sz="1716" dirty="0">
                <a:solidFill>
                  <a:srgbClr val="FFFFFF"/>
                </a:solidFill>
                <a:latin typeface="Source Sans Pro" pitchFamily="34" charset="0"/>
                <a:ea typeface="Source Sans Pro" pitchFamily="34" charset="-122"/>
                <a:cs typeface="Source Sans Pro" pitchFamily="34" charset="-120"/>
              </a:rPr>
              <a:t>Note: This process is iterative and can take a long time to complete.</a:t>
            </a:r>
            <a:endParaRPr lang="en-US" sz="171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057419"/>
            <a:ext cx="758190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Ethical Considerations in AI</a:t>
            </a:r>
            <a:endParaRPr lang="en-US" sz="4647" dirty="0"/>
          </a:p>
        </p:txBody>
      </p:sp>
      <p:sp>
        <p:nvSpPr>
          <p:cNvPr id="5" name="Shape 3"/>
          <p:cNvSpPr/>
          <p:nvPr/>
        </p:nvSpPr>
        <p:spPr>
          <a:xfrm>
            <a:off x="7307580" y="2334549"/>
            <a:ext cx="15240" cy="4777120"/>
          </a:xfrm>
          <a:prstGeom prst="rect">
            <a:avLst/>
          </a:prstGeom>
          <a:solidFill>
            <a:srgbClr val="6EB9FC"/>
          </a:solidFill>
          <a:ln/>
        </p:spPr>
      </p:sp>
      <p:sp>
        <p:nvSpPr>
          <p:cNvPr id="6" name="Shape 4"/>
          <p:cNvSpPr/>
          <p:nvPr/>
        </p:nvSpPr>
        <p:spPr>
          <a:xfrm>
            <a:off x="7580769" y="2810251"/>
            <a:ext cx="826294" cy="15128"/>
          </a:xfrm>
          <a:prstGeom prst="rect">
            <a:avLst/>
          </a:prstGeom>
          <a:solidFill>
            <a:srgbClr val="6EB9FC"/>
          </a:solidFill>
          <a:ln/>
        </p:spPr>
      </p:sp>
      <p:sp>
        <p:nvSpPr>
          <p:cNvPr id="7" name="Shape 5"/>
          <p:cNvSpPr/>
          <p:nvPr/>
        </p:nvSpPr>
        <p:spPr>
          <a:xfrm>
            <a:off x="7049631" y="2554258"/>
            <a:ext cx="531138" cy="527232"/>
          </a:xfrm>
          <a:prstGeom prst="roundRect">
            <a:avLst>
              <a:gd name="adj" fmla="val 13434"/>
            </a:avLst>
          </a:prstGeom>
          <a:solidFill>
            <a:srgbClr val="2F3343"/>
          </a:solidFill>
          <a:ln/>
        </p:spPr>
      </p:sp>
      <p:sp>
        <p:nvSpPr>
          <p:cNvPr id="8" name="Text 6"/>
          <p:cNvSpPr/>
          <p:nvPr/>
        </p:nvSpPr>
        <p:spPr>
          <a:xfrm>
            <a:off x="7250370" y="2589360"/>
            <a:ext cx="12954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1</a:t>
            </a:r>
            <a:endParaRPr lang="en-US" sz="2788" dirty="0"/>
          </a:p>
        </p:txBody>
      </p:sp>
      <p:sp>
        <p:nvSpPr>
          <p:cNvPr id="9" name="Text 7"/>
          <p:cNvSpPr/>
          <p:nvPr/>
        </p:nvSpPr>
        <p:spPr>
          <a:xfrm>
            <a:off x="8613577" y="2568795"/>
            <a:ext cx="2360771"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Privacy</a:t>
            </a:r>
            <a:endParaRPr lang="en-US" sz="2324" dirty="0"/>
          </a:p>
        </p:txBody>
      </p:sp>
      <p:sp>
        <p:nvSpPr>
          <p:cNvPr id="10" name="Text 8"/>
          <p:cNvSpPr/>
          <p:nvPr/>
        </p:nvSpPr>
        <p:spPr>
          <a:xfrm>
            <a:off x="8613577" y="3160440"/>
            <a:ext cx="5131594" cy="843619"/>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Protecting personal information from unwanted access or disclosure.</a:t>
            </a:r>
            <a:endParaRPr lang="en-US" sz="1859" dirty="0"/>
          </a:p>
        </p:txBody>
      </p:sp>
      <p:sp>
        <p:nvSpPr>
          <p:cNvPr id="11" name="Shape 9"/>
          <p:cNvSpPr/>
          <p:nvPr/>
        </p:nvSpPr>
        <p:spPr>
          <a:xfrm>
            <a:off x="6223337" y="3981840"/>
            <a:ext cx="826294" cy="15128"/>
          </a:xfrm>
          <a:prstGeom prst="rect">
            <a:avLst/>
          </a:prstGeom>
          <a:solidFill>
            <a:srgbClr val="6EB9FC"/>
          </a:solidFill>
          <a:ln/>
        </p:spPr>
      </p:sp>
      <p:sp>
        <p:nvSpPr>
          <p:cNvPr id="12" name="Shape 10"/>
          <p:cNvSpPr/>
          <p:nvPr/>
        </p:nvSpPr>
        <p:spPr>
          <a:xfrm>
            <a:off x="7049631" y="3725846"/>
            <a:ext cx="531138" cy="527232"/>
          </a:xfrm>
          <a:prstGeom prst="roundRect">
            <a:avLst>
              <a:gd name="adj" fmla="val 13434"/>
            </a:avLst>
          </a:prstGeom>
          <a:solidFill>
            <a:srgbClr val="2F3343"/>
          </a:solidFill>
          <a:ln/>
        </p:spPr>
      </p:sp>
      <p:sp>
        <p:nvSpPr>
          <p:cNvPr id="13" name="Text 11"/>
          <p:cNvSpPr/>
          <p:nvPr/>
        </p:nvSpPr>
        <p:spPr>
          <a:xfrm>
            <a:off x="7219890" y="3760948"/>
            <a:ext cx="19050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2</a:t>
            </a:r>
            <a:endParaRPr lang="en-US" sz="2788" dirty="0"/>
          </a:p>
        </p:txBody>
      </p:sp>
      <p:sp>
        <p:nvSpPr>
          <p:cNvPr id="14" name="Text 12"/>
          <p:cNvSpPr/>
          <p:nvPr/>
        </p:nvSpPr>
        <p:spPr>
          <a:xfrm>
            <a:off x="2740223" y="3740383"/>
            <a:ext cx="3276600" cy="380799"/>
          </a:xfrm>
          <a:prstGeom prst="rect">
            <a:avLst/>
          </a:prstGeom>
          <a:noFill/>
          <a:ln/>
        </p:spPr>
        <p:txBody>
          <a:bodyPr wrap="none" rtlCol="0" anchor="t"/>
          <a:lstStyle/>
          <a:p>
            <a:pPr marL="0" indent="0" algn="r">
              <a:lnSpc>
                <a:spcPts val="3021"/>
              </a:lnSpc>
              <a:buNone/>
            </a:pPr>
            <a:r>
              <a:rPr lang="en-US" sz="2324" dirty="0">
                <a:solidFill>
                  <a:srgbClr val="6EB9FC"/>
                </a:solidFill>
                <a:latin typeface="Lora" pitchFamily="34" charset="0"/>
                <a:ea typeface="Lora" pitchFamily="34" charset="-122"/>
                <a:cs typeface="Lora" pitchFamily="34" charset="-120"/>
              </a:rPr>
              <a:t>Bias and Discrimination</a:t>
            </a:r>
            <a:endParaRPr lang="en-US" sz="2324" dirty="0"/>
          </a:p>
        </p:txBody>
      </p:sp>
      <p:sp>
        <p:nvSpPr>
          <p:cNvPr id="15" name="Text 13"/>
          <p:cNvSpPr/>
          <p:nvPr/>
        </p:nvSpPr>
        <p:spPr>
          <a:xfrm>
            <a:off x="885230" y="4332028"/>
            <a:ext cx="5131594" cy="1265429"/>
          </a:xfrm>
          <a:prstGeom prst="rect">
            <a:avLst/>
          </a:prstGeom>
          <a:noFill/>
          <a:ln/>
        </p:spPr>
        <p:txBody>
          <a:bodyPr wrap="square" rtlCol="0" anchor="t"/>
          <a:lstStyle/>
          <a:p>
            <a:pPr marL="0" indent="0" algn="r">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Eliminating unfair treatment of individuals or groups due to their race, gender, socioeconomic background, etc.</a:t>
            </a:r>
            <a:endParaRPr lang="en-US" sz="1859" dirty="0"/>
          </a:p>
        </p:txBody>
      </p:sp>
      <p:sp>
        <p:nvSpPr>
          <p:cNvPr id="16" name="Shape 14"/>
          <p:cNvSpPr/>
          <p:nvPr/>
        </p:nvSpPr>
        <p:spPr>
          <a:xfrm>
            <a:off x="7580769" y="5261687"/>
            <a:ext cx="826294" cy="15128"/>
          </a:xfrm>
          <a:prstGeom prst="rect">
            <a:avLst/>
          </a:prstGeom>
          <a:solidFill>
            <a:srgbClr val="6EB9FC"/>
          </a:solidFill>
          <a:ln/>
        </p:spPr>
      </p:sp>
      <p:sp>
        <p:nvSpPr>
          <p:cNvPr id="17" name="Shape 15"/>
          <p:cNvSpPr/>
          <p:nvPr/>
        </p:nvSpPr>
        <p:spPr>
          <a:xfrm>
            <a:off x="7049631" y="5005694"/>
            <a:ext cx="531138" cy="527232"/>
          </a:xfrm>
          <a:prstGeom prst="roundRect">
            <a:avLst>
              <a:gd name="adj" fmla="val 13434"/>
            </a:avLst>
          </a:prstGeom>
          <a:solidFill>
            <a:srgbClr val="2F3343"/>
          </a:solidFill>
          <a:ln/>
        </p:spPr>
      </p:sp>
      <p:sp>
        <p:nvSpPr>
          <p:cNvPr id="18" name="Text 16"/>
          <p:cNvSpPr/>
          <p:nvPr/>
        </p:nvSpPr>
        <p:spPr>
          <a:xfrm>
            <a:off x="7216080" y="5040795"/>
            <a:ext cx="19812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3</a:t>
            </a:r>
            <a:endParaRPr lang="en-US" sz="2788" dirty="0"/>
          </a:p>
        </p:txBody>
      </p:sp>
      <p:sp>
        <p:nvSpPr>
          <p:cNvPr id="19" name="Text 17"/>
          <p:cNvSpPr/>
          <p:nvPr/>
        </p:nvSpPr>
        <p:spPr>
          <a:xfrm>
            <a:off x="8613577" y="5020231"/>
            <a:ext cx="4434840"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Transparency and Explainability</a:t>
            </a:r>
            <a:endParaRPr lang="en-US" sz="2324" dirty="0"/>
          </a:p>
        </p:txBody>
      </p:sp>
      <p:sp>
        <p:nvSpPr>
          <p:cNvPr id="20" name="Text 18"/>
          <p:cNvSpPr/>
          <p:nvPr/>
        </p:nvSpPr>
        <p:spPr>
          <a:xfrm>
            <a:off x="8613577" y="5611875"/>
            <a:ext cx="5131594" cy="1265429"/>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Maintaining transparency and explainability in AI systems to ensure that humans can understand how decisions are being made.</a:t>
            </a:r>
            <a:endParaRPr lang="en-US" sz="185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081037"/>
            <a:ext cx="994410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Applications of Artificial Intelligence</a:t>
            </a:r>
            <a:endParaRPr lang="en-US" sz="4647" dirty="0"/>
          </a:p>
        </p:txBody>
      </p:sp>
      <p:sp>
        <p:nvSpPr>
          <p:cNvPr id="5" name="Text 3"/>
          <p:cNvSpPr/>
          <p:nvPr/>
        </p:nvSpPr>
        <p:spPr>
          <a:xfrm>
            <a:off x="885230" y="3498691"/>
            <a:ext cx="2832973" cy="456911"/>
          </a:xfrm>
          <a:prstGeom prst="rect">
            <a:avLst/>
          </a:prstGeom>
          <a:noFill/>
          <a:ln/>
        </p:spPr>
        <p:txBody>
          <a:bodyPr wrap="none" rtlCol="0" anchor="t"/>
          <a:lstStyle/>
          <a:p>
            <a:pPr marL="0" indent="0">
              <a:lnSpc>
                <a:spcPts val="3625"/>
              </a:lnSpc>
              <a:buNone/>
            </a:pPr>
            <a:r>
              <a:rPr lang="en-US" sz="2788" dirty="0">
                <a:solidFill>
                  <a:srgbClr val="6EB9FC"/>
                </a:solidFill>
                <a:latin typeface="Lora" pitchFamily="34" charset="0"/>
                <a:ea typeface="Lora" pitchFamily="34" charset="-122"/>
                <a:cs typeface="Lora" pitchFamily="34" charset="-120"/>
              </a:rPr>
              <a:t>Healthcare</a:t>
            </a:r>
            <a:endParaRPr lang="en-US" sz="2788" dirty="0"/>
          </a:p>
        </p:txBody>
      </p:sp>
      <p:sp>
        <p:nvSpPr>
          <p:cNvPr id="6" name="Text 4"/>
          <p:cNvSpPr/>
          <p:nvPr/>
        </p:nvSpPr>
        <p:spPr>
          <a:xfrm>
            <a:off x="885230" y="4189849"/>
            <a:ext cx="3902154" cy="168723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help diagnose diseases and develop personalized treatments, improve patient outcomes and reduce medical errors.</a:t>
            </a:r>
            <a:endParaRPr lang="en-US" sz="1859" dirty="0"/>
          </a:p>
        </p:txBody>
      </p:sp>
      <p:sp>
        <p:nvSpPr>
          <p:cNvPr id="7" name="Text 5"/>
          <p:cNvSpPr/>
          <p:nvPr/>
        </p:nvSpPr>
        <p:spPr>
          <a:xfrm>
            <a:off x="5371028" y="3498691"/>
            <a:ext cx="2832973" cy="456911"/>
          </a:xfrm>
          <a:prstGeom prst="rect">
            <a:avLst/>
          </a:prstGeom>
          <a:noFill/>
          <a:ln/>
        </p:spPr>
        <p:txBody>
          <a:bodyPr wrap="none" rtlCol="0" anchor="t"/>
          <a:lstStyle/>
          <a:p>
            <a:pPr marL="0" indent="0">
              <a:lnSpc>
                <a:spcPts val="3625"/>
              </a:lnSpc>
              <a:buNone/>
            </a:pPr>
            <a:r>
              <a:rPr lang="en-US" sz="2788" dirty="0">
                <a:solidFill>
                  <a:srgbClr val="6EB9FC"/>
                </a:solidFill>
                <a:latin typeface="Lora" pitchFamily="34" charset="0"/>
                <a:ea typeface="Lora" pitchFamily="34" charset="-122"/>
                <a:cs typeface="Lora" pitchFamily="34" charset="-120"/>
              </a:rPr>
              <a:t>Finance</a:t>
            </a:r>
            <a:endParaRPr lang="en-US" sz="2788" dirty="0"/>
          </a:p>
        </p:txBody>
      </p:sp>
      <p:sp>
        <p:nvSpPr>
          <p:cNvPr id="8" name="Text 6"/>
          <p:cNvSpPr/>
          <p:nvPr/>
        </p:nvSpPr>
        <p:spPr>
          <a:xfrm>
            <a:off x="5371028" y="4189849"/>
            <a:ext cx="3902154"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detect fraudulent transactions, perform risk analysis and prediction, and automate customer service.</a:t>
            </a:r>
            <a:endParaRPr lang="en-US" sz="1859" dirty="0"/>
          </a:p>
        </p:txBody>
      </p:sp>
      <p:sp>
        <p:nvSpPr>
          <p:cNvPr id="9" name="Text 7"/>
          <p:cNvSpPr/>
          <p:nvPr/>
        </p:nvSpPr>
        <p:spPr>
          <a:xfrm>
            <a:off x="9856827" y="3498691"/>
            <a:ext cx="2832973" cy="456911"/>
          </a:xfrm>
          <a:prstGeom prst="rect">
            <a:avLst/>
          </a:prstGeom>
          <a:noFill/>
          <a:ln/>
        </p:spPr>
        <p:txBody>
          <a:bodyPr wrap="none" rtlCol="0" anchor="t"/>
          <a:lstStyle/>
          <a:p>
            <a:pPr marL="0" indent="0">
              <a:lnSpc>
                <a:spcPts val="3625"/>
              </a:lnSpc>
              <a:buNone/>
            </a:pPr>
            <a:r>
              <a:rPr lang="en-US" sz="2788" dirty="0">
                <a:solidFill>
                  <a:srgbClr val="6EB9FC"/>
                </a:solidFill>
                <a:latin typeface="Lora" pitchFamily="34" charset="0"/>
                <a:ea typeface="Lora" pitchFamily="34" charset="-122"/>
                <a:cs typeface="Lora" pitchFamily="34" charset="-120"/>
              </a:rPr>
              <a:t>Transportation</a:t>
            </a:r>
            <a:endParaRPr lang="en-US" sz="2788" dirty="0"/>
          </a:p>
        </p:txBody>
      </p:sp>
      <p:sp>
        <p:nvSpPr>
          <p:cNvPr id="10" name="Text 8"/>
          <p:cNvSpPr/>
          <p:nvPr/>
        </p:nvSpPr>
        <p:spPr>
          <a:xfrm>
            <a:off x="9856827" y="4189849"/>
            <a:ext cx="3902154"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enable self-driving cars, optimize transportation routes, and improve traffic flow.</a:t>
            </a:r>
            <a:endParaRPr lang="en-US" sz="185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6371630" y="669175"/>
            <a:ext cx="7373541" cy="1523195"/>
          </a:xfrm>
          <a:prstGeom prst="rect">
            <a:avLst/>
          </a:prstGeom>
          <a:noFill/>
          <a:ln/>
        </p:spPr>
        <p:txBody>
          <a:bodyPr wrap="squar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The Future of Artificial Intelligence</a:t>
            </a:r>
            <a:endParaRPr lang="en-US" sz="4647" dirty="0"/>
          </a:p>
        </p:txBody>
      </p:sp>
      <p:sp>
        <p:nvSpPr>
          <p:cNvPr id="5" name="Shape 3"/>
          <p:cNvSpPr/>
          <p:nvPr/>
        </p:nvSpPr>
        <p:spPr>
          <a:xfrm>
            <a:off x="6371630" y="2763568"/>
            <a:ext cx="531138" cy="527232"/>
          </a:xfrm>
          <a:prstGeom prst="roundRect">
            <a:avLst>
              <a:gd name="adj" fmla="val 13434"/>
            </a:avLst>
          </a:prstGeom>
          <a:solidFill>
            <a:srgbClr val="2F3343"/>
          </a:solidFill>
          <a:ln/>
        </p:spPr>
      </p:sp>
      <p:sp>
        <p:nvSpPr>
          <p:cNvPr id="6" name="Text 4"/>
          <p:cNvSpPr/>
          <p:nvPr/>
        </p:nvSpPr>
        <p:spPr>
          <a:xfrm>
            <a:off x="6572369" y="2798669"/>
            <a:ext cx="12954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1</a:t>
            </a:r>
            <a:endParaRPr lang="en-US" sz="2788" dirty="0"/>
          </a:p>
        </p:txBody>
      </p:sp>
      <p:sp>
        <p:nvSpPr>
          <p:cNvPr id="7" name="Text 5"/>
          <p:cNvSpPr/>
          <p:nvPr/>
        </p:nvSpPr>
        <p:spPr>
          <a:xfrm>
            <a:off x="7138749" y="2836725"/>
            <a:ext cx="278130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Improved Efficiency</a:t>
            </a:r>
            <a:endParaRPr lang="en-US" sz="2324" dirty="0"/>
          </a:p>
        </p:txBody>
      </p:sp>
      <p:sp>
        <p:nvSpPr>
          <p:cNvPr id="8" name="Text 6"/>
          <p:cNvSpPr/>
          <p:nvPr/>
        </p:nvSpPr>
        <p:spPr>
          <a:xfrm>
            <a:off x="7138749" y="3428370"/>
            <a:ext cx="2801660" cy="168723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will drive technological improvements for many industries, making them faster and more efficient.</a:t>
            </a:r>
            <a:endParaRPr lang="en-US" sz="1859" dirty="0"/>
          </a:p>
        </p:txBody>
      </p:sp>
      <p:sp>
        <p:nvSpPr>
          <p:cNvPr id="9" name="Shape 7"/>
          <p:cNvSpPr/>
          <p:nvPr/>
        </p:nvSpPr>
        <p:spPr>
          <a:xfrm>
            <a:off x="10176391" y="2763568"/>
            <a:ext cx="531138" cy="527232"/>
          </a:xfrm>
          <a:prstGeom prst="roundRect">
            <a:avLst>
              <a:gd name="adj" fmla="val 13434"/>
            </a:avLst>
          </a:prstGeom>
          <a:solidFill>
            <a:srgbClr val="2F3343"/>
          </a:solidFill>
          <a:ln/>
        </p:spPr>
      </p:sp>
      <p:sp>
        <p:nvSpPr>
          <p:cNvPr id="10" name="Text 8"/>
          <p:cNvSpPr/>
          <p:nvPr/>
        </p:nvSpPr>
        <p:spPr>
          <a:xfrm>
            <a:off x="10346650" y="2798669"/>
            <a:ext cx="19050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2</a:t>
            </a:r>
            <a:endParaRPr lang="en-US" sz="2788" dirty="0"/>
          </a:p>
        </p:txBody>
      </p:sp>
      <p:sp>
        <p:nvSpPr>
          <p:cNvPr id="11" name="Text 9"/>
          <p:cNvSpPr/>
          <p:nvPr/>
        </p:nvSpPr>
        <p:spPr>
          <a:xfrm>
            <a:off x="10943511" y="2836725"/>
            <a:ext cx="2360771"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Disruption</a:t>
            </a:r>
            <a:endParaRPr lang="en-US" sz="2324" dirty="0"/>
          </a:p>
        </p:txBody>
      </p:sp>
      <p:sp>
        <p:nvSpPr>
          <p:cNvPr id="12" name="Text 10"/>
          <p:cNvSpPr/>
          <p:nvPr/>
        </p:nvSpPr>
        <p:spPr>
          <a:xfrm>
            <a:off x="10943511" y="3428370"/>
            <a:ext cx="2801660" cy="168723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will transform industries, creating winners and losers. Companies that don’t adopt AI will likely fall behind.</a:t>
            </a:r>
            <a:endParaRPr lang="en-US" sz="1859" dirty="0"/>
          </a:p>
        </p:txBody>
      </p:sp>
      <p:sp>
        <p:nvSpPr>
          <p:cNvPr id="13" name="Shape 11"/>
          <p:cNvSpPr/>
          <p:nvPr/>
        </p:nvSpPr>
        <p:spPr>
          <a:xfrm>
            <a:off x="6371630" y="5569564"/>
            <a:ext cx="531138" cy="527232"/>
          </a:xfrm>
          <a:prstGeom prst="roundRect">
            <a:avLst>
              <a:gd name="adj" fmla="val 13434"/>
            </a:avLst>
          </a:prstGeom>
          <a:solidFill>
            <a:srgbClr val="2F3343"/>
          </a:solidFill>
          <a:ln/>
        </p:spPr>
      </p:sp>
      <p:sp>
        <p:nvSpPr>
          <p:cNvPr id="14" name="Text 12"/>
          <p:cNvSpPr/>
          <p:nvPr/>
        </p:nvSpPr>
        <p:spPr>
          <a:xfrm>
            <a:off x="6538079" y="5604666"/>
            <a:ext cx="19812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3</a:t>
            </a:r>
            <a:endParaRPr lang="en-US" sz="2788" dirty="0"/>
          </a:p>
        </p:txBody>
      </p:sp>
      <p:sp>
        <p:nvSpPr>
          <p:cNvPr id="15" name="Text 13"/>
          <p:cNvSpPr/>
          <p:nvPr/>
        </p:nvSpPr>
        <p:spPr>
          <a:xfrm>
            <a:off x="7138749" y="5642722"/>
            <a:ext cx="2360771"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New Jobs</a:t>
            </a:r>
            <a:endParaRPr lang="en-US" sz="2324" dirty="0"/>
          </a:p>
        </p:txBody>
      </p:sp>
      <p:sp>
        <p:nvSpPr>
          <p:cNvPr id="16" name="Text 14"/>
          <p:cNvSpPr/>
          <p:nvPr/>
        </p:nvSpPr>
        <p:spPr>
          <a:xfrm>
            <a:off x="7138749" y="6234366"/>
            <a:ext cx="6606421"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While AI may eliminate some jobs, it will also create new ones, especially in fields related to programming, data analysis, and AI development.</a:t>
            </a:r>
            <a:endParaRPr lang="en-US" sz="1859" dirty="0"/>
          </a:p>
        </p:txBody>
      </p:sp>
      <p:pic>
        <p:nvPicPr>
          <p:cNvPr id="17" name="Image 0" descr="preencoded.png"/>
          <p:cNvPicPr>
            <a:picLocks noChangeAspect="1"/>
          </p:cNvPicPr>
          <p:nvPr/>
        </p:nvPicPr>
        <p:blipFill>
          <a:blip r:embed="rId3"/>
          <a:stretch>
            <a:fillRect/>
          </a:stretch>
        </p:blipFill>
        <p:spPr>
          <a:xfrm>
            <a:off x="0" y="0"/>
            <a:ext cx="5486400" cy="8169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072292"/>
            <a:ext cx="882396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Benefits of Artificial Intelligence</a:t>
            </a:r>
            <a:endParaRPr lang="en-US" sz="4647" dirty="0"/>
          </a:p>
        </p:txBody>
      </p:sp>
      <p:sp>
        <p:nvSpPr>
          <p:cNvPr id="5" name="Shape 3"/>
          <p:cNvSpPr/>
          <p:nvPr/>
        </p:nvSpPr>
        <p:spPr>
          <a:xfrm>
            <a:off x="885230" y="3349421"/>
            <a:ext cx="4129326" cy="2747376"/>
          </a:xfrm>
          <a:prstGeom prst="roundRect">
            <a:avLst>
              <a:gd name="adj" fmla="val 2578"/>
            </a:avLst>
          </a:prstGeom>
          <a:solidFill>
            <a:srgbClr val="2F3343"/>
          </a:solidFill>
          <a:ln/>
        </p:spPr>
      </p:sp>
      <p:sp>
        <p:nvSpPr>
          <p:cNvPr id="6" name="Text 4"/>
          <p:cNvSpPr/>
          <p:nvPr/>
        </p:nvSpPr>
        <p:spPr>
          <a:xfrm>
            <a:off x="1121212" y="3583667"/>
            <a:ext cx="3657362" cy="761597"/>
          </a:xfrm>
          <a:prstGeom prst="rect">
            <a:avLst/>
          </a:prstGeom>
          <a:noFill/>
          <a:ln/>
        </p:spPr>
        <p:txBody>
          <a:bodyPr wrap="squar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Improved decision-making</a:t>
            </a:r>
            <a:endParaRPr lang="en-US" sz="2324" dirty="0"/>
          </a:p>
        </p:txBody>
      </p:sp>
      <p:sp>
        <p:nvSpPr>
          <p:cNvPr id="7" name="Text 5"/>
          <p:cNvSpPr/>
          <p:nvPr/>
        </p:nvSpPr>
        <p:spPr>
          <a:xfrm>
            <a:off x="1121212" y="4556110"/>
            <a:ext cx="3657362"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analyze vast amounts of data and patterns to support better decision-making.</a:t>
            </a:r>
            <a:endParaRPr lang="en-US" sz="1859" dirty="0"/>
          </a:p>
        </p:txBody>
      </p:sp>
      <p:sp>
        <p:nvSpPr>
          <p:cNvPr id="8" name="Shape 6"/>
          <p:cNvSpPr/>
          <p:nvPr/>
        </p:nvSpPr>
        <p:spPr>
          <a:xfrm>
            <a:off x="5250537" y="3349421"/>
            <a:ext cx="4129326" cy="2747376"/>
          </a:xfrm>
          <a:prstGeom prst="roundRect">
            <a:avLst>
              <a:gd name="adj" fmla="val 2578"/>
            </a:avLst>
          </a:prstGeom>
          <a:solidFill>
            <a:srgbClr val="2F3343"/>
          </a:solidFill>
          <a:ln/>
        </p:spPr>
      </p:sp>
      <p:sp>
        <p:nvSpPr>
          <p:cNvPr id="9" name="Text 7"/>
          <p:cNvSpPr/>
          <p:nvPr/>
        </p:nvSpPr>
        <p:spPr>
          <a:xfrm>
            <a:off x="5486519" y="3583667"/>
            <a:ext cx="3657362" cy="761597"/>
          </a:xfrm>
          <a:prstGeom prst="rect">
            <a:avLst/>
          </a:prstGeom>
          <a:noFill/>
          <a:ln/>
        </p:spPr>
        <p:txBody>
          <a:bodyPr wrap="squar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Increased efficiency and productivity</a:t>
            </a:r>
            <a:endParaRPr lang="en-US" sz="2324" dirty="0"/>
          </a:p>
        </p:txBody>
      </p:sp>
      <p:sp>
        <p:nvSpPr>
          <p:cNvPr id="10" name="Text 8"/>
          <p:cNvSpPr/>
          <p:nvPr/>
        </p:nvSpPr>
        <p:spPr>
          <a:xfrm>
            <a:off x="5486519" y="4556110"/>
            <a:ext cx="3657362"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automate repetitive or time-consuming tasks, freeing up time and resources.</a:t>
            </a:r>
            <a:endParaRPr lang="en-US" sz="1859" dirty="0"/>
          </a:p>
        </p:txBody>
      </p:sp>
      <p:sp>
        <p:nvSpPr>
          <p:cNvPr id="11" name="Shape 9"/>
          <p:cNvSpPr/>
          <p:nvPr/>
        </p:nvSpPr>
        <p:spPr>
          <a:xfrm>
            <a:off x="9615845" y="3349421"/>
            <a:ext cx="4129326" cy="2747376"/>
          </a:xfrm>
          <a:prstGeom prst="roundRect">
            <a:avLst>
              <a:gd name="adj" fmla="val 2578"/>
            </a:avLst>
          </a:prstGeom>
          <a:solidFill>
            <a:srgbClr val="2F3343"/>
          </a:solidFill>
          <a:ln/>
        </p:spPr>
      </p:sp>
      <p:sp>
        <p:nvSpPr>
          <p:cNvPr id="12" name="Text 10"/>
          <p:cNvSpPr/>
          <p:nvPr/>
        </p:nvSpPr>
        <p:spPr>
          <a:xfrm>
            <a:off x="9851827" y="3583667"/>
            <a:ext cx="2360771"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Cost savings</a:t>
            </a:r>
            <a:endParaRPr lang="en-US" sz="2324" dirty="0"/>
          </a:p>
        </p:txBody>
      </p:sp>
      <p:sp>
        <p:nvSpPr>
          <p:cNvPr id="13" name="Text 11"/>
          <p:cNvSpPr/>
          <p:nvPr/>
        </p:nvSpPr>
        <p:spPr>
          <a:xfrm>
            <a:off x="9851827" y="4175312"/>
            <a:ext cx="3657362" cy="168723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reduce errors, waste, and unnecessary costs, generating significant savings for businesses and individuals.</a:t>
            </a:r>
            <a:endParaRPr lang="en-US" sz="185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162842"/>
            <a:ext cx="955548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Challenges of Artificial Intelligence</a:t>
            </a:r>
            <a:endParaRPr lang="en-US" sz="4647" dirty="0"/>
          </a:p>
        </p:txBody>
      </p:sp>
      <p:sp>
        <p:nvSpPr>
          <p:cNvPr id="5" name="Shape 3"/>
          <p:cNvSpPr/>
          <p:nvPr/>
        </p:nvSpPr>
        <p:spPr>
          <a:xfrm>
            <a:off x="7307580" y="2439971"/>
            <a:ext cx="15240" cy="4566156"/>
          </a:xfrm>
          <a:prstGeom prst="rect">
            <a:avLst/>
          </a:prstGeom>
          <a:solidFill>
            <a:srgbClr val="6EB9FC"/>
          </a:solidFill>
          <a:ln/>
        </p:spPr>
      </p:sp>
      <p:sp>
        <p:nvSpPr>
          <p:cNvPr id="6" name="Shape 4"/>
          <p:cNvSpPr/>
          <p:nvPr/>
        </p:nvSpPr>
        <p:spPr>
          <a:xfrm>
            <a:off x="7580769" y="2915674"/>
            <a:ext cx="826294" cy="15128"/>
          </a:xfrm>
          <a:prstGeom prst="rect">
            <a:avLst/>
          </a:prstGeom>
          <a:solidFill>
            <a:srgbClr val="6EB9FC"/>
          </a:solidFill>
          <a:ln/>
        </p:spPr>
      </p:sp>
      <p:sp>
        <p:nvSpPr>
          <p:cNvPr id="7" name="Shape 5"/>
          <p:cNvSpPr/>
          <p:nvPr/>
        </p:nvSpPr>
        <p:spPr>
          <a:xfrm>
            <a:off x="7049631" y="2659681"/>
            <a:ext cx="531138" cy="527232"/>
          </a:xfrm>
          <a:prstGeom prst="roundRect">
            <a:avLst>
              <a:gd name="adj" fmla="val 13434"/>
            </a:avLst>
          </a:prstGeom>
          <a:solidFill>
            <a:srgbClr val="2F3343"/>
          </a:solidFill>
          <a:ln/>
        </p:spPr>
      </p:sp>
      <p:sp>
        <p:nvSpPr>
          <p:cNvPr id="8" name="Text 6"/>
          <p:cNvSpPr/>
          <p:nvPr/>
        </p:nvSpPr>
        <p:spPr>
          <a:xfrm>
            <a:off x="7250370" y="2694783"/>
            <a:ext cx="12954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1</a:t>
            </a:r>
            <a:endParaRPr lang="en-US" sz="2788" dirty="0"/>
          </a:p>
        </p:txBody>
      </p:sp>
      <p:sp>
        <p:nvSpPr>
          <p:cNvPr id="9" name="Text 7"/>
          <p:cNvSpPr/>
          <p:nvPr/>
        </p:nvSpPr>
        <p:spPr>
          <a:xfrm>
            <a:off x="8613577" y="2674218"/>
            <a:ext cx="2865120"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Data bias and quality</a:t>
            </a:r>
            <a:endParaRPr lang="en-US" sz="2324" dirty="0"/>
          </a:p>
        </p:txBody>
      </p:sp>
      <p:sp>
        <p:nvSpPr>
          <p:cNvPr id="10" name="Text 8"/>
          <p:cNvSpPr/>
          <p:nvPr/>
        </p:nvSpPr>
        <p:spPr>
          <a:xfrm>
            <a:off x="8613577" y="3265862"/>
            <a:ext cx="5131594" cy="843619"/>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algorithms can produce biased or incorrect results if trained on incomplete or biased data.</a:t>
            </a:r>
            <a:endParaRPr lang="en-US" sz="1859" dirty="0"/>
          </a:p>
        </p:txBody>
      </p:sp>
      <p:sp>
        <p:nvSpPr>
          <p:cNvPr id="11" name="Shape 9"/>
          <p:cNvSpPr/>
          <p:nvPr/>
        </p:nvSpPr>
        <p:spPr>
          <a:xfrm>
            <a:off x="6223337" y="4087262"/>
            <a:ext cx="826294" cy="15128"/>
          </a:xfrm>
          <a:prstGeom prst="rect">
            <a:avLst/>
          </a:prstGeom>
          <a:solidFill>
            <a:srgbClr val="6EB9FC"/>
          </a:solidFill>
          <a:ln/>
        </p:spPr>
      </p:sp>
      <p:sp>
        <p:nvSpPr>
          <p:cNvPr id="12" name="Shape 10"/>
          <p:cNvSpPr/>
          <p:nvPr/>
        </p:nvSpPr>
        <p:spPr>
          <a:xfrm>
            <a:off x="7049631" y="3831269"/>
            <a:ext cx="531138" cy="527232"/>
          </a:xfrm>
          <a:prstGeom prst="roundRect">
            <a:avLst>
              <a:gd name="adj" fmla="val 13434"/>
            </a:avLst>
          </a:prstGeom>
          <a:solidFill>
            <a:srgbClr val="2F3343"/>
          </a:solidFill>
          <a:ln/>
        </p:spPr>
      </p:sp>
      <p:sp>
        <p:nvSpPr>
          <p:cNvPr id="13" name="Text 11"/>
          <p:cNvSpPr/>
          <p:nvPr/>
        </p:nvSpPr>
        <p:spPr>
          <a:xfrm>
            <a:off x="7219890" y="3866371"/>
            <a:ext cx="19050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2</a:t>
            </a:r>
            <a:endParaRPr lang="en-US" sz="2788" dirty="0"/>
          </a:p>
        </p:txBody>
      </p:sp>
      <p:sp>
        <p:nvSpPr>
          <p:cNvPr id="14" name="Text 12"/>
          <p:cNvSpPr/>
          <p:nvPr/>
        </p:nvSpPr>
        <p:spPr>
          <a:xfrm>
            <a:off x="2892623" y="3845806"/>
            <a:ext cx="3124200" cy="380799"/>
          </a:xfrm>
          <a:prstGeom prst="rect">
            <a:avLst/>
          </a:prstGeom>
          <a:noFill/>
          <a:ln/>
        </p:spPr>
        <p:txBody>
          <a:bodyPr wrap="none" rtlCol="0" anchor="t"/>
          <a:lstStyle/>
          <a:p>
            <a:pPr marL="0" indent="0" algn="r">
              <a:lnSpc>
                <a:spcPts val="3021"/>
              </a:lnSpc>
              <a:buNone/>
            </a:pPr>
            <a:r>
              <a:rPr lang="en-US" sz="2324" dirty="0">
                <a:solidFill>
                  <a:srgbClr val="6EB9FC"/>
                </a:solidFill>
                <a:latin typeface="Lora" pitchFamily="34" charset="0"/>
                <a:ea typeface="Lora" pitchFamily="34" charset="-122"/>
                <a:cs typeface="Lora" pitchFamily="34" charset="-120"/>
              </a:rPr>
              <a:t>Regulations and Ethics</a:t>
            </a:r>
            <a:endParaRPr lang="en-US" sz="2324" dirty="0"/>
          </a:p>
        </p:txBody>
      </p:sp>
      <p:sp>
        <p:nvSpPr>
          <p:cNvPr id="15" name="Text 13"/>
          <p:cNvSpPr/>
          <p:nvPr/>
        </p:nvSpPr>
        <p:spPr>
          <a:xfrm>
            <a:off x="885230" y="4437451"/>
            <a:ext cx="5131594" cy="1265429"/>
          </a:xfrm>
          <a:prstGeom prst="rect">
            <a:avLst/>
          </a:prstGeom>
          <a:noFill/>
          <a:ln/>
        </p:spPr>
        <p:txBody>
          <a:bodyPr wrap="square" rtlCol="0" anchor="t"/>
          <a:lstStyle/>
          <a:p>
            <a:pPr marL="0" indent="0" algn="r">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As AI becomes more ubiquitous, policymakers and industry leaders must grapple with issues around privacy, safety, and liability.</a:t>
            </a:r>
            <a:endParaRPr lang="en-US" sz="1859" dirty="0"/>
          </a:p>
        </p:txBody>
      </p:sp>
      <p:sp>
        <p:nvSpPr>
          <p:cNvPr id="16" name="Shape 14"/>
          <p:cNvSpPr/>
          <p:nvPr/>
        </p:nvSpPr>
        <p:spPr>
          <a:xfrm>
            <a:off x="7580769" y="5367110"/>
            <a:ext cx="826294" cy="15128"/>
          </a:xfrm>
          <a:prstGeom prst="rect">
            <a:avLst/>
          </a:prstGeom>
          <a:solidFill>
            <a:srgbClr val="6EB9FC"/>
          </a:solidFill>
          <a:ln/>
        </p:spPr>
      </p:sp>
      <p:sp>
        <p:nvSpPr>
          <p:cNvPr id="17" name="Shape 15"/>
          <p:cNvSpPr/>
          <p:nvPr/>
        </p:nvSpPr>
        <p:spPr>
          <a:xfrm>
            <a:off x="7049631" y="5111117"/>
            <a:ext cx="531138" cy="527232"/>
          </a:xfrm>
          <a:prstGeom prst="roundRect">
            <a:avLst>
              <a:gd name="adj" fmla="val 13434"/>
            </a:avLst>
          </a:prstGeom>
          <a:solidFill>
            <a:srgbClr val="2F3343"/>
          </a:solidFill>
          <a:ln/>
        </p:spPr>
      </p:sp>
      <p:sp>
        <p:nvSpPr>
          <p:cNvPr id="18" name="Text 16"/>
          <p:cNvSpPr/>
          <p:nvPr/>
        </p:nvSpPr>
        <p:spPr>
          <a:xfrm>
            <a:off x="7216080" y="5146218"/>
            <a:ext cx="19812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3</a:t>
            </a:r>
            <a:endParaRPr lang="en-US" sz="2788" dirty="0"/>
          </a:p>
        </p:txBody>
      </p:sp>
      <p:sp>
        <p:nvSpPr>
          <p:cNvPr id="19" name="Text 17"/>
          <p:cNvSpPr/>
          <p:nvPr/>
        </p:nvSpPr>
        <p:spPr>
          <a:xfrm>
            <a:off x="8613577" y="5125654"/>
            <a:ext cx="3009900"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Acceptance and Trust</a:t>
            </a:r>
            <a:endParaRPr lang="en-US" sz="2324" dirty="0"/>
          </a:p>
        </p:txBody>
      </p:sp>
      <p:sp>
        <p:nvSpPr>
          <p:cNvPr id="20" name="Text 18"/>
          <p:cNvSpPr/>
          <p:nvPr/>
        </p:nvSpPr>
        <p:spPr>
          <a:xfrm>
            <a:off x="8613577" y="5717298"/>
            <a:ext cx="5131594" cy="843619"/>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For many people, AI is still a novel concept that is misunderstood or mistrusted.</a:t>
            </a:r>
            <a:endParaRPr lang="en-US" sz="185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917604"/>
            <a:ext cx="1022604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AI's Impact on Society and the Future</a:t>
            </a:r>
            <a:endParaRPr lang="en-US" sz="4647" dirty="0"/>
          </a:p>
        </p:txBody>
      </p:sp>
      <p:pic>
        <p:nvPicPr>
          <p:cNvPr id="5" name="Image 0" descr="preencoded.png"/>
          <p:cNvPicPr>
            <a:picLocks noChangeAspect="1"/>
          </p:cNvPicPr>
          <p:nvPr/>
        </p:nvPicPr>
        <p:blipFill>
          <a:blip r:embed="rId3"/>
          <a:stretch>
            <a:fillRect/>
          </a:stretch>
        </p:blipFill>
        <p:spPr>
          <a:xfrm>
            <a:off x="885230" y="2194733"/>
            <a:ext cx="4050506" cy="2484883"/>
          </a:xfrm>
          <a:prstGeom prst="rect">
            <a:avLst/>
          </a:prstGeom>
        </p:spPr>
      </p:pic>
      <p:sp>
        <p:nvSpPr>
          <p:cNvPr id="6" name="Text 3"/>
          <p:cNvSpPr/>
          <p:nvPr/>
        </p:nvSpPr>
        <p:spPr>
          <a:xfrm>
            <a:off x="885230" y="4972483"/>
            <a:ext cx="3444240"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Workforce Displacement</a:t>
            </a:r>
            <a:endParaRPr lang="en-US" sz="2324" dirty="0"/>
          </a:p>
        </p:txBody>
      </p:sp>
      <p:sp>
        <p:nvSpPr>
          <p:cNvPr id="7" name="Text 4"/>
          <p:cNvSpPr/>
          <p:nvPr/>
        </p:nvSpPr>
        <p:spPr>
          <a:xfrm>
            <a:off x="885230" y="5564128"/>
            <a:ext cx="4050506" cy="1687238"/>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will replace some jobs and reduce the need for human labor, leading to economic upheaval and the need for new social safety nets.</a:t>
            </a:r>
            <a:endParaRPr lang="en-US" sz="1859" dirty="0"/>
          </a:p>
        </p:txBody>
      </p:sp>
      <p:pic>
        <p:nvPicPr>
          <p:cNvPr id="8" name="Image 1" descr="preencoded.png"/>
          <p:cNvPicPr>
            <a:picLocks noChangeAspect="1"/>
          </p:cNvPicPr>
          <p:nvPr/>
        </p:nvPicPr>
        <p:blipFill>
          <a:blip r:embed="rId4"/>
          <a:stretch>
            <a:fillRect/>
          </a:stretch>
        </p:blipFill>
        <p:spPr>
          <a:xfrm>
            <a:off x="5289828" y="2194733"/>
            <a:ext cx="4050625" cy="2485001"/>
          </a:xfrm>
          <a:prstGeom prst="rect">
            <a:avLst/>
          </a:prstGeom>
        </p:spPr>
      </p:pic>
      <p:sp>
        <p:nvSpPr>
          <p:cNvPr id="9" name="Text 5"/>
          <p:cNvSpPr/>
          <p:nvPr/>
        </p:nvSpPr>
        <p:spPr>
          <a:xfrm>
            <a:off x="5289828" y="4972602"/>
            <a:ext cx="3025140"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Human Augmentation</a:t>
            </a:r>
            <a:endParaRPr lang="en-US" sz="2324" dirty="0"/>
          </a:p>
        </p:txBody>
      </p:sp>
      <p:sp>
        <p:nvSpPr>
          <p:cNvPr id="10" name="Text 6"/>
          <p:cNvSpPr/>
          <p:nvPr/>
        </p:nvSpPr>
        <p:spPr>
          <a:xfrm>
            <a:off x="5289828" y="5564246"/>
            <a:ext cx="4050625" cy="1687238"/>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may enable new technologies that enhance human capabilities, like brain-computer interfaces and advanced prosthetics.</a:t>
            </a:r>
            <a:endParaRPr lang="en-US" sz="1859" dirty="0"/>
          </a:p>
        </p:txBody>
      </p:sp>
      <p:pic>
        <p:nvPicPr>
          <p:cNvPr id="11" name="Image 2" descr="preencoded.png"/>
          <p:cNvPicPr>
            <a:picLocks noChangeAspect="1"/>
          </p:cNvPicPr>
          <p:nvPr/>
        </p:nvPicPr>
        <p:blipFill>
          <a:blip r:embed="rId5"/>
          <a:stretch>
            <a:fillRect/>
          </a:stretch>
        </p:blipFill>
        <p:spPr>
          <a:xfrm>
            <a:off x="9694545" y="2194733"/>
            <a:ext cx="4050625" cy="2485001"/>
          </a:xfrm>
          <a:prstGeom prst="rect">
            <a:avLst/>
          </a:prstGeom>
        </p:spPr>
      </p:pic>
      <p:sp>
        <p:nvSpPr>
          <p:cNvPr id="12" name="Text 7"/>
          <p:cNvSpPr/>
          <p:nvPr/>
        </p:nvSpPr>
        <p:spPr>
          <a:xfrm>
            <a:off x="9694545" y="4972602"/>
            <a:ext cx="2613660" cy="380799"/>
          </a:xfrm>
          <a:prstGeom prst="rect">
            <a:avLst/>
          </a:prstGeom>
          <a:noFill/>
          <a:ln/>
        </p:spPr>
        <p:txBody>
          <a:bodyPr wrap="none" rtlCol="0" anchor="t"/>
          <a:lstStyle/>
          <a:p>
            <a:pPr marL="0" indent="0" algn="l">
              <a:lnSpc>
                <a:spcPts val="3021"/>
              </a:lnSpc>
              <a:buNone/>
            </a:pPr>
            <a:r>
              <a:rPr lang="en-US" sz="2324" dirty="0">
                <a:solidFill>
                  <a:srgbClr val="6EB9FC"/>
                </a:solidFill>
                <a:latin typeface="Lora" pitchFamily="34" charset="0"/>
                <a:ea typeface="Lora" pitchFamily="34" charset="-122"/>
                <a:cs typeface="Lora" pitchFamily="34" charset="-120"/>
              </a:rPr>
              <a:t>Artificial Creativity</a:t>
            </a:r>
            <a:endParaRPr lang="en-US" sz="2324" dirty="0"/>
          </a:p>
        </p:txBody>
      </p:sp>
      <p:sp>
        <p:nvSpPr>
          <p:cNvPr id="13" name="Text 8"/>
          <p:cNvSpPr/>
          <p:nvPr/>
        </p:nvSpPr>
        <p:spPr>
          <a:xfrm>
            <a:off x="9694545" y="5564246"/>
            <a:ext cx="4050625" cy="1687238"/>
          </a:xfrm>
          <a:prstGeom prst="rect">
            <a:avLst/>
          </a:prstGeom>
          <a:noFill/>
          <a:ln/>
        </p:spPr>
        <p:txBody>
          <a:bodyPr wrap="square" rtlCol="0" anchor="t"/>
          <a:lstStyle/>
          <a:p>
            <a:pPr marL="0" indent="0" algn="l">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AI-generated art and music are already gaining prominence, raising new questions about the nature of creativity and artistic expression.</a:t>
            </a:r>
            <a:endParaRPr lang="en-US" sz="185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4342901"/>
            <a:ext cx="4721662"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Conclusion</a:t>
            </a:r>
            <a:endParaRPr lang="en-US" sz="4647" dirty="0"/>
          </a:p>
        </p:txBody>
      </p:sp>
      <p:sp>
        <p:nvSpPr>
          <p:cNvPr id="5" name="Text 3"/>
          <p:cNvSpPr/>
          <p:nvPr/>
        </p:nvSpPr>
        <p:spPr>
          <a:xfrm>
            <a:off x="885230" y="5455987"/>
            <a:ext cx="12859941"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Artificial intelligence has come a long way in a short time and its potential is nearly limitless. But we must also think critically about its impact on society, the challenges it poses, and the ethical considerations that must be addressed along the way. By staying informed and proactive, we can help shape the future of AI and ensure that it works for the benefit of all.</a:t>
            </a:r>
            <a:endParaRPr lang="en-US" sz="1859" dirty="0"/>
          </a:p>
        </p:txBody>
      </p:sp>
      <p:pic>
        <p:nvPicPr>
          <p:cNvPr id="6" name="Image 0" descr="preencoded.png"/>
          <p:cNvPicPr>
            <a:picLocks noChangeAspect="1"/>
          </p:cNvPicPr>
          <p:nvPr/>
        </p:nvPicPr>
        <p:blipFill>
          <a:blip r:embed="rId3"/>
          <a:stretch>
            <a:fillRect/>
          </a:stretch>
        </p:blipFill>
        <p:spPr>
          <a:xfrm>
            <a:off x="0" y="0"/>
            <a:ext cx="14630400" cy="28952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734</Words>
  <Application>Microsoft Office PowerPoint</Application>
  <PresentationFormat>Custom</PresentationFormat>
  <Paragraphs>96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Lora</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Halyna Melnyk</cp:lastModifiedBy>
  <cp:revision>1</cp:revision>
  <dcterms:created xsi:type="dcterms:W3CDTF">2023-07-21T13:43:59Z</dcterms:created>
  <dcterms:modified xsi:type="dcterms:W3CDTF">2023-07-21T13:45:17Z</dcterms:modified>
</cp:coreProperties>
</file>