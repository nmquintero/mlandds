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lyna Melnyk" userId="3a0791cb-340d-4bb0-af37-0c0723bf166e" providerId="ADAL" clId="{A2394572-91C7-4719-9519-C654D20543A4}"/>
    <pc:docChg chg="custSel modSld">
      <pc:chgData name="Halyna Melnyk" userId="3a0791cb-340d-4bb0-af37-0c0723bf166e" providerId="ADAL" clId="{A2394572-91C7-4719-9519-C654D20543A4}" dt="2023-07-24T18:00:06.387" v="7" actId="478"/>
      <pc:docMkLst>
        <pc:docMk/>
      </pc:docMkLst>
      <pc:sldChg chg="delSp mod">
        <pc:chgData name="Halyna Melnyk" userId="3a0791cb-340d-4bb0-af37-0c0723bf166e" providerId="ADAL" clId="{A2394572-91C7-4719-9519-C654D20543A4}" dt="2023-07-24T17:59:46.265" v="0" actId="478"/>
        <pc:sldMkLst>
          <pc:docMk/>
          <pc:sldMk cId="0" sldId="256"/>
        </pc:sldMkLst>
        <pc:picChg chg="del">
          <ac:chgData name="Halyna Melnyk" userId="3a0791cb-340d-4bb0-af37-0c0723bf166e" providerId="ADAL" clId="{A2394572-91C7-4719-9519-C654D20543A4}" dt="2023-07-24T17:59:46.265" v="0" actId="478"/>
          <ac:picMkLst>
            <pc:docMk/>
            <pc:sldMk cId="0" sldId="256"/>
            <ac:picMk id="7" creationId="{00000000-0000-0000-0000-000000000000}"/>
          </ac:picMkLst>
        </pc:picChg>
      </pc:sldChg>
      <pc:sldChg chg="delSp mod">
        <pc:chgData name="Halyna Melnyk" userId="3a0791cb-340d-4bb0-af37-0c0723bf166e" providerId="ADAL" clId="{A2394572-91C7-4719-9519-C654D20543A4}" dt="2023-07-24T17:59:49.782" v="1" actId="478"/>
        <pc:sldMkLst>
          <pc:docMk/>
          <pc:sldMk cId="0" sldId="257"/>
        </pc:sldMkLst>
        <pc:picChg chg="del">
          <ac:chgData name="Halyna Melnyk" userId="3a0791cb-340d-4bb0-af37-0c0723bf166e" providerId="ADAL" clId="{A2394572-91C7-4719-9519-C654D20543A4}" dt="2023-07-24T17:59:49.782" v="1" actId="478"/>
          <ac:picMkLst>
            <pc:docMk/>
            <pc:sldMk cId="0" sldId="257"/>
            <ac:picMk id="14" creationId="{00000000-0000-0000-0000-000000000000}"/>
          </ac:picMkLst>
        </pc:picChg>
      </pc:sldChg>
      <pc:sldChg chg="delSp mod">
        <pc:chgData name="Halyna Melnyk" userId="3a0791cb-340d-4bb0-af37-0c0723bf166e" providerId="ADAL" clId="{A2394572-91C7-4719-9519-C654D20543A4}" dt="2023-07-24T17:59:54.342" v="2" actId="478"/>
        <pc:sldMkLst>
          <pc:docMk/>
          <pc:sldMk cId="0" sldId="258"/>
        </pc:sldMkLst>
        <pc:picChg chg="del">
          <ac:chgData name="Halyna Melnyk" userId="3a0791cb-340d-4bb0-af37-0c0723bf166e" providerId="ADAL" clId="{A2394572-91C7-4719-9519-C654D20543A4}" dt="2023-07-24T17:59:54.342" v="2" actId="478"/>
          <ac:picMkLst>
            <pc:docMk/>
            <pc:sldMk cId="0" sldId="258"/>
            <ac:picMk id="11" creationId="{00000000-0000-0000-0000-000000000000}"/>
          </ac:picMkLst>
        </pc:picChg>
      </pc:sldChg>
      <pc:sldChg chg="delSp mod">
        <pc:chgData name="Halyna Melnyk" userId="3a0791cb-340d-4bb0-af37-0c0723bf166e" providerId="ADAL" clId="{A2394572-91C7-4719-9519-C654D20543A4}" dt="2023-07-24T17:59:56.674" v="3" actId="478"/>
        <pc:sldMkLst>
          <pc:docMk/>
          <pc:sldMk cId="0" sldId="259"/>
        </pc:sldMkLst>
        <pc:picChg chg="del">
          <ac:chgData name="Halyna Melnyk" userId="3a0791cb-340d-4bb0-af37-0c0723bf166e" providerId="ADAL" clId="{A2394572-91C7-4719-9519-C654D20543A4}" dt="2023-07-24T17:59:56.674" v="3" actId="478"/>
          <ac:picMkLst>
            <pc:docMk/>
            <pc:sldMk cId="0" sldId="259"/>
            <ac:picMk id="16" creationId="{00000000-0000-0000-0000-000000000000}"/>
          </ac:picMkLst>
        </pc:picChg>
      </pc:sldChg>
      <pc:sldChg chg="delSp mod">
        <pc:chgData name="Halyna Melnyk" userId="3a0791cb-340d-4bb0-af37-0c0723bf166e" providerId="ADAL" clId="{A2394572-91C7-4719-9519-C654D20543A4}" dt="2023-07-24T17:59:58.511" v="4" actId="478"/>
        <pc:sldMkLst>
          <pc:docMk/>
          <pc:sldMk cId="0" sldId="260"/>
        </pc:sldMkLst>
        <pc:picChg chg="del">
          <ac:chgData name="Halyna Melnyk" userId="3a0791cb-340d-4bb0-af37-0c0723bf166e" providerId="ADAL" clId="{A2394572-91C7-4719-9519-C654D20543A4}" dt="2023-07-24T17:59:58.511" v="4" actId="478"/>
          <ac:picMkLst>
            <pc:docMk/>
            <pc:sldMk cId="0" sldId="260"/>
            <ac:picMk id="9" creationId="{00000000-0000-0000-0000-000000000000}"/>
          </ac:picMkLst>
        </pc:picChg>
      </pc:sldChg>
      <pc:sldChg chg="delSp mod">
        <pc:chgData name="Halyna Melnyk" userId="3a0791cb-340d-4bb0-af37-0c0723bf166e" providerId="ADAL" clId="{A2394572-91C7-4719-9519-C654D20543A4}" dt="2023-07-24T18:00:00.426" v="5" actId="478"/>
        <pc:sldMkLst>
          <pc:docMk/>
          <pc:sldMk cId="0" sldId="261"/>
        </pc:sldMkLst>
        <pc:picChg chg="del">
          <ac:chgData name="Halyna Melnyk" userId="3a0791cb-340d-4bb0-af37-0c0723bf166e" providerId="ADAL" clId="{A2394572-91C7-4719-9519-C654D20543A4}" dt="2023-07-24T18:00:00.426" v="5" actId="478"/>
          <ac:picMkLst>
            <pc:docMk/>
            <pc:sldMk cId="0" sldId="261"/>
            <ac:picMk id="22" creationId="{00000000-0000-0000-0000-000000000000}"/>
          </ac:picMkLst>
        </pc:picChg>
      </pc:sldChg>
      <pc:sldChg chg="delSp mod">
        <pc:chgData name="Halyna Melnyk" userId="3a0791cb-340d-4bb0-af37-0c0723bf166e" providerId="ADAL" clId="{A2394572-91C7-4719-9519-C654D20543A4}" dt="2023-07-24T18:00:06.387" v="7" actId="478"/>
        <pc:sldMkLst>
          <pc:docMk/>
          <pc:sldMk cId="0" sldId="262"/>
        </pc:sldMkLst>
        <pc:picChg chg="del">
          <ac:chgData name="Halyna Melnyk" userId="3a0791cb-340d-4bb0-af37-0c0723bf166e" providerId="ADAL" clId="{A2394572-91C7-4719-9519-C654D20543A4}" dt="2023-07-24T18:00:06.387" v="7" actId="478"/>
          <ac:picMkLst>
            <pc:docMk/>
            <pc:sldMk cId="0" sldId="262"/>
            <ac:picMk id="18" creationId="{00000000-0000-0000-0000-000000000000}"/>
          </ac:picMkLst>
        </pc:picChg>
      </pc:sldChg>
      <pc:sldChg chg="delSp mod">
        <pc:chgData name="Halyna Melnyk" userId="3a0791cb-340d-4bb0-af37-0c0723bf166e" providerId="ADAL" clId="{A2394572-91C7-4719-9519-C654D20543A4}" dt="2023-07-24T18:00:02.277" v="6" actId="478"/>
        <pc:sldMkLst>
          <pc:docMk/>
          <pc:sldMk cId="0" sldId="263"/>
        </pc:sldMkLst>
        <pc:picChg chg="del">
          <ac:chgData name="Halyna Melnyk" userId="3a0791cb-340d-4bb0-af37-0c0723bf166e" providerId="ADAL" clId="{A2394572-91C7-4719-9519-C654D20543A4}" dt="2023-07-24T18:00:02.277" v="6" actId="478"/>
          <ac:picMkLst>
            <pc:docMk/>
            <pc:sldMk cId="0" sldId="263"/>
            <ac:picMk id="7"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9520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169088"/>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
        <p:nvSpPr>
          <p:cNvPr id="4" name="Text 2"/>
          <p:cNvSpPr/>
          <p:nvPr/>
        </p:nvSpPr>
        <p:spPr>
          <a:xfrm>
            <a:off x="885230" y="2573050"/>
            <a:ext cx="7373541" cy="1827881"/>
          </a:xfrm>
          <a:prstGeom prst="rect">
            <a:avLst/>
          </a:prstGeom>
          <a:noFill/>
          <a:ln/>
        </p:spPr>
        <p:txBody>
          <a:bodyPr wrap="square" rtlCol="0" anchor="t"/>
          <a:lstStyle/>
          <a:p>
            <a:pPr marL="0" indent="0">
              <a:lnSpc>
                <a:spcPts val="7250"/>
              </a:lnSpc>
              <a:buNone/>
            </a:pPr>
            <a:r>
              <a:rPr lang="en-US" sz="5577" dirty="0">
                <a:solidFill>
                  <a:srgbClr val="6EB9FC"/>
                </a:solidFill>
                <a:latin typeface="Lora" pitchFamily="34" charset="0"/>
                <a:ea typeface="Lora" pitchFamily="34" charset="-122"/>
                <a:cs typeface="Lora" pitchFamily="34" charset="-120"/>
              </a:rPr>
              <a:t>Search Algorithms in AI</a:t>
            </a:r>
            <a:endParaRPr lang="en-US" sz="5577" dirty="0"/>
          </a:p>
        </p:txBody>
      </p:sp>
      <p:sp>
        <p:nvSpPr>
          <p:cNvPr id="5" name="Text 3"/>
          <p:cNvSpPr/>
          <p:nvPr/>
        </p:nvSpPr>
        <p:spPr>
          <a:xfrm>
            <a:off x="885230" y="4752419"/>
            <a:ext cx="7373541" cy="843619"/>
          </a:xfrm>
          <a:prstGeom prst="rect">
            <a:avLst/>
          </a:prstGeom>
          <a:noFill/>
          <a:ln/>
        </p:spPr>
        <p:txBody>
          <a:bodyPr wrap="squar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An introduction to different types of search algorithms used in AI as well as their real-world applications and case studies</a:t>
            </a:r>
            <a:endParaRPr lang="en-US" sz="1859" dirty="0"/>
          </a:p>
        </p:txBody>
      </p:sp>
      <p:pic>
        <p:nvPicPr>
          <p:cNvPr id="6" name="Image 0" descr="preencoded.png"/>
          <p:cNvPicPr>
            <a:picLocks noChangeAspect="1"/>
          </p:cNvPicPr>
          <p:nvPr/>
        </p:nvPicPr>
        <p:blipFill>
          <a:blip r:embed="rId3"/>
          <a:stretch>
            <a:fillRect/>
          </a:stretch>
        </p:blipFill>
        <p:spPr>
          <a:xfrm>
            <a:off x="9144000" y="0"/>
            <a:ext cx="5486400" cy="816908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169088"/>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
        <p:nvSpPr>
          <p:cNvPr id="4" name="Text 2"/>
          <p:cNvSpPr/>
          <p:nvPr/>
        </p:nvSpPr>
        <p:spPr>
          <a:xfrm>
            <a:off x="885230" y="1861328"/>
            <a:ext cx="8511540" cy="761597"/>
          </a:xfrm>
          <a:prstGeom prst="rect">
            <a:avLst/>
          </a:prstGeom>
          <a:noFill/>
          <a:ln/>
        </p:spPr>
        <p:txBody>
          <a:bodyPr wrap="none" rtlCol="0" anchor="t"/>
          <a:lstStyle/>
          <a:p>
            <a:pPr marL="0" indent="0">
              <a:lnSpc>
                <a:spcPts val="6042"/>
              </a:lnSpc>
              <a:buNone/>
            </a:pPr>
            <a:r>
              <a:rPr lang="en-US" sz="4647" dirty="0">
                <a:solidFill>
                  <a:srgbClr val="6EB9FC"/>
                </a:solidFill>
                <a:latin typeface="Lora" pitchFamily="34" charset="0"/>
                <a:ea typeface="Lora" pitchFamily="34" charset="-122"/>
                <a:cs typeface="Lora" pitchFamily="34" charset="-120"/>
              </a:rPr>
              <a:t>Uninformed Search Algorithms</a:t>
            </a:r>
            <a:endParaRPr lang="en-US" sz="4647" dirty="0"/>
          </a:p>
        </p:txBody>
      </p:sp>
      <p:sp>
        <p:nvSpPr>
          <p:cNvPr id="5" name="Shape 3"/>
          <p:cNvSpPr/>
          <p:nvPr/>
        </p:nvSpPr>
        <p:spPr>
          <a:xfrm>
            <a:off x="885230" y="3138457"/>
            <a:ext cx="4129326" cy="3169185"/>
          </a:xfrm>
          <a:prstGeom prst="roundRect">
            <a:avLst>
              <a:gd name="adj" fmla="val 2235"/>
            </a:avLst>
          </a:prstGeom>
          <a:solidFill>
            <a:srgbClr val="2F3343"/>
          </a:solidFill>
          <a:ln/>
        </p:spPr>
      </p:sp>
      <p:sp>
        <p:nvSpPr>
          <p:cNvPr id="6" name="Text 4"/>
          <p:cNvSpPr/>
          <p:nvPr/>
        </p:nvSpPr>
        <p:spPr>
          <a:xfrm>
            <a:off x="1121212" y="3372704"/>
            <a:ext cx="3436620" cy="380799"/>
          </a:xfrm>
          <a:prstGeom prst="rect">
            <a:avLst/>
          </a:prstGeom>
          <a:noFill/>
          <a:ln/>
        </p:spPr>
        <p:txBody>
          <a:bodyPr wrap="none" rtlCol="0" anchor="t"/>
          <a:lstStyle/>
          <a:p>
            <a:pPr marL="0" indent="0">
              <a:lnSpc>
                <a:spcPts val="3021"/>
              </a:lnSpc>
              <a:buNone/>
            </a:pPr>
            <a:r>
              <a:rPr lang="en-US" sz="2324" dirty="0">
                <a:solidFill>
                  <a:srgbClr val="6EB9FC"/>
                </a:solidFill>
                <a:latin typeface="Lora" pitchFamily="34" charset="0"/>
                <a:ea typeface="Lora" pitchFamily="34" charset="-122"/>
                <a:cs typeface="Lora" pitchFamily="34" charset="-120"/>
              </a:rPr>
              <a:t>Depth-First Search (DFS)</a:t>
            </a:r>
            <a:endParaRPr lang="en-US" sz="2324" dirty="0"/>
          </a:p>
        </p:txBody>
      </p:sp>
      <p:sp>
        <p:nvSpPr>
          <p:cNvPr id="7" name="Text 5"/>
          <p:cNvSpPr/>
          <p:nvPr/>
        </p:nvSpPr>
        <p:spPr>
          <a:xfrm>
            <a:off x="1121212" y="3964348"/>
            <a:ext cx="3657362" cy="1265429"/>
          </a:xfrm>
          <a:prstGeom prst="rect">
            <a:avLst/>
          </a:prstGeom>
          <a:noFill/>
          <a:ln/>
        </p:spPr>
        <p:txBody>
          <a:bodyPr wrap="squar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Visits the deepest node first. Used in web crawling, maze solving, and game theory.</a:t>
            </a:r>
            <a:endParaRPr lang="en-US" sz="1859" dirty="0"/>
          </a:p>
        </p:txBody>
      </p:sp>
      <p:sp>
        <p:nvSpPr>
          <p:cNvPr id="8" name="Shape 6"/>
          <p:cNvSpPr/>
          <p:nvPr/>
        </p:nvSpPr>
        <p:spPr>
          <a:xfrm>
            <a:off x="5250537" y="3138457"/>
            <a:ext cx="4129326" cy="3169185"/>
          </a:xfrm>
          <a:prstGeom prst="roundRect">
            <a:avLst>
              <a:gd name="adj" fmla="val 2235"/>
            </a:avLst>
          </a:prstGeom>
          <a:solidFill>
            <a:srgbClr val="2F3343"/>
          </a:solidFill>
          <a:ln/>
        </p:spPr>
      </p:sp>
      <p:sp>
        <p:nvSpPr>
          <p:cNvPr id="9" name="Text 7"/>
          <p:cNvSpPr/>
          <p:nvPr/>
        </p:nvSpPr>
        <p:spPr>
          <a:xfrm>
            <a:off x="5486519" y="3372704"/>
            <a:ext cx="3642360" cy="380799"/>
          </a:xfrm>
          <a:prstGeom prst="rect">
            <a:avLst/>
          </a:prstGeom>
          <a:noFill/>
          <a:ln/>
        </p:spPr>
        <p:txBody>
          <a:bodyPr wrap="none" rtlCol="0" anchor="t"/>
          <a:lstStyle/>
          <a:p>
            <a:pPr marL="0" indent="0">
              <a:lnSpc>
                <a:spcPts val="3021"/>
              </a:lnSpc>
              <a:buNone/>
            </a:pPr>
            <a:r>
              <a:rPr lang="en-US" sz="2324" dirty="0">
                <a:solidFill>
                  <a:srgbClr val="6EB9FC"/>
                </a:solidFill>
                <a:latin typeface="Lora" pitchFamily="34" charset="0"/>
                <a:ea typeface="Lora" pitchFamily="34" charset="-122"/>
                <a:cs typeface="Lora" pitchFamily="34" charset="-120"/>
              </a:rPr>
              <a:t>Breadth-First Search (BFS)</a:t>
            </a:r>
            <a:endParaRPr lang="en-US" sz="2324" dirty="0"/>
          </a:p>
        </p:txBody>
      </p:sp>
      <p:sp>
        <p:nvSpPr>
          <p:cNvPr id="10" name="Text 8"/>
          <p:cNvSpPr/>
          <p:nvPr/>
        </p:nvSpPr>
        <p:spPr>
          <a:xfrm>
            <a:off x="5486519" y="3964348"/>
            <a:ext cx="3657362" cy="2109048"/>
          </a:xfrm>
          <a:prstGeom prst="rect">
            <a:avLst/>
          </a:prstGeom>
          <a:noFill/>
          <a:ln/>
        </p:spPr>
        <p:txBody>
          <a:bodyPr wrap="squar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Explores all the neighboring nodes at the present depth before moving on to the next depth level. Used in shortest path algorithms and maze solving.</a:t>
            </a:r>
            <a:endParaRPr lang="en-US" sz="1859" dirty="0"/>
          </a:p>
        </p:txBody>
      </p:sp>
      <p:sp>
        <p:nvSpPr>
          <p:cNvPr id="11" name="Shape 9"/>
          <p:cNvSpPr/>
          <p:nvPr/>
        </p:nvSpPr>
        <p:spPr>
          <a:xfrm>
            <a:off x="9615845" y="3138457"/>
            <a:ext cx="4129326" cy="3169185"/>
          </a:xfrm>
          <a:prstGeom prst="roundRect">
            <a:avLst>
              <a:gd name="adj" fmla="val 2235"/>
            </a:avLst>
          </a:prstGeom>
          <a:solidFill>
            <a:srgbClr val="2F3343"/>
          </a:solidFill>
          <a:ln/>
        </p:spPr>
      </p:sp>
      <p:sp>
        <p:nvSpPr>
          <p:cNvPr id="12" name="Text 10"/>
          <p:cNvSpPr/>
          <p:nvPr/>
        </p:nvSpPr>
        <p:spPr>
          <a:xfrm>
            <a:off x="9851827" y="3372704"/>
            <a:ext cx="3657362" cy="761597"/>
          </a:xfrm>
          <a:prstGeom prst="rect">
            <a:avLst/>
          </a:prstGeom>
          <a:noFill/>
          <a:ln/>
        </p:spPr>
        <p:txBody>
          <a:bodyPr wrap="square" rtlCol="0" anchor="t"/>
          <a:lstStyle/>
          <a:p>
            <a:pPr marL="0" indent="0">
              <a:lnSpc>
                <a:spcPts val="3021"/>
              </a:lnSpc>
              <a:buNone/>
            </a:pPr>
            <a:r>
              <a:rPr lang="en-US" sz="2324" dirty="0">
                <a:solidFill>
                  <a:srgbClr val="6EB9FC"/>
                </a:solidFill>
                <a:latin typeface="Lora" pitchFamily="34" charset="0"/>
                <a:ea typeface="Lora" pitchFamily="34" charset="-122"/>
                <a:cs typeface="Lora" pitchFamily="34" charset="-120"/>
              </a:rPr>
              <a:t>Depth-Limited Search and Iterative Deepening</a:t>
            </a:r>
            <a:endParaRPr lang="en-US" sz="2324" dirty="0"/>
          </a:p>
        </p:txBody>
      </p:sp>
      <p:sp>
        <p:nvSpPr>
          <p:cNvPr id="13" name="Text 11"/>
          <p:cNvSpPr/>
          <p:nvPr/>
        </p:nvSpPr>
        <p:spPr>
          <a:xfrm>
            <a:off x="9851827" y="4345147"/>
            <a:ext cx="3657362" cy="1265429"/>
          </a:xfrm>
          <a:prstGeom prst="rect">
            <a:avLst/>
          </a:prstGeom>
          <a:noFill/>
          <a:ln/>
        </p:spPr>
        <p:txBody>
          <a:bodyPr wrap="squar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A modified version of DFS that limits the depth, which reduces the time complexity. Used in AI game search.</a:t>
            </a:r>
            <a:endParaRPr lang="en-US" sz="1859"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169088"/>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
        <p:nvSpPr>
          <p:cNvPr id="4" name="Text 2"/>
          <p:cNvSpPr/>
          <p:nvPr/>
        </p:nvSpPr>
        <p:spPr>
          <a:xfrm>
            <a:off x="806172" y="586799"/>
            <a:ext cx="7071360" cy="693522"/>
          </a:xfrm>
          <a:prstGeom prst="rect">
            <a:avLst/>
          </a:prstGeom>
          <a:noFill/>
          <a:ln/>
        </p:spPr>
        <p:txBody>
          <a:bodyPr wrap="none" rtlCol="0" anchor="t"/>
          <a:lstStyle/>
          <a:p>
            <a:pPr marL="0" indent="0">
              <a:lnSpc>
                <a:spcPts val="5502"/>
              </a:lnSpc>
              <a:buNone/>
            </a:pPr>
            <a:r>
              <a:rPr lang="en-US" sz="4232" dirty="0">
                <a:solidFill>
                  <a:srgbClr val="6EB9FC"/>
                </a:solidFill>
                <a:latin typeface="Lora" pitchFamily="34" charset="0"/>
                <a:ea typeface="Lora" pitchFamily="34" charset="-122"/>
                <a:cs typeface="Lora" pitchFamily="34" charset="-120"/>
              </a:rPr>
              <a:t>Informed Search Algorithms</a:t>
            </a:r>
            <a:endParaRPr lang="en-US" sz="4232" dirty="0"/>
          </a:p>
        </p:txBody>
      </p:sp>
      <p:pic>
        <p:nvPicPr>
          <p:cNvPr id="5" name="Image 0" descr="preencoded.png"/>
          <p:cNvPicPr>
            <a:picLocks noChangeAspect="1"/>
          </p:cNvPicPr>
          <p:nvPr/>
        </p:nvPicPr>
        <p:blipFill>
          <a:blip r:embed="rId3"/>
          <a:stretch>
            <a:fillRect/>
          </a:stretch>
        </p:blipFill>
        <p:spPr>
          <a:xfrm>
            <a:off x="806172" y="1749759"/>
            <a:ext cx="6347817" cy="3894381"/>
          </a:xfrm>
          <a:prstGeom prst="rect">
            <a:avLst/>
          </a:prstGeom>
        </p:spPr>
      </p:pic>
      <p:sp>
        <p:nvSpPr>
          <p:cNvPr id="6" name="Text 3"/>
          <p:cNvSpPr/>
          <p:nvPr/>
        </p:nvSpPr>
        <p:spPr>
          <a:xfrm>
            <a:off x="806172" y="5910888"/>
            <a:ext cx="2149793" cy="346761"/>
          </a:xfrm>
          <a:prstGeom prst="rect">
            <a:avLst/>
          </a:prstGeom>
          <a:noFill/>
          <a:ln/>
        </p:spPr>
        <p:txBody>
          <a:bodyPr wrap="none" rtlCol="0" anchor="t"/>
          <a:lstStyle/>
          <a:p>
            <a:pPr marL="0" indent="0" algn="l">
              <a:lnSpc>
                <a:spcPts val="2751"/>
              </a:lnSpc>
              <a:buNone/>
            </a:pPr>
            <a:r>
              <a:rPr lang="en-US" sz="2116" dirty="0">
                <a:solidFill>
                  <a:srgbClr val="6EB9FC"/>
                </a:solidFill>
                <a:latin typeface="Lora" pitchFamily="34" charset="0"/>
                <a:ea typeface="Lora" pitchFamily="34" charset="-122"/>
                <a:cs typeface="Lora" pitchFamily="34" charset="-120"/>
              </a:rPr>
              <a:t>Greedy Search</a:t>
            </a:r>
            <a:endParaRPr lang="en-US" sz="2116" dirty="0"/>
          </a:p>
        </p:txBody>
      </p:sp>
      <p:sp>
        <p:nvSpPr>
          <p:cNvPr id="7" name="Text 4"/>
          <p:cNvSpPr/>
          <p:nvPr/>
        </p:nvSpPr>
        <p:spPr>
          <a:xfrm>
            <a:off x="806172" y="6449703"/>
            <a:ext cx="6347817" cy="1152324"/>
          </a:xfrm>
          <a:prstGeom prst="rect">
            <a:avLst/>
          </a:prstGeom>
          <a:noFill/>
          <a:ln/>
        </p:spPr>
        <p:txBody>
          <a:bodyPr wrap="square" rtlCol="0" anchor="t"/>
          <a:lstStyle/>
          <a:p>
            <a:pPr marL="0" indent="0" algn="l">
              <a:lnSpc>
                <a:spcPts val="3047"/>
              </a:lnSpc>
              <a:buNone/>
            </a:pPr>
            <a:r>
              <a:rPr lang="en-US" sz="1693" dirty="0">
                <a:solidFill>
                  <a:srgbClr val="D6E5EF"/>
                </a:solidFill>
                <a:latin typeface="Source Sans Pro" pitchFamily="34" charset="0"/>
                <a:ea typeface="Source Sans Pro" pitchFamily="34" charset="-122"/>
                <a:cs typeface="Source Sans Pro" pitchFamily="34" charset="-120"/>
              </a:rPr>
              <a:t>Exploits the information available at a given point in time to find the node that satisfies the heuristic best. Used in natural language processing and robotics.</a:t>
            </a:r>
            <a:endParaRPr lang="en-US" sz="1693" dirty="0"/>
          </a:p>
        </p:txBody>
      </p:sp>
      <p:pic>
        <p:nvPicPr>
          <p:cNvPr id="8" name="Image 1" descr="preencoded.png"/>
          <p:cNvPicPr>
            <a:picLocks noChangeAspect="1"/>
          </p:cNvPicPr>
          <p:nvPr/>
        </p:nvPicPr>
        <p:blipFill>
          <a:blip r:embed="rId4"/>
          <a:stretch>
            <a:fillRect/>
          </a:stretch>
        </p:blipFill>
        <p:spPr>
          <a:xfrm>
            <a:off x="7476411" y="1749759"/>
            <a:ext cx="6347817" cy="3894381"/>
          </a:xfrm>
          <a:prstGeom prst="rect">
            <a:avLst/>
          </a:prstGeom>
        </p:spPr>
      </p:pic>
      <p:sp>
        <p:nvSpPr>
          <p:cNvPr id="9" name="Text 5"/>
          <p:cNvSpPr/>
          <p:nvPr/>
        </p:nvSpPr>
        <p:spPr>
          <a:xfrm>
            <a:off x="7476411" y="5910888"/>
            <a:ext cx="2606040" cy="346761"/>
          </a:xfrm>
          <a:prstGeom prst="rect">
            <a:avLst/>
          </a:prstGeom>
          <a:noFill/>
          <a:ln/>
        </p:spPr>
        <p:txBody>
          <a:bodyPr wrap="none" rtlCol="0" anchor="t"/>
          <a:lstStyle/>
          <a:p>
            <a:pPr marL="0" indent="0" algn="l">
              <a:lnSpc>
                <a:spcPts val="2751"/>
              </a:lnSpc>
              <a:buNone/>
            </a:pPr>
            <a:r>
              <a:rPr lang="en-US" sz="2116" dirty="0">
                <a:solidFill>
                  <a:srgbClr val="6EB9FC"/>
                </a:solidFill>
                <a:latin typeface="Lora" pitchFamily="34" charset="0"/>
                <a:ea typeface="Lora" pitchFamily="34" charset="-122"/>
                <a:cs typeface="Lora" pitchFamily="34" charset="-120"/>
              </a:rPr>
              <a:t>A* (A Star) Algorithm</a:t>
            </a:r>
            <a:endParaRPr lang="en-US" sz="2116" dirty="0"/>
          </a:p>
        </p:txBody>
      </p:sp>
      <p:sp>
        <p:nvSpPr>
          <p:cNvPr id="10" name="Text 6"/>
          <p:cNvSpPr/>
          <p:nvPr/>
        </p:nvSpPr>
        <p:spPr>
          <a:xfrm>
            <a:off x="7476411" y="6449703"/>
            <a:ext cx="6347817" cy="1536432"/>
          </a:xfrm>
          <a:prstGeom prst="rect">
            <a:avLst/>
          </a:prstGeom>
          <a:noFill/>
          <a:ln/>
        </p:spPr>
        <p:txBody>
          <a:bodyPr wrap="square" rtlCol="0" anchor="t"/>
          <a:lstStyle/>
          <a:p>
            <a:pPr marL="0" indent="0" algn="l">
              <a:lnSpc>
                <a:spcPts val="3047"/>
              </a:lnSpc>
              <a:buNone/>
            </a:pPr>
            <a:r>
              <a:rPr lang="en-US" sz="1693" dirty="0">
                <a:solidFill>
                  <a:srgbClr val="D6E5EF"/>
                </a:solidFill>
                <a:latin typeface="Source Sans Pro" pitchFamily="34" charset="0"/>
                <a:ea typeface="Source Sans Pro" pitchFamily="34" charset="-122"/>
                <a:cs typeface="Source Sans Pro" pitchFamily="34" charset="-120"/>
              </a:rPr>
              <a:t>Combines the advantages of both BFS and DFS search algorithms. Picks the shortest and most promising path while keeping an optimal balance between heuristic and cost. Used in pathfinding and robot motion planning.</a:t>
            </a:r>
            <a:endParaRPr lang="en-US" sz="1693"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169088"/>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
        <p:nvSpPr>
          <p:cNvPr id="4" name="Text 2"/>
          <p:cNvSpPr/>
          <p:nvPr/>
        </p:nvSpPr>
        <p:spPr>
          <a:xfrm>
            <a:off x="885230" y="956251"/>
            <a:ext cx="12847320" cy="761597"/>
          </a:xfrm>
          <a:prstGeom prst="rect">
            <a:avLst/>
          </a:prstGeom>
          <a:noFill/>
          <a:ln/>
        </p:spPr>
        <p:txBody>
          <a:bodyPr wrap="none" rtlCol="0" anchor="t"/>
          <a:lstStyle/>
          <a:p>
            <a:pPr marL="0" indent="0">
              <a:lnSpc>
                <a:spcPts val="6042"/>
              </a:lnSpc>
              <a:buNone/>
            </a:pPr>
            <a:r>
              <a:rPr lang="en-US" sz="4647" dirty="0">
                <a:solidFill>
                  <a:srgbClr val="6EB9FC"/>
                </a:solidFill>
                <a:latin typeface="Lora" pitchFamily="34" charset="0"/>
                <a:ea typeface="Lora" pitchFamily="34" charset="-122"/>
                <a:cs typeface="Lora" pitchFamily="34" charset="-120"/>
              </a:rPr>
              <a:t>Comparison between Greedy Best-First and A*</a:t>
            </a:r>
            <a:endParaRPr lang="en-US" sz="4647" dirty="0"/>
          </a:p>
        </p:txBody>
      </p:sp>
      <p:sp>
        <p:nvSpPr>
          <p:cNvPr id="5" name="Shape 3"/>
          <p:cNvSpPr/>
          <p:nvPr/>
        </p:nvSpPr>
        <p:spPr>
          <a:xfrm>
            <a:off x="885230" y="4723109"/>
            <a:ext cx="12859941" cy="15128"/>
          </a:xfrm>
          <a:prstGeom prst="rect">
            <a:avLst/>
          </a:prstGeom>
          <a:solidFill>
            <a:srgbClr val="6EB9FC"/>
          </a:solidFill>
          <a:ln/>
        </p:spPr>
      </p:sp>
      <p:sp>
        <p:nvSpPr>
          <p:cNvPr id="6" name="Shape 4"/>
          <p:cNvSpPr/>
          <p:nvPr/>
        </p:nvSpPr>
        <p:spPr>
          <a:xfrm>
            <a:off x="5124926" y="4723109"/>
            <a:ext cx="15240" cy="820218"/>
          </a:xfrm>
          <a:prstGeom prst="rect">
            <a:avLst/>
          </a:prstGeom>
          <a:solidFill>
            <a:srgbClr val="6EB9FC"/>
          </a:solidFill>
          <a:ln/>
        </p:spPr>
      </p:sp>
      <p:sp>
        <p:nvSpPr>
          <p:cNvPr id="7" name="Shape 5"/>
          <p:cNvSpPr/>
          <p:nvPr/>
        </p:nvSpPr>
        <p:spPr>
          <a:xfrm>
            <a:off x="4867037" y="4459552"/>
            <a:ext cx="531138" cy="527232"/>
          </a:xfrm>
          <a:prstGeom prst="roundRect">
            <a:avLst>
              <a:gd name="adj" fmla="val 13434"/>
            </a:avLst>
          </a:prstGeom>
          <a:solidFill>
            <a:srgbClr val="2F3343"/>
          </a:solidFill>
          <a:ln/>
        </p:spPr>
      </p:sp>
      <p:sp>
        <p:nvSpPr>
          <p:cNvPr id="8" name="Text 6"/>
          <p:cNvSpPr/>
          <p:nvPr/>
        </p:nvSpPr>
        <p:spPr>
          <a:xfrm>
            <a:off x="5067776" y="4494653"/>
            <a:ext cx="129540" cy="456911"/>
          </a:xfrm>
          <a:prstGeom prst="rect">
            <a:avLst/>
          </a:prstGeom>
          <a:noFill/>
          <a:ln/>
        </p:spPr>
        <p:txBody>
          <a:bodyPr wrap="none" rtlCol="0" anchor="t"/>
          <a:lstStyle/>
          <a:p>
            <a:pPr marL="0" indent="0" algn="ctr">
              <a:lnSpc>
                <a:spcPts val="3625"/>
              </a:lnSpc>
              <a:buNone/>
            </a:pPr>
            <a:r>
              <a:rPr lang="en-US" sz="2788" dirty="0">
                <a:solidFill>
                  <a:srgbClr val="6EB9FC"/>
                </a:solidFill>
                <a:latin typeface="Lora" pitchFamily="34" charset="0"/>
                <a:ea typeface="Lora" pitchFamily="34" charset="-122"/>
                <a:cs typeface="Lora" pitchFamily="34" charset="-120"/>
              </a:rPr>
              <a:t>1</a:t>
            </a:r>
            <a:endParaRPr lang="en-US" sz="2788" dirty="0"/>
          </a:p>
        </p:txBody>
      </p:sp>
      <p:sp>
        <p:nvSpPr>
          <p:cNvPr id="9" name="Text 7"/>
          <p:cNvSpPr/>
          <p:nvPr/>
        </p:nvSpPr>
        <p:spPr>
          <a:xfrm>
            <a:off x="3917156" y="5777573"/>
            <a:ext cx="2430780" cy="380799"/>
          </a:xfrm>
          <a:prstGeom prst="rect">
            <a:avLst/>
          </a:prstGeom>
          <a:noFill/>
          <a:ln/>
        </p:spPr>
        <p:txBody>
          <a:bodyPr wrap="none" rtlCol="0" anchor="t"/>
          <a:lstStyle/>
          <a:p>
            <a:pPr marL="0" indent="0" algn="ctr">
              <a:lnSpc>
                <a:spcPts val="3021"/>
              </a:lnSpc>
              <a:buNone/>
            </a:pPr>
            <a:r>
              <a:rPr lang="en-US" sz="2324" dirty="0">
                <a:solidFill>
                  <a:srgbClr val="6EB9FC"/>
                </a:solidFill>
                <a:latin typeface="Lora" pitchFamily="34" charset="0"/>
                <a:ea typeface="Lora" pitchFamily="34" charset="-122"/>
                <a:cs typeface="Lora" pitchFamily="34" charset="-120"/>
              </a:rPr>
              <a:t>Greedy Best-First</a:t>
            </a:r>
            <a:endParaRPr lang="en-US" sz="2324" dirty="0"/>
          </a:p>
        </p:txBody>
      </p:sp>
      <p:sp>
        <p:nvSpPr>
          <p:cNvPr id="10" name="Text 8"/>
          <p:cNvSpPr/>
          <p:nvPr/>
        </p:nvSpPr>
        <p:spPr>
          <a:xfrm>
            <a:off x="1121212" y="6369218"/>
            <a:ext cx="8022669" cy="843619"/>
          </a:xfrm>
          <a:prstGeom prst="rect">
            <a:avLst/>
          </a:prstGeom>
          <a:noFill/>
          <a:ln/>
        </p:spPr>
        <p:txBody>
          <a:bodyPr wrap="square" rtlCol="0" anchor="t"/>
          <a:lstStyle/>
          <a:p>
            <a:pPr marL="0" indent="0" algn="ctr">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Advantages: fast and efficiently provides a solution. Disadvantages: may not always find the optimal solution and likely to get stuck in local maxima.</a:t>
            </a:r>
            <a:endParaRPr lang="en-US" sz="1859" dirty="0"/>
          </a:p>
        </p:txBody>
      </p:sp>
      <p:sp>
        <p:nvSpPr>
          <p:cNvPr id="11" name="Shape 9"/>
          <p:cNvSpPr/>
          <p:nvPr/>
        </p:nvSpPr>
        <p:spPr>
          <a:xfrm>
            <a:off x="9490234" y="3902891"/>
            <a:ext cx="15240" cy="820218"/>
          </a:xfrm>
          <a:prstGeom prst="rect">
            <a:avLst/>
          </a:prstGeom>
          <a:solidFill>
            <a:srgbClr val="6EB9FC"/>
          </a:solidFill>
          <a:ln/>
        </p:spPr>
      </p:sp>
      <p:sp>
        <p:nvSpPr>
          <p:cNvPr id="12" name="Shape 10"/>
          <p:cNvSpPr/>
          <p:nvPr/>
        </p:nvSpPr>
        <p:spPr>
          <a:xfrm>
            <a:off x="9232344" y="4459552"/>
            <a:ext cx="531138" cy="527232"/>
          </a:xfrm>
          <a:prstGeom prst="roundRect">
            <a:avLst>
              <a:gd name="adj" fmla="val 13434"/>
            </a:avLst>
          </a:prstGeom>
          <a:solidFill>
            <a:srgbClr val="2F3343"/>
          </a:solidFill>
          <a:ln/>
        </p:spPr>
      </p:sp>
      <p:sp>
        <p:nvSpPr>
          <p:cNvPr id="13" name="Text 11"/>
          <p:cNvSpPr/>
          <p:nvPr/>
        </p:nvSpPr>
        <p:spPr>
          <a:xfrm>
            <a:off x="9402604" y="4494653"/>
            <a:ext cx="190500" cy="456911"/>
          </a:xfrm>
          <a:prstGeom prst="rect">
            <a:avLst/>
          </a:prstGeom>
          <a:noFill/>
          <a:ln/>
        </p:spPr>
        <p:txBody>
          <a:bodyPr wrap="none" rtlCol="0" anchor="t"/>
          <a:lstStyle/>
          <a:p>
            <a:pPr marL="0" indent="0" algn="ctr">
              <a:lnSpc>
                <a:spcPts val="3625"/>
              </a:lnSpc>
              <a:buNone/>
            </a:pPr>
            <a:r>
              <a:rPr lang="en-US" sz="2788" dirty="0">
                <a:solidFill>
                  <a:srgbClr val="6EB9FC"/>
                </a:solidFill>
                <a:latin typeface="Lora" pitchFamily="34" charset="0"/>
                <a:ea typeface="Lora" pitchFamily="34" charset="-122"/>
                <a:cs typeface="Lora" pitchFamily="34" charset="-120"/>
              </a:rPr>
              <a:t>2</a:t>
            </a:r>
            <a:endParaRPr lang="en-US" sz="2788" dirty="0"/>
          </a:p>
        </p:txBody>
      </p:sp>
      <p:sp>
        <p:nvSpPr>
          <p:cNvPr id="14" name="Text 12"/>
          <p:cNvSpPr/>
          <p:nvPr/>
        </p:nvSpPr>
        <p:spPr>
          <a:xfrm>
            <a:off x="8317468" y="2233381"/>
            <a:ext cx="2360771" cy="380799"/>
          </a:xfrm>
          <a:prstGeom prst="rect">
            <a:avLst/>
          </a:prstGeom>
          <a:noFill/>
          <a:ln/>
        </p:spPr>
        <p:txBody>
          <a:bodyPr wrap="none" rtlCol="0" anchor="t"/>
          <a:lstStyle/>
          <a:p>
            <a:pPr marL="0" indent="0" algn="ctr">
              <a:lnSpc>
                <a:spcPts val="3021"/>
              </a:lnSpc>
              <a:buNone/>
            </a:pPr>
            <a:r>
              <a:rPr lang="en-US" sz="2324" dirty="0">
                <a:solidFill>
                  <a:srgbClr val="6EB9FC"/>
                </a:solidFill>
                <a:latin typeface="Lora" pitchFamily="34" charset="0"/>
                <a:ea typeface="Lora" pitchFamily="34" charset="-122"/>
                <a:cs typeface="Lora" pitchFamily="34" charset="-120"/>
              </a:rPr>
              <a:t>A* Algorithm</a:t>
            </a:r>
            <a:endParaRPr lang="en-US" sz="2324" dirty="0"/>
          </a:p>
        </p:txBody>
      </p:sp>
      <p:sp>
        <p:nvSpPr>
          <p:cNvPr id="15" name="Text 13"/>
          <p:cNvSpPr/>
          <p:nvPr/>
        </p:nvSpPr>
        <p:spPr>
          <a:xfrm>
            <a:off x="5486519" y="2825025"/>
            <a:ext cx="8022669" cy="843619"/>
          </a:xfrm>
          <a:prstGeom prst="rect">
            <a:avLst/>
          </a:prstGeom>
          <a:noFill/>
          <a:ln/>
        </p:spPr>
        <p:txBody>
          <a:bodyPr wrap="square" rtlCol="0" anchor="t"/>
          <a:lstStyle/>
          <a:p>
            <a:pPr marL="0" indent="0" algn="ctr">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Advantages: balances heuristic and cost to converge on the shortest and most efficient path. Disadvantages: complex and computationally expensive.</a:t>
            </a:r>
            <a:endParaRPr lang="en-US" sz="1859"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0" cy="8169088"/>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
        <p:nvSpPr>
          <p:cNvPr id="4" name="Text 2"/>
          <p:cNvSpPr/>
          <p:nvPr/>
        </p:nvSpPr>
        <p:spPr>
          <a:xfrm>
            <a:off x="885230" y="2081037"/>
            <a:ext cx="6652260" cy="761597"/>
          </a:xfrm>
          <a:prstGeom prst="rect">
            <a:avLst/>
          </a:prstGeom>
          <a:noFill/>
          <a:ln/>
        </p:spPr>
        <p:txBody>
          <a:bodyPr wrap="none" rtlCol="0" anchor="t"/>
          <a:lstStyle/>
          <a:p>
            <a:pPr marL="0" indent="0">
              <a:lnSpc>
                <a:spcPts val="6042"/>
              </a:lnSpc>
              <a:buNone/>
            </a:pPr>
            <a:r>
              <a:rPr lang="en-US" sz="4647" dirty="0">
                <a:solidFill>
                  <a:srgbClr val="6EB9FC"/>
                </a:solidFill>
                <a:latin typeface="Lora" pitchFamily="34" charset="0"/>
                <a:ea typeface="Lora" pitchFamily="34" charset="-122"/>
                <a:cs typeface="Lora" pitchFamily="34" charset="-120"/>
              </a:rPr>
              <a:t>Local Search Algorithms</a:t>
            </a:r>
            <a:endParaRPr lang="en-US" sz="4647" dirty="0"/>
          </a:p>
        </p:txBody>
      </p:sp>
      <p:sp>
        <p:nvSpPr>
          <p:cNvPr id="5" name="Text 3"/>
          <p:cNvSpPr/>
          <p:nvPr/>
        </p:nvSpPr>
        <p:spPr>
          <a:xfrm>
            <a:off x="885230" y="3498691"/>
            <a:ext cx="3970020" cy="456911"/>
          </a:xfrm>
          <a:prstGeom prst="rect">
            <a:avLst/>
          </a:prstGeom>
          <a:noFill/>
          <a:ln/>
        </p:spPr>
        <p:txBody>
          <a:bodyPr wrap="none" rtlCol="0" anchor="t"/>
          <a:lstStyle/>
          <a:p>
            <a:pPr marL="0" indent="0">
              <a:lnSpc>
                <a:spcPts val="3625"/>
              </a:lnSpc>
              <a:buNone/>
            </a:pPr>
            <a:r>
              <a:rPr lang="en-US" sz="2788" dirty="0">
                <a:solidFill>
                  <a:srgbClr val="6EB9FC"/>
                </a:solidFill>
                <a:latin typeface="Lora" pitchFamily="34" charset="0"/>
                <a:ea typeface="Lora" pitchFamily="34" charset="-122"/>
                <a:cs typeface="Lora" pitchFamily="34" charset="-120"/>
              </a:rPr>
              <a:t>Hill-Climbing Algorithm</a:t>
            </a:r>
            <a:endParaRPr lang="en-US" sz="2788" dirty="0"/>
          </a:p>
        </p:txBody>
      </p:sp>
      <p:sp>
        <p:nvSpPr>
          <p:cNvPr id="6" name="Text 4"/>
          <p:cNvSpPr/>
          <p:nvPr/>
        </p:nvSpPr>
        <p:spPr>
          <a:xfrm>
            <a:off x="885230" y="4189849"/>
            <a:ext cx="6141958" cy="1687238"/>
          </a:xfrm>
          <a:prstGeom prst="rect">
            <a:avLst/>
          </a:prstGeom>
          <a:noFill/>
          <a:ln/>
        </p:spPr>
        <p:txBody>
          <a:bodyPr wrap="squar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Often used as a sub-routine of other algorithms. Climbs up to the highest point in the immediate surrounding before analyzing the rest of the map. Used in routing problems and image processing.</a:t>
            </a:r>
            <a:endParaRPr lang="en-US" sz="1859" dirty="0"/>
          </a:p>
        </p:txBody>
      </p:sp>
      <p:sp>
        <p:nvSpPr>
          <p:cNvPr id="7" name="Text 5"/>
          <p:cNvSpPr/>
          <p:nvPr/>
        </p:nvSpPr>
        <p:spPr>
          <a:xfrm>
            <a:off x="7610832" y="3498691"/>
            <a:ext cx="3375660" cy="456911"/>
          </a:xfrm>
          <a:prstGeom prst="rect">
            <a:avLst/>
          </a:prstGeom>
          <a:noFill/>
          <a:ln/>
        </p:spPr>
        <p:txBody>
          <a:bodyPr wrap="none" rtlCol="0" anchor="t"/>
          <a:lstStyle/>
          <a:p>
            <a:pPr marL="0" indent="0">
              <a:lnSpc>
                <a:spcPts val="3625"/>
              </a:lnSpc>
              <a:buNone/>
            </a:pPr>
            <a:r>
              <a:rPr lang="en-US" sz="2788" dirty="0">
                <a:solidFill>
                  <a:srgbClr val="6EB9FC"/>
                </a:solidFill>
                <a:latin typeface="Lora" pitchFamily="34" charset="0"/>
                <a:ea typeface="Lora" pitchFamily="34" charset="-122"/>
                <a:cs typeface="Lora" pitchFamily="34" charset="-120"/>
              </a:rPr>
              <a:t>Simulated Annealing</a:t>
            </a:r>
            <a:endParaRPr lang="en-US" sz="2788" dirty="0"/>
          </a:p>
        </p:txBody>
      </p:sp>
      <p:sp>
        <p:nvSpPr>
          <p:cNvPr id="8" name="Text 6"/>
          <p:cNvSpPr/>
          <p:nvPr/>
        </p:nvSpPr>
        <p:spPr>
          <a:xfrm>
            <a:off x="7610832" y="4189849"/>
            <a:ext cx="6141958" cy="843619"/>
          </a:xfrm>
          <a:prstGeom prst="rect">
            <a:avLst/>
          </a:prstGeom>
          <a:noFill/>
          <a:ln/>
        </p:spPr>
        <p:txBody>
          <a:bodyPr wrap="squar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Combines features of both Exploitation and Exploration. Used in simulated physics and cryptography.</a:t>
            </a:r>
            <a:endParaRPr lang="en-US" sz="1859"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169088"/>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
        <p:nvSpPr>
          <p:cNvPr id="4" name="Text 2"/>
          <p:cNvSpPr/>
          <p:nvPr/>
        </p:nvSpPr>
        <p:spPr>
          <a:xfrm>
            <a:off x="885230" y="672248"/>
            <a:ext cx="12859941" cy="1523195"/>
          </a:xfrm>
          <a:prstGeom prst="rect">
            <a:avLst/>
          </a:prstGeom>
          <a:noFill/>
          <a:ln/>
        </p:spPr>
        <p:txBody>
          <a:bodyPr wrap="square" rtlCol="0" anchor="t"/>
          <a:lstStyle/>
          <a:p>
            <a:pPr marL="0" indent="0">
              <a:lnSpc>
                <a:spcPts val="6042"/>
              </a:lnSpc>
              <a:buNone/>
            </a:pPr>
            <a:r>
              <a:rPr lang="en-US" sz="4647" dirty="0">
                <a:solidFill>
                  <a:srgbClr val="6EB9FC"/>
                </a:solidFill>
                <a:latin typeface="Lora" pitchFamily="34" charset="0"/>
                <a:ea typeface="Lora" pitchFamily="34" charset="-122"/>
                <a:cs typeface="Lora" pitchFamily="34" charset="-120"/>
              </a:rPr>
              <a:t>Comparing and Contrasting Different Search Algorithms</a:t>
            </a:r>
            <a:endParaRPr lang="en-US" sz="4647" dirty="0"/>
          </a:p>
        </p:txBody>
      </p:sp>
      <p:sp>
        <p:nvSpPr>
          <p:cNvPr id="5" name="Text 3"/>
          <p:cNvSpPr/>
          <p:nvPr/>
        </p:nvSpPr>
        <p:spPr>
          <a:xfrm>
            <a:off x="1121807" y="2894282"/>
            <a:ext cx="3810000" cy="421810"/>
          </a:xfrm>
          <a:prstGeom prst="rect">
            <a:avLst/>
          </a:prstGeom>
          <a:noFill/>
          <a:ln/>
        </p:spPr>
        <p:txBody>
          <a:bodyPr wrap="non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Algorithm</a:t>
            </a:r>
            <a:endParaRPr lang="en-US" sz="1859" dirty="0"/>
          </a:p>
        </p:txBody>
      </p:sp>
      <p:sp>
        <p:nvSpPr>
          <p:cNvPr id="6" name="Text 4"/>
          <p:cNvSpPr/>
          <p:nvPr/>
        </p:nvSpPr>
        <p:spPr>
          <a:xfrm>
            <a:off x="5411391" y="2894282"/>
            <a:ext cx="3806190" cy="421810"/>
          </a:xfrm>
          <a:prstGeom prst="rect">
            <a:avLst/>
          </a:prstGeom>
          <a:noFill/>
          <a:ln/>
        </p:spPr>
        <p:txBody>
          <a:bodyPr wrap="non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Advantages</a:t>
            </a:r>
            <a:endParaRPr lang="en-US" sz="1859" dirty="0"/>
          </a:p>
        </p:txBody>
      </p:sp>
      <p:sp>
        <p:nvSpPr>
          <p:cNvPr id="7" name="Text 5"/>
          <p:cNvSpPr/>
          <p:nvPr/>
        </p:nvSpPr>
        <p:spPr>
          <a:xfrm>
            <a:off x="9697164" y="2894282"/>
            <a:ext cx="3810000" cy="421810"/>
          </a:xfrm>
          <a:prstGeom prst="rect">
            <a:avLst/>
          </a:prstGeom>
          <a:noFill/>
          <a:ln/>
        </p:spPr>
        <p:txBody>
          <a:bodyPr wrap="non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Disadvantages</a:t>
            </a:r>
            <a:endParaRPr lang="en-US" sz="1859" dirty="0"/>
          </a:p>
        </p:txBody>
      </p:sp>
      <p:sp>
        <p:nvSpPr>
          <p:cNvPr id="8" name="Shape 6"/>
          <p:cNvSpPr/>
          <p:nvPr/>
        </p:nvSpPr>
        <p:spPr>
          <a:xfrm>
            <a:off x="885230" y="3499400"/>
            <a:ext cx="12858631" cy="788426"/>
          </a:xfrm>
          <a:prstGeom prst="rect">
            <a:avLst/>
          </a:prstGeom>
          <a:solidFill>
            <a:srgbClr val="2F3343"/>
          </a:solidFill>
          <a:ln/>
        </p:spPr>
      </p:sp>
      <p:sp>
        <p:nvSpPr>
          <p:cNvPr id="9" name="Text 7"/>
          <p:cNvSpPr/>
          <p:nvPr/>
        </p:nvSpPr>
        <p:spPr>
          <a:xfrm>
            <a:off x="1121807" y="3682708"/>
            <a:ext cx="3810000" cy="421810"/>
          </a:xfrm>
          <a:prstGeom prst="rect">
            <a:avLst/>
          </a:prstGeom>
          <a:noFill/>
          <a:ln/>
        </p:spPr>
        <p:txBody>
          <a:bodyPr wrap="non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Depth-First Search</a:t>
            </a:r>
            <a:endParaRPr lang="en-US" sz="1859" dirty="0"/>
          </a:p>
        </p:txBody>
      </p:sp>
      <p:sp>
        <p:nvSpPr>
          <p:cNvPr id="10" name="Text 8"/>
          <p:cNvSpPr/>
          <p:nvPr/>
        </p:nvSpPr>
        <p:spPr>
          <a:xfrm>
            <a:off x="5411391" y="3682708"/>
            <a:ext cx="3806190" cy="421810"/>
          </a:xfrm>
          <a:prstGeom prst="rect">
            <a:avLst/>
          </a:prstGeom>
          <a:noFill/>
          <a:ln/>
        </p:spPr>
        <p:txBody>
          <a:bodyPr wrap="non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Simple and efficient</a:t>
            </a:r>
            <a:endParaRPr lang="en-US" sz="1859" dirty="0"/>
          </a:p>
        </p:txBody>
      </p:sp>
      <p:sp>
        <p:nvSpPr>
          <p:cNvPr id="11" name="Text 9"/>
          <p:cNvSpPr/>
          <p:nvPr/>
        </p:nvSpPr>
        <p:spPr>
          <a:xfrm>
            <a:off x="9697164" y="3682708"/>
            <a:ext cx="3810000" cy="421810"/>
          </a:xfrm>
          <a:prstGeom prst="rect">
            <a:avLst/>
          </a:prstGeom>
          <a:noFill/>
          <a:ln/>
        </p:spPr>
        <p:txBody>
          <a:bodyPr wrap="non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May not find the optimal solution</a:t>
            </a:r>
            <a:endParaRPr lang="en-US" sz="1859" dirty="0"/>
          </a:p>
        </p:txBody>
      </p:sp>
      <p:sp>
        <p:nvSpPr>
          <p:cNvPr id="12" name="Text 10"/>
          <p:cNvSpPr/>
          <p:nvPr/>
        </p:nvSpPr>
        <p:spPr>
          <a:xfrm>
            <a:off x="1121807" y="4471134"/>
            <a:ext cx="3810000" cy="421810"/>
          </a:xfrm>
          <a:prstGeom prst="rect">
            <a:avLst/>
          </a:prstGeom>
          <a:noFill/>
          <a:ln/>
        </p:spPr>
        <p:txBody>
          <a:bodyPr wrap="non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Breadth-First Search</a:t>
            </a:r>
            <a:endParaRPr lang="en-US" sz="1859" dirty="0"/>
          </a:p>
        </p:txBody>
      </p:sp>
      <p:sp>
        <p:nvSpPr>
          <p:cNvPr id="13" name="Text 11"/>
          <p:cNvSpPr/>
          <p:nvPr/>
        </p:nvSpPr>
        <p:spPr>
          <a:xfrm>
            <a:off x="5411391" y="4471134"/>
            <a:ext cx="3806190" cy="421810"/>
          </a:xfrm>
          <a:prstGeom prst="rect">
            <a:avLst/>
          </a:prstGeom>
          <a:noFill/>
          <a:ln/>
        </p:spPr>
        <p:txBody>
          <a:bodyPr wrap="non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Guarantees to find the shortest path</a:t>
            </a:r>
            <a:endParaRPr lang="en-US" sz="1859" dirty="0"/>
          </a:p>
        </p:txBody>
      </p:sp>
      <p:sp>
        <p:nvSpPr>
          <p:cNvPr id="14" name="Text 12"/>
          <p:cNvSpPr/>
          <p:nvPr/>
        </p:nvSpPr>
        <p:spPr>
          <a:xfrm>
            <a:off x="9697164" y="4471134"/>
            <a:ext cx="3810000" cy="843619"/>
          </a:xfrm>
          <a:prstGeom prst="rect">
            <a:avLst/>
          </a:prstGeom>
          <a:noFill/>
          <a:ln/>
        </p:spPr>
        <p:txBody>
          <a:bodyPr wrap="squar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Computationally expensive and requires more memory</a:t>
            </a:r>
            <a:endParaRPr lang="en-US" sz="1859" dirty="0"/>
          </a:p>
        </p:txBody>
      </p:sp>
      <p:sp>
        <p:nvSpPr>
          <p:cNvPr id="15" name="Shape 13"/>
          <p:cNvSpPr/>
          <p:nvPr/>
        </p:nvSpPr>
        <p:spPr>
          <a:xfrm>
            <a:off x="885230" y="5498061"/>
            <a:ext cx="12858631" cy="788426"/>
          </a:xfrm>
          <a:prstGeom prst="rect">
            <a:avLst/>
          </a:prstGeom>
          <a:solidFill>
            <a:srgbClr val="2F3343"/>
          </a:solidFill>
          <a:ln/>
        </p:spPr>
      </p:sp>
      <p:sp>
        <p:nvSpPr>
          <p:cNvPr id="16" name="Text 14"/>
          <p:cNvSpPr/>
          <p:nvPr/>
        </p:nvSpPr>
        <p:spPr>
          <a:xfrm>
            <a:off x="1121807" y="5681369"/>
            <a:ext cx="3810000" cy="421810"/>
          </a:xfrm>
          <a:prstGeom prst="rect">
            <a:avLst/>
          </a:prstGeom>
          <a:noFill/>
          <a:ln/>
        </p:spPr>
        <p:txBody>
          <a:bodyPr wrap="non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Greedy Best-First</a:t>
            </a:r>
            <a:endParaRPr lang="en-US" sz="1859" dirty="0"/>
          </a:p>
        </p:txBody>
      </p:sp>
      <p:sp>
        <p:nvSpPr>
          <p:cNvPr id="17" name="Text 15"/>
          <p:cNvSpPr/>
          <p:nvPr/>
        </p:nvSpPr>
        <p:spPr>
          <a:xfrm>
            <a:off x="5411391" y="5681369"/>
            <a:ext cx="3806190" cy="421810"/>
          </a:xfrm>
          <a:prstGeom prst="rect">
            <a:avLst/>
          </a:prstGeom>
          <a:noFill/>
          <a:ln/>
        </p:spPr>
        <p:txBody>
          <a:bodyPr wrap="non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Fast and efficient</a:t>
            </a:r>
            <a:endParaRPr lang="en-US" sz="1859" dirty="0"/>
          </a:p>
        </p:txBody>
      </p:sp>
      <p:sp>
        <p:nvSpPr>
          <p:cNvPr id="18" name="Text 16"/>
          <p:cNvSpPr/>
          <p:nvPr/>
        </p:nvSpPr>
        <p:spPr>
          <a:xfrm>
            <a:off x="9697164" y="5681369"/>
            <a:ext cx="3810000" cy="421810"/>
          </a:xfrm>
          <a:prstGeom prst="rect">
            <a:avLst/>
          </a:prstGeom>
          <a:noFill/>
          <a:ln/>
        </p:spPr>
        <p:txBody>
          <a:bodyPr wrap="non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May not find the optimal solution</a:t>
            </a:r>
            <a:endParaRPr lang="en-US" sz="1859" dirty="0"/>
          </a:p>
        </p:txBody>
      </p:sp>
      <p:sp>
        <p:nvSpPr>
          <p:cNvPr id="19" name="Text 17"/>
          <p:cNvSpPr/>
          <p:nvPr/>
        </p:nvSpPr>
        <p:spPr>
          <a:xfrm>
            <a:off x="1121807" y="6469795"/>
            <a:ext cx="3810000" cy="421810"/>
          </a:xfrm>
          <a:prstGeom prst="rect">
            <a:avLst/>
          </a:prstGeom>
          <a:noFill/>
          <a:ln/>
        </p:spPr>
        <p:txBody>
          <a:bodyPr wrap="non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A* Algorithm</a:t>
            </a:r>
            <a:endParaRPr lang="en-US" sz="1859" dirty="0"/>
          </a:p>
        </p:txBody>
      </p:sp>
      <p:sp>
        <p:nvSpPr>
          <p:cNvPr id="20" name="Text 18"/>
          <p:cNvSpPr/>
          <p:nvPr/>
        </p:nvSpPr>
        <p:spPr>
          <a:xfrm>
            <a:off x="5411391" y="6469795"/>
            <a:ext cx="3806190" cy="843619"/>
          </a:xfrm>
          <a:prstGeom prst="rect">
            <a:avLst/>
          </a:prstGeom>
          <a:noFill/>
          <a:ln/>
        </p:spPr>
        <p:txBody>
          <a:bodyPr wrap="squar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Finds the shortest and most efficient path</a:t>
            </a:r>
            <a:endParaRPr lang="en-US" sz="1859" dirty="0"/>
          </a:p>
        </p:txBody>
      </p:sp>
      <p:sp>
        <p:nvSpPr>
          <p:cNvPr id="21" name="Text 19"/>
          <p:cNvSpPr/>
          <p:nvPr/>
        </p:nvSpPr>
        <p:spPr>
          <a:xfrm>
            <a:off x="9697164" y="6469795"/>
            <a:ext cx="3810000" cy="843619"/>
          </a:xfrm>
          <a:prstGeom prst="rect">
            <a:avLst/>
          </a:prstGeom>
          <a:noFill/>
          <a:ln/>
        </p:spPr>
        <p:txBody>
          <a:bodyPr wrap="squar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Complex and computationally expensive</a:t>
            </a:r>
            <a:endParaRPr lang="en-US" sz="1859"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4630400" cy="8169088"/>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
        <p:nvSpPr>
          <p:cNvPr id="4" name="Text 2"/>
          <p:cNvSpPr/>
          <p:nvPr/>
        </p:nvSpPr>
        <p:spPr>
          <a:xfrm>
            <a:off x="885230" y="3679517"/>
            <a:ext cx="11346180" cy="761597"/>
          </a:xfrm>
          <a:prstGeom prst="rect">
            <a:avLst/>
          </a:prstGeom>
          <a:noFill/>
          <a:ln/>
        </p:spPr>
        <p:txBody>
          <a:bodyPr wrap="none" rtlCol="0" anchor="t"/>
          <a:lstStyle/>
          <a:p>
            <a:pPr marL="0" indent="0">
              <a:lnSpc>
                <a:spcPts val="6042"/>
              </a:lnSpc>
              <a:buNone/>
            </a:pPr>
            <a:r>
              <a:rPr lang="en-US" sz="4647" dirty="0">
                <a:solidFill>
                  <a:srgbClr val="6EB9FC"/>
                </a:solidFill>
                <a:latin typeface="Lora" pitchFamily="34" charset="0"/>
                <a:ea typeface="Lora" pitchFamily="34" charset="-122"/>
                <a:cs typeface="Lora" pitchFamily="34" charset="-120"/>
              </a:rPr>
              <a:t>Real-world Applications and Case Studies</a:t>
            </a:r>
            <a:endParaRPr lang="en-US" sz="4647" dirty="0"/>
          </a:p>
        </p:txBody>
      </p:sp>
      <p:sp>
        <p:nvSpPr>
          <p:cNvPr id="5" name="Shape 3"/>
          <p:cNvSpPr/>
          <p:nvPr/>
        </p:nvSpPr>
        <p:spPr>
          <a:xfrm>
            <a:off x="885230" y="5012312"/>
            <a:ext cx="531138" cy="527232"/>
          </a:xfrm>
          <a:prstGeom prst="roundRect">
            <a:avLst>
              <a:gd name="adj" fmla="val 13434"/>
            </a:avLst>
          </a:prstGeom>
          <a:solidFill>
            <a:srgbClr val="2F3343"/>
          </a:solidFill>
          <a:ln/>
        </p:spPr>
      </p:sp>
      <p:sp>
        <p:nvSpPr>
          <p:cNvPr id="6" name="Text 4"/>
          <p:cNvSpPr/>
          <p:nvPr/>
        </p:nvSpPr>
        <p:spPr>
          <a:xfrm>
            <a:off x="1085969" y="5047414"/>
            <a:ext cx="129540" cy="456911"/>
          </a:xfrm>
          <a:prstGeom prst="rect">
            <a:avLst/>
          </a:prstGeom>
          <a:noFill/>
          <a:ln/>
        </p:spPr>
        <p:txBody>
          <a:bodyPr wrap="none" rtlCol="0" anchor="t"/>
          <a:lstStyle/>
          <a:p>
            <a:pPr marL="0" indent="0" algn="ctr">
              <a:lnSpc>
                <a:spcPts val="3625"/>
              </a:lnSpc>
              <a:buNone/>
            </a:pPr>
            <a:r>
              <a:rPr lang="en-US" sz="2788" dirty="0">
                <a:solidFill>
                  <a:srgbClr val="6EB9FC"/>
                </a:solidFill>
                <a:latin typeface="Lora" pitchFamily="34" charset="0"/>
                <a:ea typeface="Lora" pitchFamily="34" charset="-122"/>
                <a:cs typeface="Lora" pitchFamily="34" charset="-120"/>
              </a:rPr>
              <a:t>1</a:t>
            </a:r>
            <a:endParaRPr lang="en-US" sz="2788" dirty="0"/>
          </a:p>
        </p:txBody>
      </p:sp>
      <p:sp>
        <p:nvSpPr>
          <p:cNvPr id="7" name="Text 5"/>
          <p:cNvSpPr/>
          <p:nvPr/>
        </p:nvSpPr>
        <p:spPr>
          <a:xfrm>
            <a:off x="1652349" y="5085470"/>
            <a:ext cx="2705100" cy="380799"/>
          </a:xfrm>
          <a:prstGeom prst="rect">
            <a:avLst/>
          </a:prstGeom>
          <a:noFill/>
          <a:ln/>
        </p:spPr>
        <p:txBody>
          <a:bodyPr wrap="none" rtlCol="0" anchor="t"/>
          <a:lstStyle/>
          <a:p>
            <a:pPr marL="0" indent="0">
              <a:lnSpc>
                <a:spcPts val="3021"/>
              </a:lnSpc>
              <a:buNone/>
            </a:pPr>
            <a:r>
              <a:rPr lang="en-US" sz="2324" dirty="0">
                <a:solidFill>
                  <a:srgbClr val="6EB9FC"/>
                </a:solidFill>
                <a:latin typeface="Lora" pitchFamily="34" charset="0"/>
                <a:ea typeface="Lora" pitchFamily="34" charset="-122"/>
                <a:cs typeface="Lora" pitchFamily="34" charset="-120"/>
              </a:rPr>
              <a:t>Route Optimization</a:t>
            </a:r>
            <a:endParaRPr lang="en-US" sz="2324" dirty="0"/>
          </a:p>
        </p:txBody>
      </p:sp>
      <p:sp>
        <p:nvSpPr>
          <p:cNvPr id="8" name="Text 6"/>
          <p:cNvSpPr/>
          <p:nvPr/>
        </p:nvSpPr>
        <p:spPr>
          <a:xfrm>
            <a:off x="1652349" y="5677114"/>
            <a:ext cx="3362206" cy="1265429"/>
          </a:xfrm>
          <a:prstGeom prst="rect">
            <a:avLst/>
          </a:prstGeom>
          <a:noFill/>
          <a:ln/>
        </p:spPr>
        <p:txBody>
          <a:bodyPr wrap="squar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AI can be used to find the shortest and most time-efficient route for package delivery.</a:t>
            </a:r>
            <a:endParaRPr lang="en-US" sz="1859" dirty="0"/>
          </a:p>
        </p:txBody>
      </p:sp>
      <p:sp>
        <p:nvSpPr>
          <p:cNvPr id="9" name="Shape 7"/>
          <p:cNvSpPr/>
          <p:nvPr/>
        </p:nvSpPr>
        <p:spPr>
          <a:xfrm>
            <a:off x="5250537" y="5012312"/>
            <a:ext cx="531138" cy="527232"/>
          </a:xfrm>
          <a:prstGeom prst="roundRect">
            <a:avLst>
              <a:gd name="adj" fmla="val 13434"/>
            </a:avLst>
          </a:prstGeom>
          <a:solidFill>
            <a:srgbClr val="2F3343"/>
          </a:solidFill>
          <a:ln/>
        </p:spPr>
      </p:sp>
      <p:sp>
        <p:nvSpPr>
          <p:cNvPr id="10" name="Text 8"/>
          <p:cNvSpPr/>
          <p:nvPr/>
        </p:nvSpPr>
        <p:spPr>
          <a:xfrm>
            <a:off x="5420797" y="5047414"/>
            <a:ext cx="190500" cy="456911"/>
          </a:xfrm>
          <a:prstGeom prst="rect">
            <a:avLst/>
          </a:prstGeom>
          <a:noFill/>
          <a:ln/>
        </p:spPr>
        <p:txBody>
          <a:bodyPr wrap="none" rtlCol="0" anchor="t"/>
          <a:lstStyle/>
          <a:p>
            <a:pPr marL="0" indent="0" algn="ctr">
              <a:lnSpc>
                <a:spcPts val="3625"/>
              </a:lnSpc>
              <a:buNone/>
            </a:pPr>
            <a:r>
              <a:rPr lang="en-US" sz="2788" dirty="0">
                <a:solidFill>
                  <a:srgbClr val="6EB9FC"/>
                </a:solidFill>
                <a:latin typeface="Lora" pitchFamily="34" charset="0"/>
                <a:ea typeface="Lora" pitchFamily="34" charset="-122"/>
                <a:cs typeface="Lora" pitchFamily="34" charset="-120"/>
              </a:rPr>
              <a:t>2</a:t>
            </a:r>
            <a:endParaRPr lang="en-US" sz="2788" dirty="0"/>
          </a:p>
        </p:txBody>
      </p:sp>
      <p:sp>
        <p:nvSpPr>
          <p:cNvPr id="11" name="Text 9"/>
          <p:cNvSpPr/>
          <p:nvPr/>
        </p:nvSpPr>
        <p:spPr>
          <a:xfrm>
            <a:off x="6017657" y="5085470"/>
            <a:ext cx="2971800" cy="380799"/>
          </a:xfrm>
          <a:prstGeom prst="rect">
            <a:avLst/>
          </a:prstGeom>
          <a:noFill/>
          <a:ln/>
        </p:spPr>
        <p:txBody>
          <a:bodyPr wrap="none" rtlCol="0" anchor="t"/>
          <a:lstStyle/>
          <a:p>
            <a:pPr marL="0" indent="0">
              <a:lnSpc>
                <a:spcPts val="3021"/>
              </a:lnSpc>
              <a:buNone/>
            </a:pPr>
            <a:r>
              <a:rPr lang="en-US" sz="2324" dirty="0">
                <a:solidFill>
                  <a:srgbClr val="6EB9FC"/>
                </a:solidFill>
                <a:latin typeface="Lora" pitchFamily="34" charset="0"/>
                <a:ea typeface="Lora" pitchFamily="34" charset="-122"/>
                <a:cs typeface="Lora" pitchFamily="34" charset="-120"/>
              </a:rPr>
              <a:t>Autonomous Vehicles</a:t>
            </a:r>
            <a:endParaRPr lang="en-US" sz="2324" dirty="0"/>
          </a:p>
        </p:txBody>
      </p:sp>
      <p:sp>
        <p:nvSpPr>
          <p:cNvPr id="12" name="Text 10"/>
          <p:cNvSpPr/>
          <p:nvPr/>
        </p:nvSpPr>
        <p:spPr>
          <a:xfrm>
            <a:off x="6017657" y="5677114"/>
            <a:ext cx="3362206" cy="1265429"/>
          </a:xfrm>
          <a:prstGeom prst="rect">
            <a:avLst/>
          </a:prstGeom>
          <a:noFill/>
          <a:ln/>
        </p:spPr>
        <p:txBody>
          <a:bodyPr wrap="squar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Search algorithms are used to plan the route and avoid accidents.</a:t>
            </a:r>
            <a:endParaRPr lang="en-US" sz="1859" dirty="0"/>
          </a:p>
        </p:txBody>
      </p:sp>
      <p:sp>
        <p:nvSpPr>
          <p:cNvPr id="13" name="Shape 11"/>
          <p:cNvSpPr/>
          <p:nvPr/>
        </p:nvSpPr>
        <p:spPr>
          <a:xfrm>
            <a:off x="9615845" y="5012312"/>
            <a:ext cx="531138" cy="527232"/>
          </a:xfrm>
          <a:prstGeom prst="roundRect">
            <a:avLst>
              <a:gd name="adj" fmla="val 13434"/>
            </a:avLst>
          </a:prstGeom>
          <a:solidFill>
            <a:srgbClr val="2F3343"/>
          </a:solidFill>
          <a:ln/>
        </p:spPr>
      </p:sp>
      <p:sp>
        <p:nvSpPr>
          <p:cNvPr id="14" name="Text 12"/>
          <p:cNvSpPr/>
          <p:nvPr/>
        </p:nvSpPr>
        <p:spPr>
          <a:xfrm>
            <a:off x="9782294" y="5047414"/>
            <a:ext cx="198120" cy="456911"/>
          </a:xfrm>
          <a:prstGeom prst="rect">
            <a:avLst/>
          </a:prstGeom>
          <a:noFill/>
          <a:ln/>
        </p:spPr>
        <p:txBody>
          <a:bodyPr wrap="none" rtlCol="0" anchor="t"/>
          <a:lstStyle/>
          <a:p>
            <a:pPr marL="0" indent="0" algn="ctr">
              <a:lnSpc>
                <a:spcPts val="3625"/>
              </a:lnSpc>
              <a:buNone/>
            </a:pPr>
            <a:r>
              <a:rPr lang="en-US" sz="2788" dirty="0">
                <a:solidFill>
                  <a:srgbClr val="6EB9FC"/>
                </a:solidFill>
                <a:latin typeface="Lora" pitchFamily="34" charset="0"/>
                <a:ea typeface="Lora" pitchFamily="34" charset="-122"/>
                <a:cs typeface="Lora" pitchFamily="34" charset="-120"/>
              </a:rPr>
              <a:t>3</a:t>
            </a:r>
            <a:endParaRPr lang="en-US" sz="2788" dirty="0"/>
          </a:p>
        </p:txBody>
      </p:sp>
      <p:sp>
        <p:nvSpPr>
          <p:cNvPr id="15" name="Text 13"/>
          <p:cNvSpPr/>
          <p:nvPr/>
        </p:nvSpPr>
        <p:spPr>
          <a:xfrm>
            <a:off x="10382964" y="5085470"/>
            <a:ext cx="2545080" cy="380799"/>
          </a:xfrm>
          <a:prstGeom prst="rect">
            <a:avLst/>
          </a:prstGeom>
          <a:noFill/>
          <a:ln/>
        </p:spPr>
        <p:txBody>
          <a:bodyPr wrap="none" rtlCol="0" anchor="t"/>
          <a:lstStyle/>
          <a:p>
            <a:pPr marL="0" indent="0">
              <a:lnSpc>
                <a:spcPts val="3021"/>
              </a:lnSpc>
              <a:buNone/>
            </a:pPr>
            <a:r>
              <a:rPr lang="en-US" sz="2324" dirty="0">
                <a:solidFill>
                  <a:srgbClr val="6EB9FC"/>
                </a:solidFill>
                <a:latin typeface="Lora" pitchFamily="34" charset="0"/>
                <a:ea typeface="Lora" pitchFamily="34" charset="-122"/>
                <a:cs typeface="Lora" pitchFamily="34" charset="-120"/>
              </a:rPr>
              <a:t>Chess and Gaming</a:t>
            </a:r>
            <a:endParaRPr lang="en-US" sz="2324" dirty="0"/>
          </a:p>
        </p:txBody>
      </p:sp>
      <p:sp>
        <p:nvSpPr>
          <p:cNvPr id="16" name="Text 14"/>
          <p:cNvSpPr/>
          <p:nvPr/>
        </p:nvSpPr>
        <p:spPr>
          <a:xfrm>
            <a:off x="10382964" y="5677114"/>
            <a:ext cx="3362206" cy="1265429"/>
          </a:xfrm>
          <a:prstGeom prst="rect">
            <a:avLst/>
          </a:prstGeom>
          <a:noFill/>
          <a:ln/>
        </p:spPr>
        <p:txBody>
          <a:bodyPr wrap="squar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AI uses search algorithms to find the best move or action towards victory.</a:t>
            </a:r>
            <a:endParaRPr lang="en-US" sz="1859" dirty="0"/>
          </a:p>
        </p:txBody>
      </p:sp>
      <p:pic>
        <p:nvPicPr>
          <p:cNvPr id="17" name="Image 0" descr="preencoded.png"/>
          <p:cNvPicPr>
            <a:picLocks noChangeAspect="1"/>
          </p:cNvPicPr>
          <p:nvPr/>
        </p:nvPicPr>
        <p:blipFill>
          <a:blip r:embed="rId3"/>
          <a:stretch>
            <a:fillRect/>
          </a:stretch>
        </p:blipFill>
        <p:spPr>
          <a:xfrm>
            <a:off x="0" y="0"/>
            <a:ext cx="14630400" cy="245297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4630400" cy="8169088"/>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
        <p:nvSpPr>
          <p:cNvPr id="4" name="Text 2"/>
          <p:cNvSpPr/>
          <p:nvPr/>
        </p:nvSpPr>
        <p:spPr>
          <a:xfrm>
            <a:off x="6371630" y="2684382"/>
            <a:ext cx="4721662" cy="761597"/>
          </a:xfrm>
          <a:prstGeom prst="rect">
            <a:avLst/>
          </a:prstGeom>
          <a:noFill/>
          <a:ln/>
        </p:spPr>
        <p:txBody>
          <a:bodyPr wrap="none" rtlCol="0" anchor="t"/>
          <a:lstStyle/>
          <a:p>
            <a:pPr marL="0" indent="0">
              <a:lnSpc>
                <a:spcPts val="6042"/>
              </a:lnSpc>
              <a:buNone/>
            </a:pPr>
            <a:r>
              <a:rPr lang="en-US" sz="4647" dirty="0">
                <a:solidFill>
                  <a:srgbClr val="6EB9FC"/>
                </a:solidFill>
                <a:latin typeface="Lora" pitchFamily="34" charset="0"/>
                <a:ea typeface="Lora" pitchFamily="34" charset="-122"/>
                <a:cs typeface="Lora" pitchFamily="34" charset="-120"/>
              </a:rPr>
              <a:t>Conclusion</a:t>
            </a:r>
            <a:endParaRPr lang="en-US" sz="4647" dirty="0"/>
          </a:p>
        </p:txBody>
      </p:sp>
      <p:sp>
        <p:nvSpPr>
          <p:cNvPr id="5" name="Text 3"/>
          <p:cNvSpPr/>
          <p:nvPr/>
        </p:nvSpPr>
        <p:spPr>
          <a:xfrm>
            <a:off x="6371630" y="3797468"/>
            <a:ext cx="7373541" cy="1687238"/>
          </a:xfrm>
          <a:prstGeom prst="rect">
            <a:avLst/>
          </a:prstGeom>
          <a:noFill/>
          <a:ln/>
        </p:spPr>
        <p:txBody>
          <a:bodyPr wrap="square" rtlCol="0" anchor="t"/>
          <a:lstStyle/>
          <a:p>
            <a:pPr marL="0" indent="0">
              <a:lnSpc>
                <a:spcPts val="3346"/>
              </a:lnSpc>
              <a:buNone/>
            </a:pPr>
            <a:r>
              <a:rPr lang="en-US" sz="1859" dirty="0">
                <a:solidFill>
                  <a:srgbClr val="D6E5EF"/>
                </a:solidFill>
                <a:latin typeface="Source Sans Pro" pitchFamily="34" charset="0"/>
                <a:ea typeface="Source Sans Pro" pitchFamily="34" charset="-122"/>
                <a:cs typeface="Source Sans Pro" pitchFamily="34" charset="-120"/>
              </a:rPr>
              <a:t>Search algorithms play a crucial role in AI and its applications. By combining different algorithms or modifying existing ones, developers can improve AI efficiency, accuracy, and performance. With search algorithms, the possibilities are endless!</a:t>
            </a:r>
            <a:endParaRPr lang="en-US" sz="1859" dirty="0"/>
          </a:p>
        </p:txBody>
      </p:sp>
      <p:pic>
        <p:nvPicPr>
          <p:cNvPr id="6" name="Image 0" descr="preencoded.png"/>
          <p:cNvPicPr>
            <a:picLocks noChangeAspect="1"/>
          </p:cNvPicPr>
          <p:nvPr/>
        </p:nvPicPr>
        <p:blipFill>
          <a:blip r:embed="rId3"/>
          <a:stretch>
            <a:fillRect/>
          </a:stretch>
        </p:blipFill>
        <p:spPr>
          <a:xfrm>
            <a:off x="0" y="0"/>
            <a:ext cx="5486400" cy="816908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472</Words>
  <Application>Microsoft Office PowerPoint</Application>
  <PresentationFormat>Custom</PresentationFormat>
  <Paragraphs>62</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Lora</vt:lpstr>
      <vt:lpstr>Source Sans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Halyna Melnyk</cp:lastModifiedBy>
  <cp:revision>1</cp:revision>
  <dcterms:created xsi:type="dcterms:W3CDTF">2023-07-24T17:59:03Z</dcterms:created>
  <dcterms:modified xsi:type="dcterms:W3CDTF">2023-07-24T18:00:11Z</dcterms:modified>
</cp:coreProperties>
</file>